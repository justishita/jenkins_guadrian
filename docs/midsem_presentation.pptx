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Metrics agent</c:v>
                </c:pt>
              </c:strCache>
            </c:strRef>
          </c:tx>
          <c:spPr>
            <a:solidFill>
              <a:srgbClr val="1F8A8A"/>
            </a:solidFill>
            <a:effectLst/>
          </c:spPr>
          <c:invertIfNegative val="0"/>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Accuracy</c:v>
                  </c:pt>
                  <c:pt idx="1">
                    <c:v>Fault recall</c:v>
                  </c:pt>
                  <c:pt idx="2">
                    <c:v>False-positive rate</c:v>
                  </c:pt>
                </c:lvl>
              </c:multiLvlStrCache>
            </c:multiLvlStrRef>
          </c:cat>
          <c:val>
            <c:numRef>
              <c:f>Sheet1!$B$2:$B$4</c:f>
              <c:numCache>
                <c:formatCode>General</c:formatCode>
                <c:ptCount val="3"/>
                <c:pt idx="0">
                  <c:v>1</c:v>
                </c:pt>
                <c:pt idx="1">
                  <c:v>1</c:v>
                </c:pt>
                <c:pt idx="2">
                  <c:v>0</c:v>
                </c:pt>
              </c:numCache>
            </c:numRef>
          </c:val>
        </c:ser>
        <c:ser>
          <c:idx val="1"/>
          <c:order val="1"/>
          <c:tx>
            <c:strRef>
              <c:f>Sheet1!$C$1</c:f>
              <c:strCache>
                <c:ptCount val="1"/>
                <c:pt idx="0">
                  <c:v>Threshold baseline</c:v>
                </c:pt>
              </c:strCache>
            </c:strRef>
          </c:tx>
          <c:spPr>
            <a:solidFill>
              <a:srgbClr val="E8A33D"/>
            </a:solidFill>
            <a:effectLst/>
          </c:spPr>
          <c:invertIfNegative val="0"/>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Accuracy</c:v>
                  </c:pt>
                  <c:pt idx="1">
                    <c:v>Fault recall</c:v>
                  </c:pt>
                  <c:pt idx="2">
                    <c:v>False-positive rate</c:v>
                  </c:pt>
                </c:lvl>
              </c:multiLvlStrCache>
            </c:multiLvlStrRef>
          </c:cat>
          <c:val>
            <c:numRef>
              <c:f>Sheet1!$C$2:$C$4</c:f>
              <c:numCache>
                <c:formatCode>General</c:formatCode>
                <c:ptCount val="3"/>
                <c:pt idx="0">
                  <c:v>0.71</c:v>
                </c:pt>
                <c:pt idx="1">
                  <c:v>0.67</c:v>
                </c:pt>
                <c:pt idx="2">
                  <c:v>0.2</c:v>
                </c:pt>
              </c:numCache>
            </c:numRef>
          </c:val>
        </c:ser>
        <c:ser>
          <c:idx val="2"/>
          <c:order val="2"/>
          <c:tx>
            <c:strRef>
              <c:f>Sheet1!$D$1</c:f>
              <c:strCache>
                <c:ptCount val="1"/>
                <c:pt idx="0">
                  <c:v>Gemini 3.5 Flash</c:v>
                </c:pt>
              </c:strCache>
            </c:strRef>
          </c:tx>
          <c:spPr>
            <a:solidFill>
              <a:srgbClr val="7A8F99"/>
            </a:solidFill>
            <a:effectLst/>
          </c:spPr>
          <c:invertIfNegative val="0"/>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Accuracy</c:v>
                  </c:pt>
                  <c:pt idx="1">
                    <c:v>Fault recall</c:v>
                  </c:pt>
                  <c:pt idx="2">
                    <c:v>False-positive rate</c:v>
                  </c:pt>
                </c:lvl>
              </c:multiLvlStrCache>
            </c:multiLvlStrRef>
          </c:cat>
          <c:val>
            <c:numRef>
              <c:f>Sheet1!$D$2:$D$4</c:f>
              <c:numCache>
                <c:formatCode>General</c:formatCode>
                <c:ptCount val="3"/>
                <c:pt idx="0">
                  <c:v>0.64</c:v>
                </c:pt>
                <c:pt idx="1">
                  <c:v>0.44</c:v>
                </c:pt>
                <c:pt idx="2">
                  <c:v>0</c:v>
                </c:pt>
              </c:numCache>
            </c:numRef>
          </c:val>
        </c:ser>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2232B"/>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6350" cap="flat">
              <a:solidFill>
                <a:srgbClr val="DDE4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7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300">
              <a:solidFill>
                <a:srgbClr val="12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232B"/>
                </a:solidFill>
                <a:latin typeface="+mn-lt"/>
              </a:defRPr>
            </a:pPr>
            <a:r>
              <a:rPr sz="1400" b="0" i="0" u="none" strike="noStrike">
                <a:solidFill>
                  <a:srgbClr val="12232B"/>
                </a:solidFill>
                <a:latin typeface="+mn-lt"/>
              </a:rPr>
              <a:t>Faults detected with the right type, out of 7 sizes per metric</a:t>
            </a:r>
          </a:p>
        </c:rich>
      </c:tx>
      <c:layout/>
      <c:overlay val="0"/>
    </c:title>
    <c:autoTitleDeleted val="0"/>
    <c:plotArea>
      <c:layout/>
      <c:barChart>
        <c:barDir val="col"/>
        <c:grouping val="clustered"/>
        <c:varyColors val="0"/>
        <c:ser>
          <c:idx val="0"/>
          <c:order val="0"/>
          <c:tx>
            <c:strRef>
              <c:f>Sheet1!$B$1</c:f>
              <c:strCache>
                <c:ptCount val="1"/>
                <c:pt idx="0">
                  <c:v>Metrics agent</c:v>
                </c:pt>
              </c:strCache>
            </c:strRef>
          </c:tx>
          <c:spPr>
            <a:solidFill>
              <a:srgbClr val="1F8A8A"/>
            </a:solidFill>
            <a:effectLst/>
          </c:spPr>
          <c:invertIfNegative val="0"/>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Latency</c:v>
                  </c:pt>
                  <c:pt idx="1">
                    <c:v>CPU</c:v>
                  </c:pt>
                  <c:pt idx="2">
                    <c:v>Memory</c:v>
                  </c:pt>
                </c:lvl>
              </c:multiLvlStrCache>
            </c:multiLvlStrRef>
          </c:cat>
          <c:val>
            <c:numRef>
              <c:f>Sheet1!$B$2:$B$4</c:f>
              <c:numCache>
                <c:formatCode>General</c:formatCode>
                <c:ptCount val="3"/>
                <c:pt idx="0">
                  <c:v>4</c:v>
                </c:pt>
                <c:pt idx="1">
                  <c:v>5</c:v>
                </c:pt>
                <c:pt idx="2">
                  <c:v>5</c:v>
                </c:pt>
              </c:numCache>
            </c:numRef>
          </c:val>
        </c:ser>
        <c:ser>
          <c:idx val="1"/>
          <c:order val="1"/>
          <c:tx>
            <c:strRef>
              <c:f>Sheet1!$C$1</c:f>
              <c:strCache>
                <c:ptCount val="1"/>
                <c:pt idx="0">
                  <c:v>Threshold baseline</c:v>
                </c:pt>
              </c:strCache>
            </c:strRef>
          </c:tx>
          <c:spPr>
            <a:solidFill>
              <a:srgbClr val="E8A33D"/>
            </a:solidFill>
            <a:effectLst/>
          </c:spPr>
          <c:invertIfNegative val="0"/>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Latency</c:v>
                  </c:pt>
                  <c:pt idx="1">
                    <c:v>CPU</c:v>
                  </c:pt>
                  <c:pt idx="2">
                    <c:v>Memory</c:v>
                  </c:pt>
                </c:lvl>
              </c:multiLvlStrCache>
            </c:multiLvlStrRef>
          </c:cat>
          <c:val>
            <c:numRef>
              <c:f>Sheet1!$C$2:$C$4</c:f>
              <c:numCache>
                <c:formatCode>General</c:formatCode>
                <c:ptCount val="3"/>
                <c:pt idx="0">
                  <c:v>3</c:v>
                </c:pt>
                <c:pt idx="1">
                  <c:v>1</c:v>
                </c:pt>
                <c:pt idx="2">
                  <c:v>0</c:v>
                </c:pt>
              </c:numCache>
            </c:numRef>
          </c:val>
        </c:ser>
        <c:dLbls>
          <c:numFmt formatCode="#,##0" sourceLinked="0"/>
          <c:txPr>
            <a:bodyPr/>
            <a:lstStyle/>
            <a:p>
              <a:pPr>
                <a:defRPr b="0" i="0" strike="noStrike" sz="1300" u="none">
                  <a:solidFill>
                    <a:srgbClr val="1223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2232B"/>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DD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770"/>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300">
              <a:solidFill>
                <a:srgbClr val="12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a failed Jenkins build triggers three independent agents, and a human approves any fix. Each of us presents one agent. The coloured pill on each slide shows who presents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evidence is scattered, simple alerts lack context, and auto-fixing without safeguards is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fourth objective: saying unknown is a feature, not a failure. Then read the ownership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main question aloud. Each presenter then reads their own sub-question when their section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Teal boxes exist and are tested. Dashed boxes are not built yet: the Coordinator's evidence fusion, the human approval step and PR creation. Agents never call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pieces that keep three independently written agents compatible and safe. The evidence schema is generated from the Pydantic models and a test fails if it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 tests pass and one is skipped across the repository. Be direct about the three unbuilt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LangGraph has three nodes. The key idea: rules classify first, the LLM refines using read-only tools with hard limits, and everything it says must cite evidence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matches a signal in the parsed build and gives a starting confidence. The right-hand list is what stops the LLM from overruling clear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of 6 is the rules alone, with no LLM, on the ground-truth build logs. Be clear that these logs were used while building the rules, and that evaluation with the real LLM is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is that bad or missing data means cannot conclude, never anomaly. Detectors are deterministic and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fault has a known label, so every verdict can be scored. The down fault is covered by scenarios only, because there is no live injector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false-positive rate is the restraint metric: how often the system names a cause when metrics do not explain the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 percent is optimistic because the scenarios were written together with the detector. The sweep and live runs are the independent evidence. Gemini 3.5 Flash numbers are one run at temperature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Misses are faults smaller than the minimum-effect floors, by design. Neither system raised a false alarm on the five healthy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was right on all five cases where metrics explain nothing, but missed most real faults. It was also confidently wrong: 0.88 average confidence when wrong. Live runs are still to be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one pattern seen in the results. The correlated and memory-leak cases are the strongest illustrations.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reads the failing commit, its pull requests and recent history from GitHub, classifies what changed, and ranks causes. It is read-only until the fix-proposal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used first on purpose: they are the ground truth that the later LLM reasoning will be measured against, and they run offline. The four restraint rules matter more than any single detection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TC-12 and TC-14 are the point: an agent that scores well on TC-03 and TC-08 while confidently blaming an innocent commit would be worse than useless. The 4 of 4 is on scenarios written by the same author as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OPA packages are checked at two moments. The deny list is deliberately aimed at the obvious fixes that hide a symptom, like skipping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the Metrics agent has no LLM by design and there is no RAG. Retrieval here means structured queries to Jenkins, Prometheus and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P2 is the only agent with a baseline comparison so far. P1 and P3 are covered on their ground-truth cases. Fusion across agents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presenter reads their own column. The failure cases for P2 come from the sweep; the others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card yourselves before the panel does: the scenarios and the detectors were designed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four columns. Each presenter reads their own column, then the team column closes: the Coordinator is what turns three independent verdicts into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answering the research question honestly: each agent works on its own cases; the evidence that they beat baselines is so far strongest for the Metrics agent. Then the next steps by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3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7"/>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66770"/>
                </a:solidFill>
                <a:latin typeface="Calibri" pitchFamily="34" charset="0"/>
                <a:ea typeface="Calibri" pitchFamily="34" charset="-122"/>
                <a:cs typeface="Calibri" pitchFamily="34" charset="-120"/>
              </a:rPr>
              <a:t>JenkinsGuardians  |  Mid-semester review</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223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B3BA"/>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71600"/>
            <a:ext cx="10058400" cy="320040"/>
          </a:xfrm>
          <a:prstGeom prst="rect">
            <a:avLst/>
          </a:prstGeom>
          <a:noFill/>
          <a:ln/>
        </p:spPr>
        <p:txBody>
          <a:bodyPr wrap="square" lIns="0" tIns="0" rIns="0" bIns="0" rtlCol="0" anchor="ctr"/>
          <a:lstStyle/>
          <a:p>
            <a:pPr indent="0" marL="0">
              <a:buNone/>
            </a:pPr>
            <a:r>
              <a:rPr lang="en-US" sz="1400" b="1" spc="400" kern="0" dirty="0">
                <a:solidFill>
                  <a:srgbClr val="E8A33D"/>
                </a:solidFill>
                <a:latin typeface="Calibri" pitchFamily="34" charset="0"/>
                <a:ea typeface="Calibri" pitchFamily="34" charset="-122"/>
                <a:cs typeface="Calibri" pitchFamily="34" charset="-120"/>
              </a:rPr>
              <a:t>MID-SEMESTER REVIEW</a:t>
            </a:r>
            <a:endParaRPr lang="en-US" sz="1400" dirty="0"/>
          </a:p>
        </p:txBody>
      </p:sp>
      <p:sp>
        <p:nvSpPr>
          <p:cNvPr id="3" name="Text 1"/>
          <p:cNvSpPr txBox="1"/>
          <p:nvPr/>
        </p:nvSpPr>
        <p:spPr>
          <a:xfrm>
            <a:off x="822960" y="1828800"/>
            <a:ext cx="10515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JenkinsGuardians</a:t>
            </a:r>
            <a:endParaRPr lang="en-US" sz="6000" dirty="0"/>
          </a:p>
        </p:txBody>
      </p:sp>
      <p:sp>
        <p:nvSpPr>
          <p:cNvPr id="4" name="Text 2"/>
          <p:cNvSpPr txBox="1"/>
          <p:nvPr/>
        </p:nvSpPr>
        <p:spPr>
          <a:xfrm>
            <a:off x="822960" y="2926080"/>
            <a:ext cx="10515600" cy="548640"/>
          </a:xfrm>
          <a:prstGeom prst="rect">
            <a:avLst/>
          </a:prstGeom>
          <a:noFill/>
          <a:ln/>
        </p:spPr>
        <p:txBody>
          <a:bodyPr wrap="square" lIns="0" tIns="0" rIns="0" bIns="0" rtlCol="0" anchor="ctr"/>
          <a:lstStyle/>
          <a:p>
            <a:pPr indent="0" marL="0">
              <a:buNone/>
            </a:pPr>
            <a:r>
              <a:rPr lang="en-US" sz="2600" dirty="0">
                <a:solidFill>
                  <a:srgbClr val="CFE3E1"/>
                </a:solidFill>
                <a:latin typeface="Calibri" pitchFamily="34" charset="0"/>
                <a:ea typeface="Calibri" pitchFamily="34" charset="-122"/>
                <a:cs typeface="Calibri" pitchFamily="34" charset="-120"/>
              </a:rPr>
              <a:t>AI-powered DevOps incident investigation and remediation</a:t>
            </a:r>
            <a:endParaRPr lang="en-US" sz="2600" dirty="0"/>
          </a:p>
        </p:txBody>
      </p:sp>
      <p:sp>
        <p:nvSpPr>
          <p:cNvPr id="5" name="Text 3"/>
          <p:cNvSpPr txBox="1"/>
          <p:nvPr/>
        </p:nvSpPr>
        <p:spPr>
          <a:xfrm>
            <a:off x="822960" y="3840480"/>
            <a:ext cx="10515600" cy="411480"/>
          </a:xfrm>
          <a:prstGeom prst="rect">
            <a:avLst/>
          </a:prstGeom>
          <a:noFill/>
          <a:ln/>
        </p:spPr>
        <p:txBody>
          <a:bodyPr wrap="square" lIns="0" tIns="0" rIns="0" bIns="0" rtlCol="0" anchor="ctr"/>
          <a:lstStyle/>
          <a:p>
            <a:pPr indent="0" marL="0">
              <a:buNone/>
            </a:pPr>
            <a:r>
              <a:rPr lang="en-US" sz="1800" i="1" dirty="0">
                <a:solidFill>
                  <a:srgbClr val="9CB3BA"/>
                </a:solidFill>
                <a:latin typeface="Calibri" pitchFamily="34" charset="0"/>
                <a:ea typeface="Calibri" pitchFamily="34" charset="-122"/>
                <a:cs typeface="Calibri" pitchFamily="34" charset="-120"/>
              </a:rPr>
              <a:t>Three independent agents investigate a failed build; a human approves any fix</a:t>
            </a:r>
            <a:endParaRPr lang="en-US" sz="1800" dirty="0"/>
          </a:p>
        </p:txBody>
      </p:sp>
      <p:sp>
        <p:nvSpPr>
          <p:cNvPr id="6" name="team badge"/>
          <p:cNvSpPr/>
          <p:nvPr/>
        </p:nvSpPr>
        <p:spPr>
          <a:xfrm>
            <a:off x="822960" y="4983480"/>
            <a:ext cx="457200" cy="457200"/>
          </a:xfrm>
          <a:prstGeom prst="ellipse">
            <a:avLst/>
          </a:prstGeom>
          <a:solidFill>
            <a:srgbClr val="1F8A8A"/>
          </a:solidFill>
          <a:ln w="12700">
            <a:solidFill>
              <a:srgbClr val="1F8A8A"/>
            </a:solidFill>
            <a:prstDash val="solid"/>
          </a:ln>
        </p:spPr>
      </p:sp>
      <p:sp>
        <p:nvSpPr>
          <p:cNvPr id="7" name="Text 5"/>
          <p:cNvSpPr txBox="1"/>
          <p:nvPr/>
        </p:nvSpPr>
        <p:spPr>
          <a:xfrm>
            <a:off x="822960" y="4983480"/>
            <a:ext cx="457200" cy="457200"/>
          </a:xfrm>
          <a:prstGeom prst="rect">
            <a:avLst/>
          </a:prstGeom>
          <a:noFill/>
          <a:ln/>
        </p:spPr>
        <p:txBody>
          <a:bodyPr wrap="square" lIns="0" tIns="0" rIns="0" bIns="0" rtlCol="0" anchor="ctr"/>
          <a:lstStyle/>
          <a:p>
            <a:pPr algn="ctr" indent="0" marL="0">
              <a:buNone/>
            </a:pPr>
            <a:r>
              <a:rPr lang="en-US" sz="1400" b="1" dirty="0">
                <a:solidFill>
                  <a:srgbClr val="12232B"/>
                </a:solidFill>
                <a:latin typeface="Cambria" pitchFamily="34" charset="0"/>
                <a:ea typeface="Cambria" pitchFamily="34" charset="-122"/>
                <a:cs typeface="Cambria" pitchFamily="34" charset="-120"/>
              </a:rPr>
              <a:t>P1</a:t>
            </a:r>
            <a:endParaRPr lang="en-US" sz="1400" dirty="0"/>
          </a:p>
        </p:txBody>
      </p:sp>
      <p:sp>
        <p:nvSpPr>
          <p:cNvPr id="8" name="Text 6"/>
          <p:cNvSpPr txBox="1"/>
          <p:nvPr/>
        </p:nvSpPr>
        <p:spPr>
          <a:xfrm>
            <a:off x="1417320" y="4937760"/>
            <a:ext cx="283464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Ishita Verma</a:t>
            </a:r>
            <a:endParaRPr lang="en-US" sz="1600" dirty="0"/>
          </a:p>
        </p:txBody>
      </p:sp>
      <p:sp>
        <p:nvSpPr>
          <p:cNvPr id="9" name="Text 7"/>
          <p:cNvSpPr txBox="1"/>
          <p:nvPr/>
        </p:nvSpPr>
        <p:spPr>
          <a:xfrm>
            <a:off x="1417320" y="5230368"/>
            <a:ext cx="2926080" cy="457200"/>
          </a:xfrm>
          <a:prstGeom prst="rect">
            <a:avLst/>
          </a:prstGeom>
          <a:noFill/>
          <a:ln/>
        </p:spPr>
        <p:txBody>
          <a:bodyPr wrap="square" lIns="0" tIns="0" rIns="0" bIns="0" rtlCol="0" anchor="t"/>
          <a:lstStyle/>
          <a:p>
            <a:pPr indent="0" marL="0">
              <a:buNone/>
            </a:pPr>
            <a:r>
              <a:rPr lang="en-US" sz="1200" dirty="0">
                <a:solidFill>
                  <a:srgbClr val="9CB3BA"/>
                </a:solidFill>
                <a:latin typeface="Calibri" pitchFamily="34" charset="0"/>
                <a:ea typeface="Calibri" pitchFamily="34" charset="-122"/>
                <a:cs typeface="Calibri" pitchFamily="34" charset="-120"/>
              </a:rPr>
              <a:t>Jenkins agent</a:t>
            </a:r>
            <a:endParaRPr lang="en-US" sz="1200" dirty="0"/>
          </a:p>
        </p:txBody>
      </p:sp>
      <p:sp>
        <p:nvSpPr>
          <p:cNvPr id="10" name="team badge"/>
          <p:cNvSpPr/>
          <p:nvPr/>
        </p:nvSpPr>
        <p:spPr>
          <a:xfrm>
            <a:off x="4434840" y="4983480"/>
            <a:ext cx="457200" cy="457200"/>
          </a:xfrm>
          <a:prstGeom prst="ellipse">
            <a:avLst/>
          </a:prstGeom>
          <a:solidFill>
            <a:srgbClr val="E8A33D"/>
          </a:solidFill>
          <a:ln w="12700">
            <a:solidFill>
              <a:srgbClr val="E8A33D"/>
            </a:solidFill>
            <a:prstDash val="solid"/>
          </a:ln>
        </p:spPr>
      </p:sp>
      <p:sp>
        <p:nvSpPr>
          <p:cNvPr id="11" name="Text 9"/>
          <p:cNvSpPr txBox="1"/>
          <p:nvPr/>
        </p:nvSpPr>
        <p:spPr>
          <a:xfrm>
            <a:off x="4434840" y="4983480"/>
            <a:ext cx="457200" cy="457200"/>
          </a:xfrm>
          <a:prstGeom prst="rect">
            <a:avLst/>
          </a:prstGeom>
          <a:noFill/>
          <a:ln/>
        </p:spPr>
        <p:txBody>
          <a:bodyPr wrap="square" lIns="0" tIns="0" rIns="0" bIns="0" rtlCol="0" anchor="ctr"/>
          <a:lstStyle/>
          <a:p>
            <a:pPr algn="ctr" indent="0" marL="0">
              <a:buNone/>
            </a:pPr>
            <a:r>
              <a:rPr lang="en-US" sz="1400" b="1" dirty="0">
                <a:solidFill>
                  <a:srgbClr val="12232B"/>
                </a:solidFill>
                <a:latin typeface="Cambria" pitchFamily="34" charset="0"/>
                <a:ea typeface="Cambria" pitchFamily="34" charset="-122"/>
                <a:cs typeface="Cambria" pitchFamily="34" charset="-120"/>
              </a:rPr>
              <a:t>P2</a:t>
            </a:r>
            <a:endParaRPr lang="en-US" sz="1400" dirty="0"/>
          </a:p>
        </p:txBody>
      </p:sp>
      <p:sp>
        <p:nvSpPr>
          <p:cNvPr id="12" name="Text 10"/>
          <p:cNvSpPr txBox="1"/>
          <p:nvPr/>
        </p:nvSpPr>
        <p:spPr>
          <a:xfrm>
            <a:off x="5029200" y="4937760"/>
            <a:ext cx="283464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Shreya Khandelwal</a:t>
            </a:r>
            <a:endParaRPr lang="en-US" sz="1600" dirty="0"/>
          </a:p>
        </p:txBody>
      </p:sp>
      <p:sp>
        <p:nvSpPr>
          <p:cNvPr id="13" name="Text 11"/>
          <p:cNvSpPr txBox="1"/>
          <p:nvPr/>
        </p:nvSpPr>
        <p:spPr>
          <a:xfrm>
            <a:off x="5029200" y="5230368"/>
            <a:ext cx="2926080" cy="457200"/>
          </a:xfrm>
          <a:prstGeom prst="rect">
            <a:avLst/>
          </a:prstGeom>
          <a:noFill/>
          <a:ln/>
        </p:spPr>
        <p:txBody>
          <a:bodyPr wrap="square" lIns="0" tIns="0" rIns="0" bIns="0" rtlCol="0" anchor="t"/>
          <a:lstStyle/>
          <a:p>
            <a:pPr indent="0" marL="0">
              <a:buNone/>
            </a:pPr>
            <a:r>
              <a:rPr lang="en-US" sz="1200" dirty="0">
                <a:solidFill>
                  <a:srgbClr val="9CB3BA"/>
                </a:solidFill>
                <a:latin typeface="Calibri" pitchFamily="34" charset="0"/>
                <a:ea typeface="Calibri" pitchFamily="34" charset="-122"/>
                <a:cs typeface="Calibri" pitchFamily="34" charset="-120"/>
              </a:rPr>
              <a:t>Monitoring and Metrics agent</a:t>
            </a:r>
            <a:endParaRPr lang="en-US" sz="1200" dirty="0"/>
          </a:p>
        </p:txBody>
      </p:sp>
      <p:sp>
        <p:nvSpPr>
          <p:cNvPr id="14" name="team badge"/>
          <p:cNvSpPr/>
          <p:nvPr/>
        </p:nvSpPr>
        <p:spPr>
          <a:xfrm>
            <a:off x="8046720" y="4983480"/>
            <a:ext cx="457200" cy="457200"/>
          </a:xfrm>
          <a:prstGeom prst="ellipse">
            <a:avLst/>
          </a:prstGeom>
          <a:solidFill>
            <a:srgbClr val="9A7BB5"/>
          </a:solidFill>
          <a:ln w="12700">
            <a:solidFill>
              <a:srgbClr val="9A7BB5"/>
            </a:solidFill>
            <a:prstDash val="solid"/>
          </a:ln>
        </p:spPr>
      </p:sp>
      <p:sp>
        <p:nvSpPr>
          <p:cNvPr id="15" name="Text 13"/>
          <p:cNvSpPr txBox="1"/>
          <p:nvPr/>
        </p:nvSpPr>
        <p:spPr>
          <a:xfrm>
            <a:off x="8046720" y="4983480"/>
            <a:ext cx="457200" cy="457200"/>
          </a:xfrm>
          <a:prstGeom prst="rect">
            <a:avLst/>
          </a:prstGeom>
          <a:noFill/>
          <a:ln/>
        </p:spPr>
        <p:txBody>
          <a:bodyPr wrap="square" lIns="0" tIns="0" rIns="0" bIns="0" rtlCol="0" anchor="ctr"/>
          <a:lstStyle/>
          <a:p>
            <a:pPr algn="ctr" indent="0" marL="0">
              <a:buNone/>
            </a:pPr>
            <a:r>
              <a:rPr lang="en-US" sz="1400" b="1" dirty="0">
                <a:solidFill>
                  <a:srgbClr val="12232B"/>
                </a:solidFill>
                <a:latin typeface="Cambria" pitchFamily="34" charset="0"/>
                <a:ea typeface="Cambria" pitchFamily="34" charset="-122"/>
                <a:cs typeface="Cambria" pitchFamily="34" charset="-120"/>
              </a:rPr>
              <a:t>P3</a:t>
            </a:r>
            <a:endParaRPr lang="en-US" sz="1400" dirty="0"/>
          </a:p>
        </p:txBody>
      </p:sp>
      <p:sp>
        <p:nvSpPr>
          <p:cNvPr id="16" name="Text 14"/>
          <p:cNvSpPr txBox="1"/>
          <p:nvPr/>
        </p:nvSpPr>
        <p:spPr>
          <a:xfrm>
            <a:off x="8641080" y="4937760"/>
            <a:ext cx="283464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Bayyapureddy Vibhugnan</a:t>
            </a:r>
            <a:endParaRPr lang="en-US" sz="1600" dirty="0"/>
          </a:p>
        </p:txBody>
      </p:sp>
      <p:sp>
        <p:nvSpPr>
          <p:cNvPr id="17" name="Text 15"/>
          <p:cNvSpPr txBox="1"/>
          <p:nvPr/>
        </p:nvSpPr>
        <p:spPr>
          <a:xfrm>
            <a:off x="8641080" y="5230368"/>
            <a:ext cx="2926080" cy="457200"/>
          </a:xfrm>
          <a:prstGeom prst="rect">
            <a:avLst/>
          </a:prstGeom>
          <a:noFill/>
          <a:ln/>
        </p:spPr>
        <p:txBody>
          <a:bodyPr wrap="square" lIns="0" tIns="0" rIns="0" bIns="0" rtlCol="0" anchor="t"/>
          <a:lstStyle/>
          <a:p>
            <a:pPr indent="0" marL="0">
              <a:buNone/>
            </a:pPr>
            <a:r>
              <a:rPr lang="en-US" sz="1200" dirty="0">
                <a:solidFill>
                  <a:srgbClr val="9CB3BA"/>
                </a:solidFill>
                <a:latin typeface="Calibri" pitchFamily="34" charset="0"/>
                <a:ea typeface="Calibri" pitchFamily="34" charset="-122"/>
                <a:cs typeface="Calibri" pitchFamily="34" charset="-120"/>
              </a:rPr>
              <a:t>Code agent, evidence contract, policy</a:t>
            </a:r>
            <a:endParaRPr lang="en-US" sz="1200" dirty="0"/>
          </a:p>
        </p:txBody>
      </p:sp>
      <p:sp>
        <p:nvSpPr>
          <p:cNvPr id="18" name="motif"/>
          <p:cNvSpPr/>
          <p:nvPr/>
        </p:nvSpPr>
        <p:spPr>
          <a:xfrm>
            <a:off x="822960" y="640080"/>
            <a:ext cx="274320" cy="274320"/>
          </a:xfrm>
          <a:prstGeom prst="ellipse">
            <a:avLst/>
          </a:prstGeom>
          <a:solidFill>
            <a:srgbClr val="1F8A8A"/>
          </a:solidFill>
          <a:ln w="12700">
            <a:solidFill>
              <a:srgbClr val="1F8A8A"/>
            </a:solidFill>
            <a:prstDash val="solid"/>
          </a:ln>
        </p:spPr>
      </p:sp>
      <p:sp>
        <p:nvSpPr>
          <p:cNvPr id="19" name="motif"/>
          <p:cNvSpPr/>
          <p:nvPr/>
        </p:nvSpPr>
        <p:spPr>
          <a:xfrm>
            <a:off x="1280160" y="640080"/>
            <a:ext cx="274320" cy="274320"/>
          </a:xfrm>
          <a:prstGeom prst="ellipse">
            <a:avLst/>
          </a:prstGeom>
          <a:solidFill>
            <a:srgbClr val="E8A33D"/>
          </a:solidFill>
          <a:ln w="12700">
            <a:solidFill>
              <a:srgbClr val="E8A33D"/>
            </a:solidFill>
            <a:prstDash val="solid"/>
          </a:ln>
        </p:spPr>
      </p:sp>
      <p:sp>
        <p:nvSpPr>
          <p:cNvPr id="20" name="motif"/>
          <p:cNvSpPr/>
          <p:nvPr/>
        </p:nvSpPr>
        <p:spPr>
          <a:xfrm>
            <a:off x="1737360" y="640080"/>
            <a:ext cx="274320" cy="274320"/>
          </a:xfrm>
          <a:prstGeom prst="ellipse">
            <a:avLst/>
          </a:prstGeom>
          <a:solidFill>
            <a:srgbClr val="9A7BB5"/>
          </a:solidFill>
          <a:ln w="12700">
            <a:solidFill>
              <a:srgbClr val="9A7BB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When a build fails, finding why is slow and manual</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737360"/>
            <a:ext cx="3520440" cy="33832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822960" y="2011680"/>
            <a:ext cx="457200" cy="457200"/>
          </a:xfrm>
          <a:prstGeom prst="ellipse">
            <a:avLst/>
          </a:prstGeom>
          <a:solidFill>
            <a:srgbClr val="1F8A8A"/>
          </a:solidFill>
          <a:ln w="12700">
            <a:solidFill>
              <a:srgbClr val="1F8A8A"/>
            </a:solidFill>
            <a:prstDash val="solid"/>
          </a:ln>
        </p:spPr>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822960" y="2651760"/>
            <a:ext cx="2971800" cy="777240"/>
          </a:xfrm>
          <a:prstGeom prst="rect">
            <a:avLst/>
          </a:prstGeom>
          <a:noFill/>
          <a:ln/>
        </p:spPr>
        <p:txBody>
          <a:bodyPr wrap="square" lIns="0" tIns="0" rIns="0" bIns="0" rtlCol="0" anchor="t"/>
          <a:lstStyle/>
          <a:p>
            <a:pPr indent="0" marL="0">
              <a:buNone/>
            </a:pPr>
            <a:r>
              <a:rPr lang="en-US" sz="2200" b="1" dirty="0">
                <a:solidFill>
                  <a:srgbClr val="12232B"/>
                </a:solidFill>
                <a:latin typeface="Cambria" pitchFamily="34" charset="0"/>
                <a:ea typeface="Cambria" pitchFamily="34" charset="-122"/>
                <a:cs typeface="Cambria" pitchFamily="34" charset="-120"/>
              </a:rPr>
              <a:t>Evidence is scattered</a:t>
            </a:r>
            <a:endParaRPr lang="en-US" sz="2200" dirty="0"/>
          </a:p>
        </p:txBody>
      </p:sp>
      <p:sp>
        <p:nvSpPr>
          <p:cNvPr id="11" name="Text 8"/>
          <p:cNvSpPr txBox="1"/>
          <p:nvPr/>
        </p:nvSpPr>
        <p:spPr>
          <a:xfrm>
            <a:off x="822960" y="3520440"/>
            <a:ext cx="2971800" cy="1554480"/>
          </a:xfrm>
          <a:prstGeom prst="rect">
            <a:avLst/>
          </a:prstGeom>
          <a:noFill/>
          <a:ln/>
        </p:spPr>
        <p:txBody>
          <a:bodyPr wrap="square" lIns="0" tIns="0" rIns="0" bIns="0" rtlCol="0" anchor="t"/>
          <a:lstStyle/>
          <a:p>
            <a:pPr indent="0" marL="0">
              <a:buNone/>
            </a:pPr>
            <a:r>
              <a:rPr lang="en-US" sz="1600" dirty="0">
                <a:solidFill>
                  <a:srgbClr val="566770"/>
                </a:solidFill>
                <a:latin typeface="Calibri" pitchFamily="34" charset="0"/>
                <a:ea typeface="Calibri" pitchFamily="34" charset="-122"/>
                <a:cs typeface="Calibri" pitchFamily="34" charset="-120"/>
              </a:rPr>
              <a:t>The cause hides across Jenkins logs, recent code changes and system metrics. An engineer has to open and correlate all three.</a:t>
            </a:r>
            <a:endParaRPr lang="en-US" sz="1600" dirty="0"/>
          </a:p>
        </p:txBody>
      </p:sp>
      <p:sp>
        <p:nvSpPr>
          <p:cNvPr id="12" name="card"/>
          <p:cNvSpPr/>
          <p:nvPr/>
        </p:nvSpPr>
        <p:spPr>
          <a:xfrm>
            <a:off x="4320540" y="1737360"/>
            <a:ext cx="3520440" cy="33832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3" name="badge"/>
          <p:cNvSpPr/>
          <p:nvPr/>
        </p:nvSpPr>
        <p:spPr>
          <a:xfrm>
            <a:off x="4594860" y="2011680"/>
            <a:ext cx="457200" cy="457200"/>
          </a:xfrm>
          <a:prstGeom prst="ellipse">
            <a:avLst/>
          </a:prstGeom>
          <a:solidFill>
            <a:srgbClr val="1F8A8A"/>
          </a:solidFill>
          <a:ln w="12700">
            <a:solidFill>
              <a:srgbClr val="1F8A8A"/>
            </a:solidFill>
            <a:prstDash val="solid"/>
          </a:ln>
        </p:spPr>
      </p:sp>
      <p:sp>
        <p:nvSpPr>
          <p:cNvPr id="14" name="Text 11"/>
          <p:cNvSpPr txBox="1"/>
          <p:nvPr/>
        </p:nvSpPr>
        <p:spPr>
          <a:xfrm>
            <a:off x="459486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4594860" y="2651760"/>
            <a:ext cx="2971800" cy="777240"/>
          </a:xfrm>
          <a:prstGeom prst="rect">
            <a:avLst/>
          </a:prstGeom>
          <a:noFill/>
          <a:ln/>
        </p:spPr>
        <p:txBody>
          <a:bodyPr wrap="square" lIns="0" tIns="0" rIns="0" bIns="0" rtlCol="0" anchor="t"/>
          <a:lstStyle/>
          <a:p>
            <a:pPr indent="0" marL="0">
              <a:buNone/>
            </a:pPr>
            <a:r>
              <a:rPr lang="en-US" sz="2200" b="1" dirty="0">
                <a:solidFill>
                  <a:srgbClr val="12232B"/>
                </a:solidFill>
                <a:latin typeface="Cambria" pitchFamily="34" charset="0"/>
                <a:ea typeface="Cambria" pitchFamily="34" charset="-122"/>
                <a:cs typeface="Cambria" pitchFamily="34" charset="-120"/>
              </a:rPr>
              <a:t>Simple alerts lack context</a:t>
            </a:r>
            <a:endParaRPr lang="en-US" sz="2200" dirty="0"/>
          </a:p>
        </p:txBody>
      </p:sp>
      <p:sp>
        <p:nvSpPr>
          <p:cNvPr id="16" name="Text 13"/>
          <p:cNvSpPr txBox="1"/>
          <p:nvPr/>
        </p:nvSpPr>
        <p:spPr>
          <a:xfrm>
            <a:off x="4594860" y="3520440"/>
            <a:ext cx="2971800" cy="1554480"/>
          </a:xfrm>
          <a:prstGeom prst="rect">
            <a:avLst/>
          </a:prstGeom>
          <a:noFill/>
          <a:ln/>
        </p:spPr>
        <p:txBody>
          <a:bodyPr wrap="square" lIns="0" tIns="0" rIns="0" bIns="0" rtlCol="0" anchor="t"/>
          <a:lstStyle/>
          <a:p>
            <a:pPr indent="0" marL="0">
              <a:buNone/>
            </a:pPr>
            <a:r>
              <a:rPr lang="en-US" sz="1600" dirty="0">
                <a:solidFill>
                  <a:srgbClr val="566770"/>
                </a:solidFill>
                <a:latin typeface="Calibri" pitchFamily="34" charset="0"/>
                <a:ea typeface="Calibri" pitchFamily="34" charset="-122"/>
                <a:cs typeface="Calibri" pitchFamily="34" charset="-120"/>
              </a:rPr>
              <a:t>A fixed threshold fires on noise and misses slow faults such as a memory leak. It cannot say which failure type it is looking at.</a:t>
            </a:r>
            <a:endParaRPr lang="en-US" sz="1600" dirty="0"/>
          </a:p>
        </p:txBody>
      </p:sp>
      <p:sp>
        <p:nvSpPr>
          <p:cNvPr id="17" name="card"/>
          <p:cNvSpPr/>
          <p:nvPr/>
        </p:nvSpPr>
        <p:spPr>
          <a:xfrm>
            <a:off x="8092440" y="1737360"/>
            <a:ext cx="3520440" cy="33832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8" name="badge"/>
          <p:cNvSpPr/>
          <p:nvPr/>
        </p:nvSpPr>
        <p:spPr>
          <a:xfrm>
            <a:off x="8366760" y="2011680"/>
            <a:ext cx="457200" cy="457200"/>
          </a:xfrm>
          <a:prstGeom prst="ellipse">
            <a:avLst/>
          </a:prstGeom>
          <a:solidFill>
            <a:srgbClr val="1F8A8A"/>
          </a:solidFill>
          <a:ln w="12700">
            <a:solidFill>
              <a:srgbClr val="1F8A8A"/>
            </a:solidFill>
            <a:prstDash val="solid"/>
          </a:ln>
        </p:spPr>
      </p:sp>
      <p:sp>
        <p:nvSpPr>
          <p:cNvPr id="19" name="Text 16"/>
          <p:cNvSpPr txBox="1"/>
          <p:nvPr/>
        </p:nvSpPr>
        <p:spPr>
          <a:xfrm>
            <a:off x="836676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8366760" y="2651760"/>
            <a:ext cx="2971800" cy="777240"/>
          </a:xfrm>
          <a:prstGeom prst="rect">
            <a:avLst/>
          </a:prstGeom>
          <a:noFill/>
          <a:ln/>
        </p:spPr>
        <p:txBody>
          <a:bodyPr wrap="square" lIns="0" tIns="0" rIns="0" bIns="0" rtlCol="0" anchor="t"/>
          <a:lstStyle/>
          <a:p>
            <a:pPr indent="0" marL="0">
              <a:buNone/>
            </a:pPr>
            <a:r>
              <a:rPr lang="en-US" sz="2200" b="1" dirty="0">
                <a:solidFill>
                  <a:srgbClr val="12232B"/>
                </a:solidFill>
                <a:latin typeface="Cambria" pitchFamily="34" charset="0"/>
                <a:ea typeface="Cambria" pitchFamily="34" charset="-122"/>
                <a:cs typeface="Cambria" pitchFamily="34" charset="-120"/>
              </a:rPr>
              <a:t>Automatic fixes are risky</a:t>
            </a:r>
            <a:endParaRPr lang="en-US" sz="2200" dirty="0"/>
          </a:p>
        </p:txBody>
      </p:sp>
      <p:sp>
        <p:nvSpPr>
          <p:cNvPr id="21" name="Text 18"/>
          <p:cNvSpPr txBox="1"/>
          <p:nvPr/>
        </p:nvSpPr>
        <p:spPr>
          <a:xfrm>
            <a:off x="8366760" y="3520440"/>
            <a:ext cx="2971800" cy="1554480"/>
          </a:xfrm>
          <a:prstGeom prst="rect">
            <a:avLst/>
          </a:prstGeom>
          <a:noFill/>
          <a:ln/>
        </p:spPr>
        <p:txBody>
          <a:bodyPr wrap="square" lIns="0" tIns="0" rIns="0" bIns="0" rtlCol="0" anchor="t"/>
          <a:lstStyle/>
          <a:p>
            <a:pPr indent="0" marL="0">
              <a:buNone/>
            </a:pPr>
            <a:r>
              <a:rPr lang="en-US" sz="1600" dirty="0">
                <a:solidFill>
                  <a:srgbClr val="566770"/>
                </a:solidFill>
                <a:latin typeface="Calibri" pitchFamily="34" charset="0"/>
                <a:ea typeface="Calibri" pitchFamily="34" charset="-122"/>
                <a:cs typeface="Calibri" pitchFamily="34" charset="-120"/>
              </a:rPr>
              <a:t>A tool that guesses a cause and edits code without limits can do more harm than the failure it tries to fix.</a:t>
            </a:r>
            <a:endParaRPr lang="en-US" sz="1600" dirty="0"/>
          </a:p>
        </p:txBody>
      </p:sp>
      <p:sp>
        <p:nvSpPr>
          <p:cNvPr id="22" name="Text 19"/>
          <p:cNvSpPr txBox="1"/>
          <p:nvPr/>
        </p:nvSpPr>
        <p:spPr>
          <a:xfrm>
            <a:off x="548640" y="5440680"/>
            <a:ext cx="11091672" cy="640080"/>
          </a:xfrm>
          <a:prstGeom prst="rect">
            <a:avLst/>
          </a:prstGeom>
          <a:noFill/>
          <a:ln/>
        </p:spPr>
        <p:txBody>
          <a:bodyPr wrap="square" lIns="0" tIns="0" rIns="0" bIns="0" rtlCol="0" anchor="t"/>
          <a:lstStyle/>
          <a:p>
            <a:pPr indent="0" marL="0">
              <a:buNone/>
            </a:pPr>
            <a:r>
              <a:rPr lang="en-US" sz="1800" i="1" dirty="0">
                <a:solidFill>
                  <a:srgbClr val="1F8A8A"/>
                </a:solidFill>
                <a:latin typeface="Calibri" pitchFamily="34" charset="0"/>
                <a:ea typeface="Calibri" pitchFamily="34" charset="-122"/>
                <a:cs typeface="Calibri" pitchFamily="34" charset="-120"/>
              </a:rPr>
              <a:t>Opportunity: let specialised agents each investigate one source of evidence, report how sure they are, and keep a human in control of any change.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Four objectives, one of them is knowing when to stop</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691640"/>
            <a:ext cx="54406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822960" y="1965960"/>
            <a:ext cx="457200" cy="457200"/>
          </a:xfrm>
          <a:prstGeom prst="ellipse">
            <a:avLst/>
          </a:prstGeom>
          <a:solidFill>
            <a:srgbClr val="1F8A8A"/>
          </a:solidFill>
          <a:ln w="12700">
            <a:solidFill>
              <a:srgbClr val="1F8A8A"/>
            </a:solidFill>
            <a:prstDash val="solid"/>
          </a:ln>
        </p:spPr>
      </p:sp>
      <p:sp>
        <p:nvSpPr>
          <p:cNvPr id="9" name="Text 6"/>
          <p:cNvSpPr txBox="1"/>
          <p:nvPr/>
        </p:nvSpPr>
        <p:spPr>
          <a:xfrm>
            <a:off x="82296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463040" y="1965960"/>
            <a:ext cx="4297680" cy="41148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Investigate independently</a:t>
            </a:r>
            <a:endParaRPr lang="en-US" sz="2000" dirty="0"/>
          </a:p>
        </p:txBody>
      </p:sp>
      <p:sp>
        <p:nvSpPr>
          <p:cNvPr id="11" name="Text 8"/>
          <p:cNvSpPr txBox="1"/>
          <p:nvPr/>
        </p:nvSpPr>
        <p:spPr>
          <a:xfrm>
            <a:off x="1463040" y="2441448"/>
            <a:ext cx="4297680" cy="960120"/>
          </a:xfrm>
          <a:prstGeom prst="rect">
            <a:avLst/>
          </a:prstGeom>
          <a:noFill/>
          <a:ln/>
        </p:spPr>
        <p:txBody>
          <a:bodyPr wrap="square" lIns="0" tIns="0" rIns="0" bIns="0" rtlCol="0" anchor="t"/>
          <a:lstStyle/>
          <a:p>
            <a:pPr indent="0" marL="0">
              <a:buNone/>
            </a:pPr>
            <a:r>
              <a:rPr lang="en-US" sz="1500" dirty="0">
                <a:solidFill>
                  <a:srgbClr val="566770"/>
                </a:solidFill>
                <a:latin typeface="Calibri" pitchFamily="34" charset="0"/>
                <a:ea typeface="Calibri" pitchFamily="34" charset="-122"/>
                <a:cs typeface="Calibri" pitchFamily="34" charset="-120"/>
              </a:rPr>
              <a:t>Jenkins, Metrics and Code agents each investigate a failed build and never call one another.</a:t>
            </a:r>
            <a:endParaRPr lang="en-US" sz="1500" dirty="0"/>
          </a:p>
        </p:txBody>
      </p:sp>
      <p:sp>
        <p:nvSpPr>
          <p:cNvPr id="12" name="card"/>
          <p:cNvSpPr/>
          <p:nvPr/>
        </p:nvSpPr>
        <p:spPr>
          <a:xfrm>
            <a:off x="6172200" y="1691640"/>
            <a:ext cx="54406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3" name="badge"/>
          <p:cNvSpPr/>
          <p:nvPr/>
        </p:nvSpPr>
        <p:spPr>
          <a:xfrm>
            <a:off x="6446520" y="1965960"/>
            <a:ext cx="457200" cy="457200"/>
          </a:xfrm>
          <a:prstGeom prst="ellipse">
            <a:avLst/>
          </a:prstGeom>
          <a:solidFill>
            <a:srgbClr val="1F8A8A"/>
          </a:solidFill>
          <a:ln w="12700">
            <a:solidFill>
              <a:srgbClr val="1F8A8A"/>
            </a:solidFill>
            <a:prstDash val="solid"/>
          </a:ln>
        </p:spPr>
      </p:sp>
      <p:sp>
        <p:nvSpPr>
          <p:cNvPr id="14" name="Text 11"/>
          <p:cNvSpPr txBox="1"/>
          <p:nvPr/>
        </p:nvSpPr>
        <p:spPr>
          <a:xfrm>
            <a:off x="644652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7086600" y="1965960"/>
            <a:ext cx="4297680" cy="41148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Share one evidence contract</a:t>
            </a:r>
            <a:endParaRPr lang="en-US" sz="2000" dirty="0"/>
          </a:p>
        </p:txBody>
      </p:sp>
      <p:sp>
        <p:nvSpPr>
          <p:cNvPr id="16" name="Text 13"/>
          <p:cNvSpPr txBox="1"/>
          <p:nvPr/>
        </p:nvSpPr>
        <p:spPr>
          <a:xfrm>
            <a:off x="7086600" y="2441448"/>
            <a:ext cx="4297680" cy="960120"/>
          </a:xfrm>
          <a:prstGeom prst="rect">
            <a:avLst/>
          </a:prstGeom>
          <a:noFill/>
          <a:ln/>
        </p:spPr>
        <p:txBody>
          <a:bodyPr wrap="square" lIns="0" tIns="0" rIns="0" bIns="0" rtlCol="0" anchor="t"/>
          <a:lstStyle/>
          <a:p>
            <a:pPr indent="0" marL="0">
              <a:buNone/>
            </a:pPr>
            <a:r>
              <a:rPr lang="en-US" sz="1500" dirty="0">
                <a:solidFill>
                  <a:srgbClr val="566770"/>
                </a:solidFill>
                <a:latin typeface="Calibri" pitchFamily="34" charset="0"/>
                <a:ea typeface="Calibri" pitchFamily="34" charset="-122"/>
                <a:cs typeface="Calibri" pitchFamily="34" charset="-120"/>
              </a:rPr>
              <a:t>Every agent writes one validated document per incident, with a root-cause type from a fixed 11-class taxonomy and a confidence score.</a:t>
            </a:r>
            <a:endParaRPr lang="en-US" sz="1500" dirty="0"/>
          </a:p>
        </p:txBody>
      </p:sp>
      <p:sp>
        <p:nvSpPr>
          <p:cNvPr id="17" name="card"/>
          <p:cNvSpPr/>
          <p:nvPr/>
        </p:nvSpPr>
        <p:spPr>
          <a:xfrm>
            <a:off x="548640" y="3703320"/>
            <a:ext cx="54406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8" name="badge"/>
          <p:cNvSpPr/>
          <p:nvPr/>
        </p:nvSpPr>
        <p:spPr>
          <a:xfrm>
            <a:off x="822960" y="3977640"/>
            <a:ext cx="457200" cy="457200"/>
          </a:xfrm>
          <a:prstGeom prst="ellipse">
            <a:avLst/>
          </a:prstGeom>
          <a:solidFill>
            <a:srgbClr val="1F8A8A"/>
          </a:solidFill>
          <a:ln w="12700">
            <a:solidFill>
              <a:srgbClr val="1F8A8A"/>
            </a:solidFill>
            <a:prstDash val="solid"/>
          </a:ln>
        </p:spPr>
      </p:sp>
      <p:sp>
        <p:nvSpPr>
          <p:cNvPr id="19" name="Text 16"/>
          <p:cNvSpPr txBox="1"/>
          <p:nvPr/>
        </p:nvSpPr>
        <p:spPr>
          <a:xfrm>
            <a:off x="82296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1463040" y="3977640"/>
            <a:ext cx="4297680" cy="41148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Stay accountable</a:t>
            </a:r>
            <a:endParaRPr lang="en-US" sz="2000" dirty="0"/>
          </a:p>
        </p:txBody>
      </p:sp>
      <p:sp>
        <p:nvSpPr>
          <p:cNvPr id="21" name="Text 18"/>
          <p:cNvSpPr txBox="1"/>
          <p:nvPr/>
        </p:nvSpPr>
        <p:spPr>
          <a:xfrm>
            <a:off x="1463040" y="4453128"/>
            <a:ext cx="4297680" cy="960120"/>
          </a:xfrm>
          <a:prstGeom prst="rect">
            <a:avLst/>
          </a:prstGeom>
          <a:noFill/>
          <a:ln/>
        </p:spPr>
        <p:txBody>
          <a:bodyPr wrap="square" lIns="0" tIns="0" rIns="0" bIns="0" rtlCol="0" anchor="t"/>
          <a:lstStyle/>
          <a:p>
            <a:pPr indent="0" marL="0">
              <a:buNone/>
            </a:pPr>
            <a:r>
              <a:rPr lang="en-US" sz="1500" dirty="0">
                <a:solidFill>
                  <a:srgbClr val="566770"/>
                </a:solidFill>
                <a:latin typeface="Calibri" pitchFamily="34" charset="0"/>
                <a:ea typeface="Calibri" pitchFamily="34" charset="-122"/>
                <a:cs typeface="Calibri" pitchFamily="34" charset="-120"/>
              </a:rPr>
              <a:t>Policy rules (OPA), a human approval step, an audit trail and redaction of secrets sit between a finding and any change.</a:t>
            </a:r>
            <a:endParaRPr lang="en-US" sz="1500" dirty="0"/>
          </a:p>
        </p:txBody>
      </p:sp>
      <p:sp>
        <p:nvSpPr>
          <p:cNvPr id="22" name="card"/>
          <p:cNvSpPr/>
          <p:nvPr/>
        </p:nvSpPr>
        <p:spPr>
          <a:xfrm>
            <a:off x="6172200" y="3703320"/>
            <a:ext cx="54406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3" name="badge"/>
          <p:cNvSpPr/>
          <p:nvPr/>
        </p:nvSpPr>
        <p:spPr>
          <a:xfrm>
            <a:off x="6446520" y="3977640"/>
            <a:ext cx="457200" cy="457200"/>
          </a:xfrm>
          <a:prstGeom prst="ellipse">
            <a:avLst/>
          </a:prstGeom>
          <a:solidFill>
            <a:srgbClr val="1F8A8A"/>
          </a:solidFill>
          <a:ln w="12700">
            <a:solidFill>
              <a:srgbClr val="1F8A8A"/>
            </a:solidFill>
            <a:prstDash val="solid"/>
          </a:ln>
        </p:spPr>
      </p:sp>
      <p:sp>
        <p:nvSpPr>
          <p:cNvPr id="24" name="Text 21"/>
          <p:cNvSpPr txBox="1"/>
          <p:nvPr/>
        </p:nvSpPr>
        <p:spPr>
          <a:xfrm>
            <a:off x="644652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7086600" y="3977640"/>
            <a:ext cx="4297680" cy="41148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Say unknown when unsure</a:t>
            </a:r>
            <a:endParaRPr lang="en-US" sz="2000" dirty="0"/>
          </a:p>
        </p:txBody>
      </p:sp>
      <p:sp>
        <p:nvSpPr>
          <p:cNvPr id="26" name="Text 23"/>
          <p:cNvSpPr txBox="1"/>
          <p:nvPr/>
        </p:nvSpPr>
        <p:spPr>
          <a:xfrm>
            <a:off x="7086600" y="4453128"/>
            <a:ext cx="4297680" cy="960120"/>
          </a:xfrm>
          <a:prstGeom prst="rect">
            <a:avLst/>
          </a:prstGeom>
          <a:noFill/>
          <a:ln/>
        </p:spPr>
        <p:txBody>
          <a:bodyPr wrap="square" lIns="0" tIns="0" rIns="0" bIns="0" rtlCol="0" anchor="t"/>
          <a:lstStyle/>
          <a:p>
            <a:pPr indent="0" marL="0">
              <a:buNone/>
            </a:pPr>
            <a:r>
              <a:rPr lang="en-US" sz="1500" dirty="0">
                <a:solidFill>
                  <a:srgbClr val="566770"/>
                </a:solidFill>
                <a:latin typeface="Calibri" pitchFamily="34" charset="0"/>
                <a:ea typeface="Calibri" pitchFamily="34" charset="-122"/>
                <a:cs typeface="Calibri" pitchFamily="34" charset="-120"/>
              </a:rPr>
              <a:t>An agent that cannot support a cause must report low confidence instead of blaming the nearest suspect.</a:t>
            </a:r>
            <a:endParaRPr lang="en-US" sz="1500" dirty="0"/>
          </a:p>
        </p:txBody>
      </p:sp>
      <p:sp>
        <p:nvSpPr>
          <p:cNvPr id="27" name="card"/>
          <p:cNvSpPr/>
          <p:nvPr/>
        </p:nvSpPr>
        <p:spPr>
          <a:xfrm>
            <a:off x="548640" y="5715000"/>
            <a:ext cx="11091672" cy="548640"/>
          </a:xfrm>
          <a:prstGeom prst="rect">
            <a:avLst/>
          </a:prstGeom>
          <a:solidFill>
            <a:srgbClr val="DCEEEC"/>
          </a:solidFill>
          <a:ln w="9525">
            <a:solidFill>
              <a:srgbClr val="DCEEEC"/>
            </a:solidFill>
            <a:prstDash val="solid"/>
          </a:ln>
        </p:spPr>
      </p:sp>
      <p:sp>
        <p:nvSpPr>
          <p:cNvPr id="28" name="Text 25"/>
          <p:cNvSpPr txBox="1"/>
          <p:nvPr/>
        </p:nvSpPr>
        <p:spPr>
          <a:xfrm>
            <a:off x="822960" y="5715000"/>
            <a:ext cx="10543032" cy="548640"/>
          </a:xfrm>
          <a:prstGeom prst="rect">
            <a:avLst/>
          </a:prstGeom>
          <a:noFill/>
          <a:ln/>
        </p:spPr>
        <p:txBody>
          <a:bodyPr wrap="square" lIns="0" tIns="0" rIns="0" bIns="0" rtlCol="0" anchor="ctr"/>
          <a:lstStyle/>
          <a:p>
            <a:pPr indent="0" marL="0">
              <a:buNone/>
            </a:pPr>
            <a:r>
              <a:rPr lang="en-US" sz="1500" b="1" dirty="0">
                <a:solidFill>
                  <a:srgbClr val="12232B"/>
                </a:solidFill>
                <a:latin typeface="Calibri" pitchFamily="34" charset="0"/>
                <a:ea typeface="Calibri" pitchFamily="34" charset="-122"/>
                <a:cs typeface="Calibri" pitchFamily="34" charset="-120"/>
              </a:rPr>
              <a:t>Who builds what:  P1 Jenkins agent   |   P2 Metrics agent and monitoring   |   P3 Code agent, evidence contract, policy gate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RESEARCH QUESTION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Research question</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554480"/>
            <a:ext cx="11091672" cy="1417320"/>
          </a:xfrm>
          <a:prstGeom prst="rect">
            <a:avLst/>
          </a:prstGeom>
          <a:solidFill>
            <a:srgbClr val="12232B"/>
          </a:solidFill>
          <a:ln w="9525">
            <a:solidFill>
              <a:srgbClr val="12232B"/>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1005840" y="1554480"/>
            <a:ext cx="10177272" cy="14173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Can independent, evidence-based agents identify the root cause of a CI/CD failure better than simple baselines, and recognise when they cannot?</a:t>
            </a:r>
            <a:endParaRPr lang="en-US" sz="2400" dirty="0"/>
          </a:p>
        </p:txBody>
      </p:sp>
      <p:sp>
        <p:nvSpPr>
          <p:cNvPr id="9" name="card"/>
          <p:cNvSpPr/>
          <p:nvPr/>
        </p:nvSpPr>
        <p:spPr>
          <a:xfrm>
            <a:off x="548640" y="3200400"/>
            <a:ext cx="352044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0" name="pill"/>
          <p:cNvSpPr/>
          <p:nvPr/>
        </p:nvSpPr>
        <p:spPr>
          <a:xfrm>
            <a:off x="777240" y="3337560"/>
            <a:ext cx="640080" cy="274320"/>
          </a:xfrm>
          <a:prstGeom prst="roundRect">
            <a:avLst>
              <a:gd name="adj" fmla="val 50000"/>
            </a:avLst>
          </a:prstGeom>
          <a:solidFill>
            <a:srgbClr val="1F8A8A"/>
          </a:solidFill>
          <a:ln w="12700">
            <a:solidFill>
              <a:srgbClr val="1F8A8A"/>
            </a:solidFill>
            <a:prstDash val="solid"/>
          </a:ln>
        </p:spPr>
      </p:sp>
      <p:sp>
        <p:nvSpPr>
          <p:cNvPr id="11" name="Text 8"/>
          <p:cNvSpPr txBox="1"/>
          <p:nvPr/>
        </p:nvSpPr>
        <p:spPr>
          <a:xfrm>
            <a:off x="777240" y="333756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12" name="Text 9"/>
          <p:cNvSpPr txBox="1"/>
          <p:nvPr/>
        </p:nvSpPr>
        <p:spPr>
          <a:xfrm>
            <a:off x="777240" y="3703320"/>
            <a:ext cx="3063240" cy="12344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Can an LLM, kept in check by rules and read-only tools, classify a failure from Jenkins logs and test reports?</a:t>
            </a:r>
            <a:endParaRPr lang="en-US" sz="1400" dirty="0"/>
          </a:p>
        </p:txBody>
      </p:sp>
      <p:sp>
        <p:nvSpPr>
          <p:cNvPr id="13" name="card"/>
          <p:cNvSpPr/>
          <p:nvPr/>
        </p:nvSpPr>
        <p:spPr>
          <a:xfrm>
            <a:off x="4320540" y="3200400"/>
            <a:ext cx="352044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pill"/>
          <p:cNvSpPr/>
          <p:nvPr/>
        </p:nvSpPr>
        <p:spPr>
          <a:xfrm>
            <a:off x="4549140" y="3337560"/>
            <a:ext cx="640080" cy="274320"/>
          </a:xfrm>
          <a:prstGeom prst="roundRect">
            <a:avLst>
              <a:gd name="adj" fmla="val 50000"/>
            </a:avLst>
          </a:prstGeom>
          <a:solidFill>
            <a:srgbClr val="E8A33D"/>
          </a:solidFill>
          <a:ln w="12700">
            <a:solidFill>
              <a:srgbClr val="E8A33D"/>
            </a:solidFill>
            <a:prstDash val="solid"/>
          </a:ln>
        </p:spPr>
      </p:sp>
      <p:sp>
        <p:nvSpPr>
          <p:cNvPr id="15" name="Text 12"/>
          <p:cNvSpPr txBox="1"/>
          <p:nvPr/>
        </p:nvSpPr>
        <p:spPr>
          <a:xfrm>
            <a:off x="4549140" y="3337560"/>
            <a:ext cx="640080" cy="274320"/>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a:t>
            </a:r>
            <a:endParaRPr lang="en-US" sz="1200" dirty="0"/>
          </a:p>
        </p:txBody>
      </p:sp>
      <p:sp>
        <p:nvSpPr>
          <p:cNvPr id="16" name="Text 13"/>
          <p:cNvSpPr txBox="1"/>
          <p:nvPr/>
        </p:nvSpPr>
        <p:spPr>
          <a:xfrm>
            <a:off x="4549140" y="3703320"/>
            <a:ext cx="3063240" cy="12344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Does anomaly detection against a baseline period classify metric faults better than fixed thresholds, or an LLM reading the same data?</a:t>
            </a:r>
            <a:endParaRPr lang="en-US" sz="1400" dirty="0"/>
          </a:p>
        </p:txBody>
      </p:sp>
      <p:sp>
        <p:nvSpPr>
          <p:cNvPr id="17" name="card"/>
          <p:cNvSpPr/>
          <p:nvPr/>
        </p:nvSpPr>
        <p:spPr>
          <a:xfrm>
            <a:off x="8092440" y="3200400"/>
            <a:ext cx="352044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8" name="pill"/>
          <p:cNvSpPr/>
          <p:nvPr/>
        </p:nvSpPr>
        <p:spPr>
          <a:xfrm>
            <a:off x="8321040" y="3337560"/>
            <a:ext cx="640080" cy="274320"/>
          </a:xfrm>
          <a:prstGeom prst="roundRect">
            <a:avLst>
              <a:gd name="adj" fmla="val 50000"/>
            </a:avLst>
          </a:prstGeom>
          <a:solidFill>
            <a:srgbClr val="6B4C86"/>
          </a:solidFill>
          <a:ln w="12700">
            <a:solidFill>
              <a:srgbClr val="6B4C86"/>
            </a:solidFill>
            <a:prstDash val="solid"/>
          </a:ln>
        </p:spPr>
      </p:sp>
      <p:sp>
        <p:nvSpPr>
          <p:cNvPr id="19" name="Text 16"/>
          <p:cNvSpPr txBox="1"/>
          <p:nvPr/>
        </p:nvSpPr>
        <p:spPr>
          <a:xfrm>
            <a:off x="8321040" y="333756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20" name="Text 17"/>
          <p:cNvSpPr txBox="1"/>
          <p:nvPr/>
        </p:nvSpPr>
        <p:spPr>
          <a:xfrm>
            <a:off x="8321040" y="3703320"/>
            <a:ext cx="3063240" cy="12344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Can rule-based diff analysis tell whether a code change explains a failure, and hold back when it does not?</a:t>
            </a:r>
            <a:endParaRPr lang="en-US" sz="1400" dirty="0"/>
          </a:p>
        </p:txBody>
      </p:sp>
      <p:sp>
        <p:nvSpPr>
          <p:cNvPr id="21" name="card"/>
          <p:cNvSpPr/>
          <p:nvPr/>
        </p:nvSpPr>
        <p:spPr>
          <a:xfrm>
            <a:off x="548640" y="5166360"/>
            <a:ext cx="11091672" cy="1097280"/>
          </a:xfrm>
          <a:prstGeom prst="rect">
            <a:avLst/>
          </a:prstGeom>
          <a:solidFill>
            <a:srgbClr val="DCEEEC"/>
          </a:solidFill>
          <a:ln w="9525">
            <a:solidFill>
              <a:srgbClr val="DCEEEC"/>
            </a:solidFill>
            <a:prstDash val="solid"/>
          </a:ln>
        </p:spPr>
      </p:sp>
      <p:sp>
        <p:nvSpPr>
          <p:cNvPr id="22" name="Text 19"/>
          <p:cNvSpPr txBox="1"/>
          <p:nvPr/>
        </p:nvSpPr>
        <p:spPr>
          <a:xfrm>
            <a:off x="822960" y="5212080"/>
            <a:ext cx="10543032" cy="1005840"/>
          </a:xfrm>
          <a:prstGeom prst="rect">
            <a:avLst/>
          </a:prstGeom>
          <a:noFill/>
          <a:ln/>
        </p:spPr>
        <p:txBody>
          <a:bodyPr wrap="square" lIns="0" tIns="0" rIns="0" bIns="0" rtlCol="0" anchor="ctr"/>
          <a:lstStyle/>
          <a:p>
            <a:pPr marL="203200" indent="-203200">
              <a:spcAft>
                <a:spcPts val="200"/>
              </a:spcAft>
              <a:buSzPct val="100000"/>
              <a:buChar char="•"/>
            </a:pPr>
            <a:r>
              <a:rPr lang="en-US" sz="1400" dirty="0">
                <a:solidFill>
                  <a:srgbClr val="12232B"/>
                </a:solidFill>
                <a:latin typeface="Calibri" pitchFamily="34" charset="0"/>
                <a:ea typeface="Calibri" pitchFamily="34" charset="-122"/>
                <a:cs typeface="Calibri" pitchFamily="34" charset="-120"/>
              </a:rPr>
              <a:t>H1: each agent names the right failure type from its own evidence.</a:t>
            </a:r>
            <a:endParaRPr lang="en-US" sz="1400" dirty="0"/>
          </a:p>
          <a:p>
            <a:pPr marL="203200" indent="-203200">
              <a:spcAft>
                <a:spcPts val="200"/>
              </a:spcAft>
              <a:buSzPct val="100000"/>
              <a:buChar char="•"/>
            </a:pPr>
            <a:r>
              <a:rPr lang="en-US" sz="1400" dirty="0">
                <a:solidFill>
                  <a:srgbClr val="12232B"/>
                </a:solidFill>
                <a:latin typeface="Calibri" pitchFamily="34" charset="0"/>
                <a:ea typeface="Calibri" pitchFamily="34" charset="-122"/>
                <a:cs typeface="Calibri" pitchFamily="34" charset="-120"/>
              </a:rPr>
              <a:t>H2: each agent does better than a naive baseline (fixed thresholds, blaming the latest commit).</a:t>
            </a:r>
            <a:endParaRPr lang="en-US" sz="1400" dirty="0"/>
          </a:p>
          <a:p>
            <a:pPr marL="203200" indent="-203200">
              <a:spcAft>
                <a:spcPts val="200"/>
              </a:spcAft>
              <a:buSzPct val="100000"/>
              <a:buChar char="•"/>
            </a:pPr>
            <a:r>
              <a:rPr lang="en-US" sz="1400" dirty="0">
                <a:solidFill>
                  <a:srgbClr val="12232B"/>
                </a:solidFill>
                <a:latin typeface="Calibri" pitchFamily="34" charset="0"/>
                <a:ea typeface="Calibri" pitchFamily="34" charset="-122"/>
                <a:cs typeface="Calibri" pitchFamily="34" charset="-120"/>
              </a:rPr>
              <a:t>H3: each agent reports low confidence when its evidence does not support a cause.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SYSTEM DESIGN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Three independent agents, one coordinator</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node"/>
          <p:cNvSpPr/>
          <p:nvPr/>
        </p:nvSpPr>
        <p:spPr>
          <a:xfrm>
            <a:off x="548640" y="3291840"/>
            <a:ext cx="1874520" cy="914400"/>
          </a:xfrm>
          <a:prstGeom prst="rect">
            <a:avLst/>
          </a:prstGeom>
          <a:solidFill>
            <a:srgbClr val="1F8A8A"/>
          </a:solidFill>
          <a:ln w="9525">
            <a:solidFill>
              <a:srgbClr val="1F8A8A"/>
            </a:solidFill>
            <a:prstDash val="solid"/>
          </a:ln>
        </p:spPr>
      </p:sp>
      <p:sp>
        <p:nvSpPr>
          <p:cNvPr id="8" name="Text 5"/>
          <p:cNvSpPr txBox="1"/>
          <p:nvPr/>
        </p:nvSpPr>
        <p:spPr>
          <a:xfrm>
            <a:off x="548640" y="329184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Jenkins pipeline fails</a:t>
            </a:r>
            <a:endParaRPr lang="en-US" sz="1500" dirty="0"/>
          </a:p>
        </p:txBody>
      </p:sp>
      <p:sp>
        <p:nvSpPr>
          <p:cNvPr id="9" name="node"/>
          <p:cNvSpPr/>
          <p:nvPr/>
        </p:nvSpPr>
        <p:spPr>
          <a:xfrm>
            <a:off x="2843784" y="3291840"/>
            <a:ext cx="1874520" cy="914400"/>
          </a:xfrm>
          <a:prstGeom prst="rect">
            <a:avLst/>
          </a:prstGeom>
          <a:solidFill>
            <a:srgbClr val="1F8A8A"/>
          </a:solidFill>
          <a:ln w="9525">
            <a:solidFill>
              <a:srgbClr val="1F8A8A"/>
            </a:solidFill>
            <a:prstDash val="solid"/>
          </a:ln>
        </p:spPr>
      </p:sp>
      <p:sp>
        <p:nvSpPr>
          <p:cNvPr id="10" name="Text 7"/>
          <p:cNvSpPr txBox="1"/>
          <p:nvPr/>
        </p:nvSpPr>
        <p:spPr>
          <a:xfrm>
            <a:off x="2843784" y="329184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FastAPI webhook + RabbitMQ</a:t>
            </a:r>
            <a:endParaRPr lang="en-US" sz="1500" dirty="0"/>
          </a:p>
        </p:txBody>
      </p:sp>
      <p:sp>
        <p:nvSpPr>
          <p:cNvPr id="11" name="node"/>
          <p:cNvSpPr/>
          <p:nvPr/>
        </p:nvSpPr>
        <p:spPr>
          <a:xfrm>
            <a:off x="5138928" y="1874520"/>
            <a:ext cx="1874520" cy="914400"/>
          </a:xfrm>
          <a:prstGeom prst="rect">
            <a:avLst/>
          </a:prstGeom>
          <a:solidFill>
            <a:srgbClr val="1F8A8A"/>
          </a:solidFill>
          <a:ln w="9525">
            <a:solidFill>
              <a:srgbClr val="1F8A8A"/>
            </a:solidFill>
            <a:prstDash val="solid"/>
          </a:ln>
        </p:spPr>
      </p:sp>
      <p:sp>
        <p:nvSpPr>
          <p:cNvPr id="12" name="Text 9"/>
          <p:cNvSpPr txBox="1"/>
          <p:nvPr/>
        </p:nvSpPr>
        <p:spPr>
          <a:xfrm>
            <a:off x="5138928" y="187452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Jenkins agent (P1)</a:t>
            </a:r>
            <a:endParaRPr lang="en-US" sz="1500" dirty="0"/>
          </a:p>
        </p:txBody>
      </p:sp>
      <p:sp>
        <p:nvSpPr>
          <p:cNvPr id="13" name="node"/>
          <p:cNvSpPr/>
          <p:nvPr/>
        </p:nvSpPr>
        <p:spPr>
          <a:xfrm>
            <a:off x="5138928" y="3291840"/>
            <a:ext cx="1874520" cy="914400"/>
          </a:xfrm>
          <a:prstGeom prst="rect">
            <a:avLst/>
          </a:prstGeom>
          <a:solidFill>
            <a:srgbClr val="1F8A8A"/>
          </a:solidFill>
          <a:ln w="9525">
            <a:solidFill>
              <a:srgbClr val="1F8A8A"/>
            </a:solidFill>
            <a:prstDash val="solid"/>
          </a:ln>
        </p:spPr>
      </p:sp>
      <p:sp>
        <p:nvSpPr>
          <p:cNvPr id="14" name="Text 11"/>
          <p:cNvSpPr txBox="1"/>
          <p:nvPr/>
        </p:nvSpPr>
        <p:spPr>
          <a:xfrm>
            <a:off x="5138928" y="329184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Metrics agent (P2)</a:t>
            </a:r>
            <a:endParaRPr lang="en-US" sz="1500" dirty="0"/>
          </a:p>
        </p:txBody>
      </p:sp>
      <p:sp>
        <p:nvSpPr>
          <p:cNvPr id="15" name="node"/>
          <p:cNvSpPr/>
          <p:nvPr/>
        </p:nvSpPr>
        <p:spPr>
          <a:xfrm>
            <a:off x="5138928" y="4709160"/>
            <a:ext cx="1874520" cy="914400"/>
          </a:xfrm>
          <a:prstGeom prst="rect">
            <a:avLst/>
          </a:prstGeom>
          <a:solidFill>
            <a:srgbClr val="1F8A8A"/>
          </a:solidFill>
          <a:ln w="9525">
            <a:solidFill>
              <a:srgbClr val="1F8A8A"/>
            </a:solidFill>
            <a:prstDash val="solid"/>
          </a:ln>
        </p:spPr>
      </p:sp>
      <p:sp>
        <p:nvSpPr>
          <p:cNvPr id="16" name="Text 13"/>
          <p:cNvSpPr txBox="1"/>
          <p:nvPr/>
        </p:nvSpPr>
        <p:spPr>
          <a:xfrm>
            <a:off x="5138928" y="470916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Code agent (P3)</a:t>
            </a:r>
            <a:endParaRPr lang="en-US" sz="1500" dirty="0"/>
          </a:p>
        </p:txBody>
      </p:sp>
      <p:sp>
        <p:nvSpPr>
          <p:cNvPr id="17" name="node"/>
          <p:cNvSpPr/>
          <p:nvPr/>
        </p:nvSpPr>
        <p:spPr>
          <a:xfrm>
            <a:off x="7434072" y="3291840"/>
            <a:ext cx="1874520" cy="914400"/>
          </a:xfrm>
          <a:prstGeom prst="rect">
            <a:avLst/>
          </a:prstGeom>
          <a:solidFill>
            <a:srgbClr val="1F8A8A"/>
          </a:solidFill>
          <a:ln w="9525">
            <a:solidFill>
              <a:srgbClr val="1F8A8A"/>
            </a:solidFill>
            <a:prstDash val="solid"/>
          </a:ln>
        </p:spPr>
      </p:sp>
      <p:sp>
        <p:nvSpPr>
          <p:cNvPr id="18" name="Text 15"/>
          <p:cNvSpPr txBox="1"/>
          <p:nvPr/>
        </p:nvSpPr>
        <p:spPr>
          <a:xfrm>
            <a:off x="7434072" y="329184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Shared Evidence Store</a:t>
            </a:r>
            <a:endParaRPr lang="en-US" sz="1500" dirty="0"/>
          </a:p>
        </p:txBody>
      </p:sp>
      <p:sp>
        <p:nvSpPr>
          <p:cNvPr id="19" name="node"/>
          <p:cNvSpPr/>
          <p:nvPr/>
        </p:nvSpPr>
        <p:spPr>
          <a:xfrm>
            <a:off x="9729216" y="1874520"/>
            <a:ext cx="1874520" cy="914400"/>
          </a:xfrm>
          <a:prstGeom prst="rect">
            <a:avLst/>
          </a:prstGeom>
          <a:solidFill>
            <a:srgbClr val="FFFFFF"/>
          </a:solidFill>
          <a:ln w="19050">
            <a:solidFill>
              <a:srgbClr val="E8A33D"/>
            </a:solidFill>
            <a:prstDash val="dash"/>
          </a:ln>
        </p:spPr>
      </p:sp>
      <p:sp>
        <p:nvSpPr>
          <p:cNvPr id="20" name="Text 17"/>
          <p:cNvSpPr txBox="1"/>
          <p:nvPr/>
        </p:nvSpPr>
        <p:spPr>
          <a:xfrm>
            <a:off x="9729216" y="187452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12232B"/>
                </a:solidFill>
                <a:latin typeface="Calibri" pitchFamily="34" charset="0"/>
                <a:ea typeface="Calibri" pitchFamily="34" charset="-122"/>
                <a:cs typeface="Calibri" pitchFamily="34" charset="-120"/>
              </a:rPr>
              <a:t>Coordinator: fuse evidence</a:t>
            </a:r>
            <a:endParaRPr lang="en-US" sz="1500" dirty="0"/>
          </a:p>
        </p:txBody>
      </p:sp>
      <p:sp>
        <p:nvSpPr>
          <p:cNvPr id="21" name="node"/>
          <p:cNvSpPr/>
          <p:nvPr/>
        </p:nvSpPr>
        <p:spPr>
          <a:xfrm>
            <a:off x="9729216" y="3291840"/>
            <a:ext cx="1874520" cy="914400"/>
          </a:xfrm>
          <a:prstGeom prst="rect">
            <a:avLst/>
          </a:prstGeom>
          <a:solidFill>
            <a:srgbClr val="1F8A8A"/>
          </a:solidFill>
          <a:ln w="9525">
            <a:solidFill>
              <a:srgbClr val="1F8A8A"/>
            </a:solidFill>
            <a:prstDash val="solid"/>
          </a:ln>
        </p:spPr>
      </p:sp>
      <p:sp>
        <p:nvSpPr>
          <p:cNvPr id="22" name="Text 19"/>
          <p:cNvSpPr txBox="1"/>
          <p:nvPr/>
        </p:nvSpPr>
        <p:spPr>
          <a:xfrm>
            <a:off x="9729216" y="329184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OPA policy gate</a:t>
            </a:r>
            <a:endParaRPr lang="en-US" sz="1500" dirty="0"/>
          </a:p>
        </p:txBody>
      </p:sp>
      <p:sp>
        <p:nvSpPr>
          <p:cNvPr id="23" name="node"/>
          <p:cNvSpPr/>
          <p:nvPr/>
        </p:nvSpPr>
        <p:spPr>
          <a:xfrm>
            <a:off x="9729216" y="4709160"/>
            <a:ext cx="1874520" cy="914400"/>
          </a:xfrm>
          <a:prstGeom prst="rect">
            <a:avLst/>
          </a:prstGeom>
          <a:solidFill>
            <a:srgbClr val="FFFFFF"/>
          </a:solidFill>
          <a:ln w="19050">
            <a:solidFill>
              <a:srgbClr val="E8A33D"/>
            </a:solidFill>
            <a:prstDash val="dash"/>
          </a:ln>
        </p:spPr>
      </p:sp>
      <p:sp>
        <p:nvSpPr>
          <p:cNvPr id="24" name="Text 21"/>
          <p:cNvSpPr txBox="1"/>
          <p:nvPr/>
        </p:nvSpPr>
        <p:spPr>
          <a:xfrm>
            <a:off x="9729216" y="4709160"/>
            <a:ext cx="1874520" cy="914400"/>
          </a:xfrm>
          <a:prstGeom prst="rect">
            <a:avLst/>
          </a:prstGeom>
          <a:noFill/>
          <a:ln/>
        </p:spPr>
        <p:txBody>
          <a:bodyPr wrap="square" lIns="76200" tIns="76200" rIns="76200" bIns="76200" rtlCol="0" anchor="ctr"/>
          <a:lstStyle/>
          <a:p>
            <a:pPr algn="ctr" indent="0" marL="0">
              <a:buNone/>
            </a:pPr>
            <a:r>
              <a:rPr lang="en-US" sz="1500" b="1" dirty="0">
                <a:solidFill>
                  <a:srgbClr val="12232B"/>
                </a:solidFill>
                <a:latin typeface="Calibri" pitchFamily="34" charset="0"/>
                <a:ea typeface="Calibri" pitchFamily="34" charset="-122"/>
                <a:cs typeface="Calibri" pitchFamily="34" charset="-120"/>
              </a:rPr>
              <a:t>Human approval, then draft PR</a:t>
            </a:r>
            <a:endParaRPr lang="en-US" sz="1500" dirty="0"/>
          </a:p>
        </p:txBody>
      </p:sp>
      <p:sp>
        <p:nvSpPr>
          <p:cNvPr id="25" name="arrow"/>
          <p:cNvSpPr/>
          <p:nvPr/>
        </p:nvSpPr>
        <p:spPr>
          <a:xfrm>
            <a:off x="2423160" y="3749040"/>
            <a:ext cx="420624" cy="0"/>
          </a:xfrm>
          <a:prstGeom prst="line">
            <a:avLst/>
          </a:prstGeom>
          <a:noFill/>
          <a:ln w="19050">
            <a:solidFill>
              <a:srgbClr val="566770"/>
            </a:solidFill>
            <a:prstDash val="solid"/>
            <a:tailEnd type="triangle"/>
          </a:ln>
        </p:spPr>
      </p:sp>
      <p:sp>
        <p:nvSpPr>
          <p:cNvPr id="26" name="arrow"/>
          <p:cNvSpPr/>
          <p:nvPr/>
        </p:nvSpPr>
        <p:spPr>
          <a:xfrm flipV="1">
            <a:off x="4718304" y="2331720"/>
            <a:ext cx="420624" cy="1417320"/>
          </a:xfrm>
          <a:prstGeom prst="line">
            <a:avLst/>
          </a:prstGeom>
          <a:noFill/>
          <a:ln w="19050">
            <a:solidFill>
              <a:srgbClr val="566770"/>
            </a:solidFill>
            <a:prstDash val="solid"/>
            <a:tailEnd type="triangle"/>
          </a:ln>
        </p:spPr>
      </p:sp>
      <p:sp>
        <p:nvSpPr>
          <p:cNvPr id="27" name="arrow"/>
          <p:cNvSpPr/>
          <p:nvPr/>
        </p:nvSpPr>
        <p:spPr>
          <a:xfrm>
            <a:off x="4718304" y="3749040"/>
            <a:ext cx="420624" cy="0"/>
          </a:xfrm>
          <a:prstGeom prst="line">
            <a:avLst/>
          </a:prstGeom>
          <a:noFill/>
          <a:ln w="19050">
            <a:solidFill>
              <a:srgbClr val="566770"/>
            </a:solidFill>
            <a:prstDash val="solid"/>
            <a:tailEnd type="triangle"/>
          </a:ln>
        </p:spPr>
      </p:sp>
      <p:sp>
        <p:nvSpPr>
          <p:cNvPr id="28" name="arrow"/>
          <p:cNvSpPr/>
          <p:nvPr/>
        </p:nvSpPr>
        <p:spPr>
          <a:xfrm>
            <a:off x="4718304" y="3749040"/>
            <a:ext cx="420624" cy="1417320"/>
          </a:xfrm>
          <a:prstGeom prst="line">
            <a:avLst/>
          </a:prstGeom>
          <a:noFill/>
          <a:ln w="19050">
            <a:solidFill>
              <a:srgbClr val="566770"/>
            </a:solidFill>
            <a:prstDash val="solid"/>
            <a:tailEnd type="triangle"/>
          </a:ln>
        </p:spPr>
      </p:sp>
      <p:sp>
        <p:nvSpPr>
          <p:cNvPr id="29" name="arrow"/>
          <p:cNvSpPr/>
          <p:nvPr/>
        </p:nvSpPr>
        <p:spPr>
          <a:xfrm>
            <a:off x="7013448" y="2331720"/>
            <a:ext cx="420624" cy="1417320"/>
          </a:xfrm>
          <a:prstGeom prst="line">
            <a:avLst/>
          </a:prstGeom>
          <a:noFill/>
          <a:ln w="19050">
            <a:solidFill>
              <a:srgbClr val="566770"/>
            </a:solidFill>
            <a:prstDash val="solid"/>
            <a:tailEnd type="triangle"/>
          </a:ln>
        </p:spPr>
      </p:sp>
      <p:sp>
        <p:nvSpPr>
          <p:cNvPr id="30" name="arrow"/>
          <p:cNvSpPr/>
          <p:nvPr/>
        </p:nvSpPr>
        <p:spPr>
          <a:xfrm>
            <a:off x="7013448" y="3749040"/>
            <a:ext cx="420624" cy="0"/>
          </a:xfrm>
          <a:prstGeom prst="line">
            <a:avLst/>
          </a:prstGeom>
          <a:noFill/>
          <a:ln w="19050">
            <a:solidFill>
              <a:srgbClr val="566770"/>
            </a:solidFill>
            <a:prstDash val="solid"/>
            <a:tailEnd type="triangle"/>
          </a:ln>
        </p:spPr>
      </p:sp>
      <p:sp>
        <p:nvSpPr>
          <p:cNvPr id="31" name="arrow"/>
          <p:cNvSpPr/>
          <p:nvPr/>
        </p:nvSpPr>
        <p:spPr>
          <a:xfrm flipV="1">
            <a:off x="7013448" y="3749040"/>
            <a:ext cx="420624" cy="1417320"/>
          </a:xfrm>
          <a:prstGeom prst="line">
            <a:avLst/>
          </a:prstGeom>
          <a:noFill/>
          <a:ln w="19050">
            <a:solidFill>
              <a:srgbClr val="566770"/>
            </a:solidFill>
            <a:prstDash val="solid"/>
            <a:tailEnd type="triangle"/>
          </a:ln>
        </p:spPr>
      </p:sp>
      <p:sp>
        <p:nvSpPr>
          <p:cNvPr id="32" name="arrow"/>
          <p:cNvSpPr/>
          <p:nvPr/>
        </p:nvSpPr>
        <p:spPr>
          <a:xfrm flipV="1">
            <a:off x="9308592" y="2331720"/>
            <a:ext cx="420624" cy="1417320"/>
          </a:xfrm>
          <a:prstGeom prst="line">
            <a:avLst/>
          </a:prstGeom>
          <a:noFill/>
          <a:ln w="19050">
            <a:solidFill>
              <a:srgbClr val="566770"/>
            </a:solidFill>
            <a:prstDash val="solid"/>
            <a:tailEnd type="triangle"/>
          </a:ln>
        </p:spPr>
      </p:sp>
      <p:sp>
        <p:nvSpPr>
          <p:cNvPr id="33" name="arrow"/>
          <p:cNvSpPr/>
          <p:nvPr/>
        </p:nvSpPr>
        <p:spPr>
          <a:xfrm>
            <a:off x="10666476" y="2788920"/>
            <a:ext cx="0" cy="502920"/>
          </a:xfrm>
          <a:prstGeom prst="line">
            <a:avLst/>
          </a:prstGeom>
          <a:noFill/>
          <a:ln w="19050">
            <a:solidFill>
              <a:srgbClr val="566770"/>
            </a:solidFill>
            <a:prstDash val="solid"/>
            <a:tailEnd type="triangle"/>
          </a:ln>
        </p:spPr>
      </p:sp>
      <p:sp>
        <p:nvSpPr>
          <p:cNvPr id="34" name="arrow"/>
          <p:cNvSpPr/>
          <p:nvPr/>
        </p:nvSpPr>
        <p:spPr>
          <a:xfrm>
            <a:off x="10666476" y="4206240"/>
            <a:ext cx="0" cy="502920"/>
          </a:xfrm>
          <a:prstGeom prst="line">
            <a:avLst/>
          </a:prstGeom>
          <a:noFill/>
          <a:ln w="19050">
            <a:solidFill>
              <a:srgbClr val="566770"/>
            </a:solidFill>
            <a:prstDash val="solid"/>
            <a:tailEnd type="triangle"/>
          </a:ln>
        </p:spPr>
      </p:sp>
      <p:sp>
        <p:nvSpPr>
          <p:cNvPr id="35" name="legend"/>
          <p:cNvSpPr/>
          <p:nvPr/>
        </p:nvSpPr>
        <p:spPr>
          <a:xfrm>
            <a:off x="548640" y="5989320"/>
            <a:ext cx="274320" cy="201168"/>
          </a:xfrm>
          <a:prstGeom prst="rect">
            <a:avLst/>
          </a:prstGeom>
          <a:solidFill>
            <a:srgbClr val="1F8A8A"/>
          </a:solidFill>
          <a:ln w="6350">
            <a:solidFill>
              <a:srgbClr val="1F8A8A"/>
            </a:solidFill>
            <a:prstDash val="solid"/>
          </a:ln>
        </p:spPr>
      </p:sp>
      <p:sp>
        <p:nvSpPr>
          <p:cNvPr id="36" name="Text 33"/>
          <p:cNvSpPr txBox="1"/>
          <p:nvPr/>
        </p:nvSpPr>
        <p:spPr>
          <a:xfrm>
            <a:off x="960120" y="5943600"/>
            <a:ext cx="2377440" cy="292608"/>
          </a:xfrm>
          <a:prstGeom prst="rect">
            <a:avLst/>
          </a:prstGeom>
          <a:noFill/>
          <a:ln/>
        </p:spPr>
        <p:txBody>
          <a:bodyPr wrap="square" lIns="0" tIns="0" rIns="0" bIns="0" rtlCol="0" anchor="ctr"/>
          <a:lstStyle/>
          <a:p>
            <a:pPr indent="0" marL="0">
              <a:buNone/>
            </a:pPr>
            <a:r>
              <a:rPr lang="en-US" sz="1300" dirty="0">
                <a:solidFill>
                  <a:srgbClr val="566770"/>
                </a:solidFill>
                <a:latin typeface="Calibri" pitchFamily="34" charset="0"/>
                <a:ea typeface="Calibri" pitchFamily="34" charset="-122"/>
                <a:cs typeface="Calibri" pitchFamily="34" charset="-120"/>
              </a:rPr>
              <a:t>Built and tested</a:t>
            </a:r>
            <a:endParaRPr lang="en-US" sz="1300" dirty="0"/>
          </a:p>
        </p:txBody>
      </p:sp>
      <p:sp>
        <p:nvSpPr>
          <p:cNvPr id="37" name="legend"/>
          <p:cNvSpPr/>
          <p:nvPr/>
        </p:nvSpPr>
        <p:spPr>
          <a:xfrm>
            <a:off x="3474720" y="5989320"/>
            <a:ext cx="274320" cy="201168"/>
          </a:xfrm>
          <a:prstGeom prst="rect">
            <a:avLst/>
          </a:prstGeom>
          <a:solidFill>
            <a:srgbClr val="FFFFFF"/>
          </a:solidFill>
          <a:ln w="15875">
            <a:solidFill>
              <a:srgbClr val="E8A33D"/>
            </a:solidFill>
            <a:prstDash val="dash"/>
          </a:ln>
        </p:spPr>
      </p:sp>
      <p:sp>
        <p:nvSpPr>
          <p:cNvPr id="38" name="Text 35"/>
          <p:cNvSpPr txBox="1"/>
          <p:nvPr/>
        </p:nvSpPr>
        <p:spPr>
          <a:xfrm>
            <a:off x="3886200" y="5943600"/>
            <a:ext cx="2377440" cy="292608"/>
          </a:xfrm>
          <a:prstGeom prst="rect">
            <a:avLst/>
          </a:prstGeom>
          <a:noFill/>
          <a:ln/>
        </p:spPr>
        <p:txBody>
          <a:bodyPr wrap="square" lIns="0" tIns="0" rIns="0" bIns="0" rtlCol="0" anchor="ctr"/>
          <a:lstStyle/>
          <a:p>
            <a:pPr indent="0" marL="0">
              <a:buNone/>
            </a:pPr>
            <a:r>
              <a:rPr lang="en-US" sz="1300" dirty="0">
                <a:solidFill>
                  <a:srgbClr val="566770"/>
                </a:solidFill>
                <a:latin typeface="Calibri" pitchFamily="34" charset="0"/>
                <a:ea typeface="Calibri" pitchFamily="34" charset="-122"/>
                <a:cs typeface="Calibri" pitchFamily="34" charset="-120"/>
              </a:rPr>
              <a:t>Not built yet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COMMON CONTRACTS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Shared foundations every agent builds on</a:t>
            </a:r>
            <a:endParaRPr lang="en-US" sz="3400" dirty="0"/>
          </a:p>
        </p:txBody>
      </p:sp>
      <p:sp>
        <p:nvSpPr>
          <p:cNvPr id="5" name="owner pill"/>
          <p:cNvSpPr/>
          <p:nvPr/>
        </p:nvSpPr>
        <p:spPr>
          <a:xfrm>
            <a:off x="9262872" y="301752"/>
            <a:ext cx="2377440" cy="310896"/>
          </a:xfrm>
          <a:prstGeom prst="roundRect">
            <a:avLst>
              <a:gd name="adj" fmla="val 50000"/>
            </a:avLst>
          </a:prstGeom>
          <a:solidFill>
            <a:srgbClr val="6B4C86"/>
          </a:solidFill>
          <a:ln w="12700">
            <a:solidFill>
              <a:srgbClr val="6B4C86"/>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 | Code agent and policy</a:t>
            </a:r>
            <a:endParaRPr lang="en-US" sz="1200" dirty="0"/>
          </a:p>
        </p:txBody>
      </p:sp>
      <p:sp>
        <p:nvSpPr>
          <p:cNvPr id="7" name="card"/>
          <p:cNvSpPr/>
          <p:nvPr/>
        </p:nvSpPr>
        <p:spPr>
          <a:xfrm>
            <a:off x="54864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77724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Evidence contract</a:t>
            </a:r>
            <a:endParaRPr lang="en-US" sz="1800" dirty="0"/>
          </a:p>
        </p:txBody>
      </p:sp>
      <p:sp>
        <p:nvSpPr>
          <p:cNvPr id="9" name="Text 6"/>
          <p:cNvSpPr txBox="1"/>
          <p:nvPr/>
        </p:nvSpPr>
        <p:spPr>
          <a:xfrm>
            <a:off x="777240" y="233172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One JSON document per agent per incident, generated from Pydantic models. A test fails if the schema drifts or the wire version changes.</a:t>
            </a:r>
            <a:endParaRPr lang="en-US" sz="1400" dirty="0"/>
          </a:p>
        </p:txBody>
      </p:sp>
      <p:sp>
        <p:nvSpPr>
          <p:cNvPr id="10" name="card"/>
          <p:cNvSpPr/>
          <p:nvPr/>
        </p:nvSpPr>
        <p:spPr>
          <a:xfrm>
            <a:off x="429768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452628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Failure taxonomy</a:t>
            </a:r>
            <a:endParaRPr lang="en-US" sz="1800" dirty="0"/>
          </a:p>
        </p:txBody>
      </p:sp>
      <p:sp>
        <p:nvSpPr>
          <p:cNvPr id="12" name="Text 9"/>
          <p:cNvSpPr txBox="1"/>
          <p:nvPr/>
        </p:nvSpPr>
        <p:spPr>
          <a:xfrm>
            <a:off x="4526280" y="233172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Eleven fixed classes, from code_test_failure to unknown. No aliases. Unknown may never be asserted above 0.4 confidence.</a:t>
            </a:r>
            <a:endParaRPr lang="en-US" sz="1400" dirty="0"/>
          </a:p>
        </p:txBody>
      </p:sp>
      <p:sp>
        <p:nvSpPr>
          <p:cNvPr id="13" name="card"/>
          <p:cNvSpPr/>
          <p:nvPr/>
        </p:nvSpPr>
        <p:spPr>
          <a:xfrm>
            <a:off x="804672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27532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Redaction</a:t>
            </a:r>
            <a:endParaRPr lang="en-US" sz="1800" dirty="0"/>
          </a:p>
        </p:txBody>
      </p:sp>
      <p:sp>
        <p:nvSpPr>
          <p:cNvPr id="15" name="Text 12"/>
          <p:cNvSpPr txBox="1"/>
          <p:nvPr/>
        </p:nvSpPr>
        <p:spPr>
          <a:xfrm>
            <a:off x="8275320" y="233172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Every string passes redact() before it reaches an LLM, the evidence store or the audit trail.</a:t>
            </a:r>
            <a:endParaRPr lang="en-US" sz="1400" dirty="0"/>
          </a:p>
        </p:txBody>
      </p:sp>
      <p:sp>
        <p:nvSpPr>
          <p:cNvPr id="16" name="card"/>
          <p:cNvSpPr/>
          <p:nvPr/>
        </p:nvSpPr>
        <p:spPr>
          <a:xfrm>
            <a:off x="54864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7" name="Text 14"/>
          <p:cNvSpPr txBox="1"/>
          <p:nvPr/>
        </p:nvSpPr>
        <p:spPr>
          <a:xfrm>
            <a:off x="77724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Audit trail</a:t>
            </a:r>
            <a:endParaRPr lang="en-US" sz="1800" dirty="0"/>
          </a:p>
        </p:txBody>
      </p:sp>
      <p:sp>
        <p:nvSpPr>
          <p:cNvPr id="18" name="Text 15"/>
          <p:cNvSpPr txBox="1"/>
          <p:nvPr/>
        </p:nvSpPr>
        <p:spPr>
          <a:xfrm>
            <a:off x="777240" y="457200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Append-only record of agent runs, tool calls, policy verdicts and approvals, in JSON lines or PostgreSQL.</a:t>
            </a:r>
            <a:endParaRPr lang="en-US" sz="1400" dirty="0"/>
          </a:p>
        </p:txBody>
      </p:sp>
      <p:sp>
        <p:nvSpPr>
          <p:cNvPr id="19" name="card"/>
          <p:cNvSpPr/>
          <p:nvPr/>
        </p:nvSpPr>
        <p:spPr>
          <a:xfrm>
            <a:off x="429768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Text 17"/>
          <p:cNvSpPr txBox="1"/>
          <p:nvPr/>
        </p:nvSpPr>
        <p:spPr>
          <a:xfrm>
            <a:off x="452628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One LLM client</a:t>
            </a:r>
            <a:endParaRPr lang="en-US" sz="1800" dirty="0"/>
          </a:p>
        </p:txBody>
      </p:sp>
      <p:sp>
        <p:nvSpPr>
          <p:cNvPr id="21" name="Text 18"/>
          <p:cNvSpPr txBox="1"/>
          <p:nvPr/>
        </p:nvSpPr>
        <p:spPr>
          <a:xfrm>
            <a:off x="4526280" y="457200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Gemini behind a single wrapper: rate limit, bounded retries, structured output with one repair call, offline mode and a mock for tests.</a:t>
            </a:r>
            <a:endParaRPr lang="en-US" sz="1400" dirty="0"/>
          </a:p>
        </p:txBody>
      </p:sp>
      <p:sp>
        <p:nvSpPr>
          <p:cNvPr id="22" name="card"/>
          <p:cNvSpPr/>
          <p:nvPr/>
        </p:nvSpPr>
        <p:spPr>
          <a:xfrm>
            <a:off x="804672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3" name="Text 20"/>
          <p:cNvSpPr txBox="1"/>
          <p:nvPr/>
        </p:nvSpPr>
        <p:spPr>
          <a:xfrm>
            <a:off x="827532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Policy gate</a:t>
            </a:r>
            <a:endParaRPr lang="en-US" sz="1800" dirty="0"/>
          </a:p>
        </p:txBody>
      </p:sp>
      <p:sp>
        <p:nvSpPr>
          <p:cNvPr id="24" name="Text 21"/>
          <p:cNvSpPr txBox="1"/>
          <p:nvPr/>
        </p:nvSpPr>
        <p:spPr>
          <a:xfrm>
            <a:off x="8275320" y="4572000"/>
            <a:ext cx="3108960" cy="137160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OPA rules decide whether a proposed fix may exist and whether a PR may open. If OPA is unreachable, the answer is no.</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Where the project stands at mid-semester</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120640"/>
                <a:gridCol w="1188720"/>
                <a:gridCol w="2926080"/>
                <a:gridCol w="18288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Tests passing</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Jenkins webhook, backend, RabbitMQ</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P1</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in the full suite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Jenkins agent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P1</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Metrics agent and monitoring</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P2</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265</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Code agent (read-only, rule-based)</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 LLM reasoning planned</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164</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Evidence contract, audit, redaction, LLM client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OPA policy gate and client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P3</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14, plus Rego tests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Coordinator evidence fusion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A33B2B"/>
                          </a:solidFill>
                          <a:latin typeface="Calibri" pitchFamily="34" charset="0"/>
                          <a:ea typeface="Calibri" pitchFamily="34" charset="-122"/>
                          <a:cs typeface="Calibri" pitchFamily="34" charset="-120"/>
                        </a:rPr>
                        <a:t>Not 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Fix proposal, human approval, draft PR, re-validation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A33B2B"/>
                          </a:solidFill>
                          <a:latin typeface="Calibri" pitchFamily="34" charset="0"/>
                          <a:ea typeface="Calibri" pitchFamily="34" charset="-122"/>
                          <a:cs typeface="Calibri" pitchFamily="34" charset="-120"/>
                        </a:rPr>
                        <a:t>Not built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600" b="1" dirty="0">
                <a:solidFill>
                  <a:srgbClr val="1F8A8A"/>
                </a:solidFill>
                <a:latin typeface="Calibri" pitchFamily="34" charset="0"/>
                <a:ea typeface="Calibri" pitchFamily="34" charset="-122"/>
                <a:cs typeface="Calibri" pitchFamily="34" charset="-120"/>
              </a:rPr>
              <a:t>Full suite: 596 passed, 1 skipped.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JENKINS AGENT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Jenkins agent: an LLM on a short leash</a:t>
            </a:r>
            <a:endParaRPr lang="en-US" sz="3400" dirty="0"/>
          </a:p>
        </p:txBody>
      </p:sp>
      <p:sp>
        <p:nvSpPr>
          <p:cNvPr id="5" name="owner pill"/>
          <p:cNvSpPr/>
          <p:nvPr/>
        </p:nvSpPr>
        <p:spPr>
          <a:xfrm>
            <a:off x="9262872" y="301752"/>
            <a:ext cx="2377440" cy="310896"/>
          </a:xfrm>
          <a:prstGeom prst="roundRect">
            <a:avLst>
              <a:gd name="adj" fmla="val 50000"/>
            </a:avLst>
          </a:prstGeom>
          <a:solidFill>
            <a:srgbClr val="1F8A8A"/>
          </a:solidFill>
          <a:ln w="12700">
            <a:solidFill>
              <a:srgbClr val="1F8A8A"/>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 | Jenkins agent</a:t>
            </a:r>
            <a:endParaRPr lang="en-US" sz="1200" dirty="0"/>
          </a:p>
        </p:txBody>
      </p:sp>
      <p:sp>
        <p:nvSpPr>
          <p:cNvPr id="7" name="card"/>
          <p:cNvSpPr/>
          <p:nvPr/>
        </p:nvSpPr>
        <p:spPr>
          <a:xfrm>
            <a:off x="548640" y="1645920"/>
            <a:ext cx="33832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777240" y="1783080"/>
            <a:ext cx="384048" cy="384048"/>
          </a:xfrm>
          <a:prstGeom prst="ellipse">
            <a:avLst/>
          </a:prstGeom>
          <a:solidFill>
            <a:srgbClr val="1F8A8A"/>
          </a:solidFill>
          <a:ln w="12700">
            <a:solidFill>
              <a:srgbClr val="1F8A8A"/>
            </a:solidFill>
            <a:prstDash val="solid"/>
          </a:ln>
        </p:spPr>
      </p:sp>
      <p:sp>
        <p:nvSpPr>
          <p:cNvPr id="9" name="Text 6"/>
          <p:cNvSpPr txBox="1"/>
          <p:nvPr/>
        </p:nvSpPr>
        <p:spPr>
          <a:xfrm>
            <a:off x="77724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325880" y="1810512"/>
            <a:ext cx="246888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fetch_context</a:t>
            </a:r>
            <a:endParaRPr lang="en-US" sz="1800" dirty="0"/>
          </a:p>
        </p:txBody>
      </p:sp>
      <p:sp>
        <p:nvSpPr>
          <p:cNvPr id="11" name="Text 8"/>
          <p:cNvSpPr txBox="1"/>
          <p:nvPr/>
        </p:nvSpPr>
        <p:spPr>
          <a:xfrm>
            <a:off x="777240" y="2331720"/>
            <a:ext cx="2926080" cy="105156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Build and stage summary, console log, test report, build history, last good build</a:t>
            </a:r>
            <a:endParaRPr lang="en-US" sz="1400" dirty="0"/>
          </a:p>
        </p:txBody>
      </p:sp>
      <p:sp>
        <p:nvSpPr>
          <p:cNvPr id="12" name="arrow"/>
          <p:cNvSpPr/>
          <p:nvPr/>
        </p:nvSpPr>
        <p:spPr>
          <a:xfrm>
            <a:off x="3950208" y="2542032"/>
            <a:ext cx="420624" cy="0"/>
          </a:xfrm>
          <a:prstGeom prst="line">
            <a:avLst/>
          </a:prstGeom>
          <a:noFill/>
          <a:ln w="19050">
            <a:solidFill>
              <a:srgbClr val="566770"/>
            </a:solidFill>
            <a:prstDash val="solid"/>
            <a:tailEnd type="triangle"/>
          </a:ln>
        </p:spPr>
      </p:sp>
      <p:sp>
        <p:nvSpPr>
          <p:cNvPr id="13" name="card"/>
          <p:cNvSpPr/>
          <p:nvPr/>
        </p:nvSpPr>
        <p:spPr>
          <a:xfrm>
            <a:off x="4389120" y="1645920"/>
            <a:ext cx="33832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badge"/>
          <p:cNvSpPr/>
          <p:nvPr/>
        </p:nvSpPr>
        <p:spPr>
          <a:xfrm>
            <a:off x="4617720" y="1783080"/>
            <a:ext cx="384048" cy="384048"/>
          </a:xfrm>
          <a:prstGeom prst="ellipse">
            <a:avLst/>
          </a:prstGeom>
          <a:solidFill>
            <a:srgbClr val="1F8A8A"/>
          </a:solidFill>
          <a:ln w="12700">
            <a:solidFill>
              <a:srgbClr val="1F8A8A"/>
            </a:solidFill>
            <a:prstDash val="solid"/>
          </a:ln>
        </p:spPr>
      </p:sp>
      <p:sp>
        <p:nvSpPr>
          <p:cNvPr id="15" name="Text 12"/>
          <p:cNvSpPr txBox="1"/>
          <p:nvPr/>
        </p:nvSpPr>
        <p:spPr>
          <a:xfrm>
            <a:off x="461772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5166360" y="1810512"/>
            <a:ext cx="246888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reason</a:t>
            </a:r>
            <a:endParaRPr lang="en-US" sz="1800" dirty="0"/>
          </a:p>
        </p:txBody>
      </p:sp>
      <p:sp>
        <p:nvSpPr>
          <p:cNvPr id="17" name="Text 14"/>
          <p:cNvSpPr txBox="1"/>
          <p:nvPr/>
        </p:nvSpPr>
        <p:spPr>
          <a:xfrm>
            <a:off x="4617720" y="2331720"/>
            <a:ext cx="2926080" cy="105156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Rules classify first. The LLM may call read-only tools, then answers in a strict schema</a:t>
            </a:r>
            <a:endParaRPr lang="en-US" sz="1400" dirty="0"/>
          </a:p>
        </p:txBody>
      </p:sp>
      <p:sp>
        <p:nvSpPr>
          <p:cNvPr id="18" name="arrow"/>
          <p:cNvSpPr/>
          <p:nvPr/>
        </p:nvSpPr>
        <p:spPr>
          <a:xfrm>
            <a:off x="7790688" y="2542032"/>
            <a:ext cx="420624" cy="0"/>
          </a:xfrm>
          <a:prstGeom prst="line">
            <a:avLst/>
          </a:prstGeom>
          <a:noFill/>
          <a:ln w="19050">
            <a:solidFill>
              <a:srgbClr val="566770"/>
            </a:solidFill>
            <a:prstDash val="solid"/>
            <a:tailEnd type="triangle"/>
          </a:ln>
        </p:spPr>
      </p:sp>
      <p:sp>
        <p:nvSpPr>
          <p:cNvPr id="19" name="card"/>
          <p:cNvSpPr/>
          <p:nvPr/>
        </p:nvSpPr>
        <p:spPr>
          <a:xfrm>
            <a:off x="8229600" y="1645920"/>
            <a:ext cx="3383280" cy="17830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badge"/>
          <p:cNvSpPr/>
          <p:nvPr/>
        </p:nvSpPr>
        <p:spPr>
          <a:xfrm>
            <a:off x="8458200" y="1783080"/>
            <a:ext cx="384048" cy="384048"/>
          </a:xfrm>
          <a:prstGeom prst="ellipse">
            <a:avLst/>
          </a:prstGeom>
          <a:solidFill>
            <a:srgbClr val="1F8A8A"/>
          </a:solidFill>
          <a:ln w="12700">
            <a:solidFill>
              <a:srgbClr val="1F8A8A"/>
            </a:solidFill>
            <a:prstDash val="solid"/>
          </a:ln>
        </p:spPr>
      </p:sp>
      <p:sp>
        <p:nvSpPr>
          <p:cNvPr id="21" name="Text 18"/>
          <p:cNvSpPr txBox="1"/>
          <p:nvPr/>
        </p:nvSpPr>
        <p:spPr>
          <a:xfrm>
            <a:off x="845820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9006840" y="1810512"/>
            <a:ext cx="246888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finalize</a:t>
            </a:r>
            <a:endParaRPr lang="en-US" sz="1800" dirty="0"/>
          </a:p>
        </p:txBody>
      </p:sp>
      <p:sp>
        <p:nvSpPr>
          <p:cNvPr id="23" name="Text 20"/>
          <p:cNvSpPr txBox="1"/>
          <p:nvPr/>
        </p:nvSpPr>
        <p:spPr>
          <a:xfrm>
            <a:off x="8458200" y="2331720"/>
            <a:ext cx="2926080" cy="105156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Validate, redact and write one evidence document; acknowledge the message</a:t>
            </a:r>
            <a:endParaRPr lang="en-US" sz="1400" dirty="0"/>
          </a:p>
        </p:txBody>
      </p:sp>
      <p:sp>
        <p:nvSpPr>
          <p:cNvPr id="24" name="Text 21"/>
          <p:cNvSpPr txBox="1"/>
          <p:nvPr/>
        </p:nvSpPr>
        <p:spPr>
          <a:xfrm>
            <a:off x="4389120" y="3493008"/>
            <a:ext cx="3383280" cy="274320"/>
          </a:xfrm>
          <a:prstGeom prst="rect">
            <a:avLst/>
          </a:prstGeom>
          <a:noFill/>
          <a:ln/>
        </p:spPr>
        <p:txBody>
          <a:bodyPr wrap="square" lIns="0" tIns="0" rIns="0" bIns="0" rtlCol="0" anchor="t"/>
          <a:lstStyle/>
          <a:p>
            <a:pPr algn="ctr" indent="0" marL="0">
              <a:buNone/>
            </a:pPr>
            <a:r>
              <a:rPr lang="en-US" sz="1200" i="1" dirty="0">
                <a:solidFill>
                  <a:srgbClr val="566770"/>
                </a:solidFill>
                <a:latin typeface="Calibri" pitchFamily="34" charset="0"/>
                <a:ea typeface="Calibri" pitchFamily="34" charset="-122"/>
                <a:cs typeface="Calibri" pitchFamily="34" charset="-120"/>
              </a:rPr>
              <a:t>reason loops while the LLM asks for more evidence (at most 8 steps)</a:t>
            </a:r>
            <a:endParaRPr lang="en-US" sz="1200" dirty="0"/>
          </a:p>
        </p:txBody>
      </p:sp>
      <p:sp>
        <p:nvSpPr>
          <p:cNvPr id="25" name="card"/>
          <p:cNvSpPr/>
          <p:nvPr/>
        </p:nvSpPr>
        <p:spPr>
          <a:xfrm>
            <a:off x="548640" y="3931920"/>
            <a:ext cx="6675120" cy="2240280"/>
          </a:xfrm>
          <a:prstGeom prst="rect">
            <a:avLst/>
          </a:prstGeom>
          <a:solidFill>
            <a:srgbClr val="DCEEEC"/>
          </a:solidFill>
          <a:ln w="9525">
            <a:solidFill>
              <a:srgbClr val="DCEEEC"/>
            </a:solidFill>
            <a:prstDash val="solid"/>
          </a:ln>
        </p:spPr>
      </p:sp>
      <p:sp>
        <p:nvSpPr>
          <p:cNvPr id="26" name="Text 23"/>
          <p:cNvSpPr txBox="1"/>
          <p:nvPr/>
        </p:nvSpPr>
        <p:spPr>
          <a:xfrm>
            <a:off x="822960" y="4041648"/>
            <a:ext cx="612648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Read-only tools the LLM may call</a:t>
            </a:r>
            <a:endParaRPr lang="en-US" sz="1800" dirty="0"/>
          </a:p>
        </p:txBody>
      </p:sp>
      <p:sp>
        <p:nvSpPr>
          <p:cNvPr id="27" name="Text 24"/>
          <p:cNvSpPr txBox="1"/>
          <p:nvPr/>
        </p:nvSpPr>
        <p:spPr>
          <a:xfrm>
            <a:off x="822960" y="4526280"/>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get_build_summary</a:t>
            </a:r>
            <a:endParaRPr lang="en-US" sz="1300" dirty="0"/>
          </a:p>
        </p:txBody>
      </p:sp>
      <p:sp>
        <p:nvSpPr>
          <p:cNvPr id="28" name="Text 25"/>
          <p:cNvSpPr txBox="1"/>
          <p:nvPr/>
        </p:nvSpPr>
        <p:spPr>
          <a:xfrm>
            <a:off x="3931920" y="4526280"/>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get_stage_summary</a:t>
            </a:r>
            <a:endParaRPr lang="en-US" sz="1300" dirty="0"/>
          </a:p>
        </p:txBody>
      </p:sp>
      <p:sp>
        <p:nvSpPr>
          <p:cNvPr id="29" name="Text 26"/>
          <p:cNvSpPr txBox="1"/>
          <p:nvPr/>
        </p:nvSpPr>
        <p:spPr>
          <a:xfrm>
            <a:off x="822960" y="4910328"/>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get_error_blocks</a:t>
            </a:r>
            <a:endParaRPr lang="en-US" sz="1300" dirty="0"/>
          </a:p>
        </p:txBody>
      </p:sp>
      <p:sp>
        <p:nvSpPr>
          <p:cNvPr id="30" name="Text 27"/>
          <p:cNvSpPr txBox="1"/>
          <p:nvPr/>
        </p:nvSpPr>
        <p:spPr>
          <a:xfrm>
            <a:off x="3931920" y="4910328"/>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get_log_range</a:t>
            </a:r>
            <a:endParaRPr lang="en-US" sz="1300" dirty="0"/>
          </a:p>
        </p:txBody>
      </p:sp>
      <p:sp>
        <p:nvSpPr>
          <p:cNvPr id="31" name="Text 28"/>
          <p:cNvSpPr txBox="1"/>
          <p:nvPr/>
        </p:nvSpPr>
        <p:spPr>
          <a:xfrm>
            <a:off x="822960" y="5294376"/>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get_test_report</a:t>
            </a:r>
            <a:endParaRPr lang="en-US" sz="1300" dirty="0"/>
          </a:p>
        </p:txBody>
      </p:sp>
      <p:sp>
        <p:nvSpPr>
          <p:cNvPr id="32" name="Text 29"/>
          <p:cNvSpPr txBox="1"/>
          <p:nvPr/>
        </p:nvSpPr>
        <p:spPr>
          <a:xfrm>
            <a:off x="3931920" y="5294376"/>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get_build_history</a:t>
            </a:r>
            <a:endParaRPr lang="en-US" sz="1300" dirty="0"/>
          </a:p>
        </p:txBody>
      </p:sp>
      <p:sp>
        <p:nvSpPr>
          <p:cNvPr id="33" name="Text 30"/>
          <p:cNvSpPr txBox="1"/>
          <p:nvPr/>
        </p:nvSpPr>
        <p:spPr>
          <a:xfrm>
            <a:off x="822960" y="5678424"/>
            <a:ext cx="3017520" cy="320040"/>
          </a:xfrm>
          <a:prstGeom prst="rect">
            <a:avLst/>
          </a:prstGeom>
          <a:noFill/>
          <a:ln/>
        </p:spPr>
        <p:txBody>
          <a:bodyPr wrap="square" lIns="0" tIns="0" rIns="0" bIns="0" rtlCol="0" anchor="t"/>
          <a:lstStyle/>
          <a:p>
            <a:pPr indent="0" marL="0">
              <a:buNone/>
            </a:pPr>
            <a:r>
              <a:rPr lang="en-US" sz="1300" dirty="0">
                <a:solidFill>
                  <a:srgbClr val="12232B"/>
                </a:solidFill>
                <a:latin typeface="Consolas" pitchFamily="34" charset="0"/>
                <a:ea typeface="Consolas" pitchFamily="34" charset="-122"/>
                <a:cs typeface="Consolas" pitchFamily="34" charset="-120"/>
              </a:rPr>
              <a:t>compare_with_last_success</a:t>
            </a:r>
            <a:endParaRPr lang="en-US" sz="1300" dirty="0"/>
          </a:p>
        </p:txBody>
      </p:sp>
      <p:sp>
        <p:nvSpPr>
          <p:cNvPr id="34" name="card"/>
          <p:cNvSpPr/>
          <p:nvPr/>
        </p:nvSpPr>
        <p:spPr>
          <a:xfrm>
            <a:off x="7498080" y="3931920"/>
            <a:ext cx="4142232" cy="22402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35" name="Text 32"/>
          <p:cNvSpPr txBox="1"/>
          <p:nvPr/>
        </p:nvSpPr>
        <p:spPr>
          <a:xfrm>
            <a:off x="7772400" y="4041648"/>
            <a:ext cx="365760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Hard limits</a:t>
            </a:r>
            <a:endParaRPr lang="en-US" sz="1800" dirty="0"/>
          </a:p>
        </p:txBody>
      </p:sp>
      <p:sp>
        <p:nvSpPr>
          <p:cNvPr id="36" name="Text 33"/>
          <p:cNvSpPr txBox="1"/>
          <p:nvPr/>
        </p:nvSpPr>
        <p:spPr>
          <a:xfrm>
            <a:off x="7772400" y="4480560"/>
            <a:ext cx="3657600" cy="1645920"/>
          </a:xfrm>
          <a:prstGeom prst="rect">
            <a:avLst/>
          </a:prstGeom>
          <a:noFill/>
          <a:ln/>
        </p:spPr>
        <p:txBody>
          <a:bodyPr wrap="square" lIns="0" tIns="0" rIns="0" bIns="0" rtlCol="0" anchor="t"/>
          <a:lstStyle/>
          <a:p>
            <a:pPr marL="203200" indent="-203200">
              <a:spcAft>
                <a:spcPts val="200"/>
              </a:spcAft>
              <a:buSzPct val="100000"/>
              <a:buChar char="•"/>
            </a:pPr>
            <a:r>
              <a:rPr lang="en-US" sz="1500" dirty="0">
                <a:solidFill>
                  <a:srgbClr val="12232B"/>
                </a:solidFill>
                <a:latin typeface="Calibri" pitchFamily="34" charset="0"/>
                <a:ea typeface="Calibri" pitchFamily="34" charset="-122"/>
                <a:cs typeface="Calibri" pitchFamily="34" charset="-120"/>
              </a:rPr>
              <a:t>8 reasoning steps</a:t>
            </a:r>
            <a:endParaRPr lang="en-US" sz="1500" dirty="0"/>
          </a:p>
          <a:p>
            <a:pPr marL="203200" indent="-203200">
              <a:spcAft>
                <a:spcPts val="200"/>
              </a:spcAft>
              <a:buSzPct val="100000"/>
              <a:buChar char="•"/>
            </a:pPr>
            <a:r>
              <a:rPr lang="en-US" sz="1500" dirty="0">
                <a:solidFill>
                  <a:srgbClr val="12232B"/>
                </a:solidFill>
                <a:latin typeface="Calibri" pitchFamily="34" charset="0"/>
                <a:ea typeface="Calibri" pitchFamily="34" charset="-122"/>
                <a:cs typeface="Calibri" pitchFamily="34" charset="-120"/>
              </a:rPr>
              <a:t>3 calls per tool</a:t>
            </a:r>
            <a:endParaRPr lang="en-US" sz="1500" dirty="0"/>
          </a:p>
          <a:p>
            <a:pPr marL="203200" indent="-203200">
              <a:spcAft>
                <a:spcPts val="200"/>
              </a:spcAft>
              <a:buSzPct val="100000"/>
              <a:buChar char="•"/>
            </a:pPr>
            <a:r>
              <a:rPr lang="en-US" sz="1500" dirty="0">
                <a:solidFill>
                  <a:srgbClr val="12232B"/>
                </a:solidFill>
                <a:latin typeface="Calibri" pitchFamily="34" charset="0"/>
                <a:ea typeface="Calibri" pitchFamily="34" charset="-122"/>
                <a:cs typeface="Calibri" pitchFamily="34" charset="-120"/>
              </a:rPr>
              <a:t>300 log lines per call</a:t>
            </a:r>
            <a:endParaRPr lang="en-US" sz="1500" dirty="0"/>
          </a:p>
          <a:p>
            <a:pPr marL="203200" indent="-203200">
              <a:spcAft>
                <a:spcPts val="200"/>
              </a:spcAft>
              <a:buSzPct val="100000"/>
              <a:buChar char="•"/>
            </a:pPr>
            <a:r>
              <a:rPr lang="en-US" sz="1500" dirty="0">
                <a:solidFill>
                  <a:srgbClr val="12232B"/>
                </a:solidFill>
                <a:latin typeface="Calibri" pitchFamily="34" charset="0"/>
                <a:ea typeface="Calibri" pitchFamily="34" charset="-122"/>
                <a:cs typeface="Calibri" pitchFamily="34" charset="-120"/>
              </a:rPr>
              <a:t>5 test failures shown to the LLM</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JENKINS AGENT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Jenkins agent: nine rules and LLM safeguards</a:t>
            </a:r>
            <a:endParaRPr lang="en-US" sz="3400" dirty="0"/>
          </a:p>
        </p:txBody>
      </p:sp>
      <p:sp>
        <p:nvSpPr>
          <p:cNvPr id="5" name="owner pill"/>
          <p:cNvSpPr/>
          <p:nvPr/>
        </p:nvSpPr>
        <p:spPr>
          <a:xfrm>
            <a:off x="9262872" y="301752"/>
            <a:ext cx="2377440" cy="310896"/>
          </a:xfrm>
          <a:prstGeom prst="roundRect">
            <a:avLst>
              <a:gd name="adj" fmla="val 50000"/>
            </a:avLst>
          </a:prstGeom>
          <a:solidFill>
            <a:srgbClr val="1F8A8A"/>
          </a:solidFill>
          <a:ln w="12700">
            <a:solidFill>
              <a:srgbClr val="1F8A8A"/>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 | Jenkins agent</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858000" cy="914400"/>
        </p:xfrm>
        <a:graphic>
          <a:graphicData uri="http://schemas.openxmlformats.org/drawingml/2006/table">
            <a:tbl>
              <a:tblPr/>
              <a:tblGrid>
                <a:gridCol w="2651760"/>
                <a:gridCol w="3383280"/>
                <a:gridCol w="822960"/>
              </a:tblGrid>
              <a:tr h="40233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Failure type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Signal</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code_test_failure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pytest AssertionError</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build_compilation_failure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Syntax, import or compiler error in Build</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auth_failure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Authentication or authorisation 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timeout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Timeout signal in the Test stage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infra_network_failure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Connection refused, DNS, 503</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config_error</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Deploy stage with a config signal</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deployment_failure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Deploy failed, no config signal</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dependency_regression</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Resolution or import evidence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flaky_test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Same test passed on the same commit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card"/>
          <p:cNvSpPr/>
          <p:nvPr/>
        </p:nvSpPr>
        <p:spPr>
          <a:xfrm>
            <a:off x="7680960" y="1645920"/>
            <a:ext cx="3959352" cy="40233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955280" y="1783080"/>
            <a:ext cx="3474720" cy="36576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Safeguards</a:t>
            </a:r>
            <a:endParaRPr lang="en-US" sz="2000" dirty="0"/>
          </a:p>
        </p:txBody>
      </p:sp>
      <p:sp>
        <p:nvSpPr>
          <p:cNvPr id="10" name="Text 6"/>
          <p:cNvSpPr txBox="1"/>
          <p:nvPr/>
        </p:nvSpPr>
        <p:spPr>
          <a:xfrm>
            <a:off x="7955280" y="2240280"/>
            <a:ext cx="3474720" cy="33832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The LLM cannot relabel a confirmed test failure as an environment problem</a:t>
            </a:r>
            <a:endParaRPr lang="en-US" sz="1400" dirty="0"/>
          </a:p>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If the LLM fails, the rule-based answer is used</a:t>
            </a:r>
            <a:endParaRPr lang="en-US" sz="1400" dirty="0"/>
          </a:p>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Unknown is capped at 0.4 confidence</a:t>
            </a:r>
            <a:endParaRPr lang="en-US" sz="1400" dirty="0"/>
          </a:p>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A truncated log lowers confidence</a:t>
            </a:r>
            <a:endParaRPr lang="en-US" sz="1400" dirty="0"/>
          </a:p>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Every claim must cite an evidence ID</a:t>
            </a:r>
            <a:endParaRPr lang="en-US" sz="1400" dirty="0"/>
          </a:p>
          <a:p>
            <a:pPr marL="203200" indent="-203200">
              <a:spcAft>
                <a:spcPts val="400"/>
              </a:spcAft>
              <a:buSzPct val="100000"/>
              <a:buChar char="•"/>
            </a:pPr>
            <a:r>
              <a:rPr lang="en-US" sz="1400" dirty="0">
                <a:solidFill>
                  <a:srgbClr val="12232B"/>
                </a:solidFill>
                <a:latin typeface="Calibri" pitchFamily="34" charset="0"/>
                <a:ea typeface="Calibri" pitchFamily="34" charset="-122"/>
                <a:cs typeface="Calibri" pitchFamily="34" charset="-120"/>
              </a:rPr>
              <a:t>Prompt forbids suggesting that tests or checks be disabled</a:t>
            </a:r>
            <a:endParaRPr lang="en-US" sz="1400" dirty="0"/>
          </a:p>
        </p:txBody>
      </p:sp>
      <p:sp>
        <p:nvSpPr>
          <p:cNvPr id="11" name="Text 7"/>
          <p:cNvSpPr txBox="1"/>
          <p:nvPr/>
        </p:nvSpPr>
        <p:spPr>
          <a:xfrm>
            <a:off x="548640" y="5897880"/>
            <a:ext cx="6858000" cy="3657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Rule confidence is the starting point; the evidence document carries the final confidence.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Jenkins agent: evaluation so far</a:t>
            </a:r>
            <a:endParaRPr lang="en-US" sz="3400" dirty="0"/>
          </a:p>
        </p:txBody>
      </p:sp>
      <p:sp>
        <p:nvSpPr>
          <p:cNvPr id="5" name="owner pill"/>
          <p:cNvSpPr/>
          <p:nvPr/>
        </p:nvSpPr>
        <p:spPr>
          <a:xfrm>
            <a:off x="9262872" y="301752"/>
            <a:ext cx="2377440" cy="310896"/>
          </a:xfrm>
          <a:prstGeom prst="roundRect">
            <a:avLst>
              <a:gd name="adj" fmla="val 50000"/>
            </a:avLst>
          </a:prstGeom>
          <a:solidFill>
            <a:srgbClr val="1F8A8A"/>
          </a:solidFill>
          <a:ln w="12700">
            <a:solidFill>
              <a:srgbClr val="1F8A8A"/>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 | Jenkins agent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2743200"/>
                <a:gridCol w="2560320"/>
                <a:gridCol w="128016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Ground-truth build</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 type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Rules alone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Unit test assertion fails</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code_test_failure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Python syntax error</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build_compilation_failure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Missing module import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build_compilation_failure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20 tests fail at once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code_test_failure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Git checkout rejected (auth)</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auth_failure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Git checkout unreachable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infra_network_failure</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Correct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card"/>
          <p:cNvSpPr/>
          <p:nvPr/>
        </p:nvSpPr>
        <p:spPr>
          <a:xfrm>
            <a:off x="7406640" y="1645920"/>
            <a:ext cx="4233672" cy="13258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635240" y="1737360"/>
            <a:ext cx="1828800" cy="1143000"/>
          </a:xfrm>
          <a:prstGeom prst="rect">
            <a:avLst/>
          </a:prstGeom>
          <a:noFill/>
          <a:ln/>
        </p:spPr>
        <p:txBody>
          <a:bodyPr wrap="square" lIns="0" tIns="0" rIns="0" bIns="0" rtlCol="0" anchor="ctr"/>
          <a:lstStyle/>
          <a:p>
            <a:pPr indent="0" marL="0">
              <a:buNone/>
            </a:pPr>
            <a:r>
              <a:rPr lang="en-US" sz="4000" b="1" dirty="0">
                <a:solidFill>
                  <a:srgbClr val="1F8A8A"/>
                </a:solidFill>
                <a:latin typeface="Cambria" pitchFamily="34" charset="0"/>
                <a:ea typeface="Cambria" pitchFamily="34" charset="-122"/>
                <a:cs typeface="Cambria" pitchFamily="34" charset="-120"/>
              </a:rPr>
              <a:t>6 / 6</a:t>
            </a:r>
            <a:endParaRPr lang="en-US" sz="4000" dirty="0"/>
          </a:p>
        </p:txBody>
      </p:sp>
      <p:sp>
        <p:nvSpPr>
          <p:cNvPr id="10" name="Text 6"/>
          <p:cNvSpPr txBox="1"/>
          <p:nvPr/>
        </p:nvSpPr>
        <p:spPr>
          <a:xfrm>
            <a:off x="9464040" y="1783080"/>
            <a:ext cx="2057400" cy="1097280"/>
          </a:xfrm>
          <a:prstGeom prst="rect">
            <a:avLst/>
          </a:prstGeom>
          <a:noFill/>
          <a:ln/>
        </p:spPr>
        <p:txBody>
          <a:bodyPr wrap="square" lIns="0" tIns="0" rIns="0" bIns="0" rtlCol="0" anchor="ctr"/>
          <a:lstStyle/>
          <a:p>
            <a:pPr indent="0" marL="0">
              <a:buNone/>
            </a:pPr>
            <a:r>
              <a:rPr lang="en-US" sz="1400" dirty="0">
                <a:solidFill>
                  <a:srgbClr val="12232B"/>
                </a:solidFill>
                <a:latin typeface="Calibri" pitchFamily="34" charset="0"/>
                <a:ea typeface="Calibri" pitchFamily="34" charset="-122"/>
                <a:cs typeface="Calibri" pitchFamily="34" charset="-120"/>
              </a:rPr>
              <a:t>fixtures classified correctly by the rules alone, no LLM</a:t>
            </a:r>
            <a:endParaRPr lang="en-US" sz="1400" dirty="0"/>
          </a:p>
        </p:txBody>
      </p:sp>
      <p:sp>
        <p:nvSpPr>
          <p:cNvPr id="11" name="Text 7"/>
          <p:cNvSpPr txBox="1"/>
          <p:nvPr/>
        </p:nvSpPr>
        <p:spPr>
          <a:xfrm>
            <a:off x="7406640" y="3108960"/>
            <a:ext cx="4233672" cy="164592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rgbClr val="566770"/>
                </a:solidFill>
                <a:latin typeface="Calibri" pitchFamily="34" charset="0"/>
                <a:ea typeface="Calibri" pitchFamily="34" charset="-122"/>
                <a:cs typeface="Calibri" pitchFamily="34" charset="-120"/>
              </a:rPr>
              <a:t>Faults come from scripts/inject_fault.py: a failing test, a syntax error and a bad import</a:t>
            </a:r>
            <a:endParaRPr lang="en-US" sz="1300" dirty="0"/>
          </a:p>
          <a:p>
            <a:pPr marL="203200" indent="-203200">
              <a:spcAft>
                <a:spcPts val="300"/>
              </a:spcAft>
              <a:buSzPct val="100000"/>
              <a:buChar char="•"/>
            </a:pPr>
            <a:r>
              <a:rPr lang="en-US" sz="1300" dirty="0">
                <a:solidFill>
                  <a:srgbClr val="566770"/>
                </a:solidFill>
                <a:latin typeface="Calibri" pitchFamily="34" charset="0"/>
                <a:ea typeface="Calibri" pitchFamily="34" charset="-122"/>
                <a:cs typeface="Calibri" pitchFamily="34" charset="-120"/>
              </a:rPr>
              <a:t>81 tests, including guard-rail tests for the LLM answers</a:t>
            </a:r>
            <a:endParaRPr lang="en-US" sz="1300" dirty="0"/>
          </a:p>
          <a:p>
            <a:pPr marL="203200" indent="-203200">
              <a:spcAft>
                <a:spcPts val="300"/>
              </a:spcAft>
              <a:buSzPct val="100000"/>
              <a:buChar char="•"/>
            </a:pPr>
            <a:r>
              <a:rPr lang="en-US" sz="1300" dirty="0">
                <a:solidFill>
                  <a:srgbClr val="566770"/>
                </a:solidFill>
                <a:latin typeface="Calibri" pitchFamily="34" charset="0"/>
                <a:ea typeface="Calibri" pitchFamily="34" charset="-122"/>
                <a:cs typeface="Calibri" pitchFamily="34" charset="-120"/>
              </a:rPr>
              <a:t>Caveat: the fixtures were used while writing the rules, and the tests use a mocked LLM</a:t>
            </a:r>
            <a:endParaRPr lang="en-US" sz="1300" dirty="0"/>
          </a:p>
        </p:txBody>
      </p:sp>
      <p:sp>
        <p:nvSpPr>
          <p:cNvPr id="12" name="placeholder"/>
          <p:cNvSpPr/>
          <p:nvPr/>
        </p:nvSpPr>
        <p:spPr>
          <a:xfrm>
            <a:off x="548640" y="4846320"/>
            <a:ext cx="11091672" cy="1417320"/>
          </a:xfrm>
          <a:prstGeom prst="rect">
            <a:avLst/>
          </a:prstGeom>
          <a:solidFill>
            <a:srgbClr val="FBEFD9"/>
          </a:solidFill>
          <a:ln w="19050">
            <a:solidFill>
              <a:srgbClr val="E8A33D"/>
            </a:solidFill>
            <a:prstDash val="dash"/>
          </a:ln>
        </p:spPr>
      </p:sp>
      <p:sp>
        <p:nvSpPr>
          <p:cNvPr id="13" name="Text 9"/>
          <p:cNvSpPr txBox="1"/>
          <p:nvPr/>
        </p:nvSpPr>
        <p:spPr>
          <a:xfrm>
            <a:off x="777240" y="5029200"/>
            <a:ext cx="10634472" cy="228600"/>
          </a:xfrm>
          <a:prstGeom prst="rect">
            <a:avLst/>
          </a:prstGeom>
          <a:noFill/>
          <a:ln/>
        </p:spPr>
        <p:txBody>
          <a:bodyPr wrap="square" lIns="0" tIns="0" rIns="0" bIns="0" rtlCol="0" anchor="t"/>
          <a:lstStyle/>
          <a:p>
            <a:pPr indent="0" marL="0">
              <a:buNone/>
            </a:pPr>
            <a:r>
              <a:rPr lang="en-US" sz="1100" b="1" spc="300" kern="0" dirty="0">
                <a:solidFill>
                  <a:srgbClr val="9A6A12"/>
                </a:solidFill>
                <a:latin typeface="Calibri" pitchFamily="34" charset="0"/>
                <a:ea typeface="Calibri" pitchFamily="34" charset="-122"/>
                <a:cs typeface="Calibri" pitchFamily="34" charset="-120"/>
              </a:rPr>
              <a:t>PLACEHOLDER</a:t>
            </a:r>
            <a:endParaRPr lang="en-US" sz="1100" dirty="0"/>
          </a:p>
        </p:txBody>
      </p:sp>
      <p:sp>
        <p:nvSpPr>
          <p:cNvPr id="14" name="Text 10"/>
          <p:cNvSpPr txBox="1"/>
          <p:nvPr/>
        </p:nvSpPr>
        <p:spPr>
          <a:xfrm>
            <a:off x="777240" y="5303520"/>
            <a:ext cx="10634472" cy="45720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Still to add (P1)</a:t>
            </a:r>
            <a:endParaRPr lang="en-US" sz="2000" dirty="0"/>
          </a:p>
        </p:txBody>
      </p:sp>
      <p:sp>
        <p:nvSpPr>
          <p:cNvPr id="15" name="Text 11"/>
          <p:cNvSpPr txBox="1"/>
          <p:nvPr/>
        </p:nvSpPr>
        <p:spPr>
          <a:xfrm>
            <a:off x="777240" y="5806440"/>
            <a:ext cx="10634472" cy="320040"/>
          </a:xfrm>
          <a:prstGeom prst="rect">
            <a:avLst/>
          </a:prstGeom>
          <a:noFill/>
          <a:ln/>
        </p:spPr>
        <p:txBody>
          <a:bodyPr wrap="square" lIns="0" tIns="0" rIns="0" bIns="0" rtlCol="0" anchor="t"/>
          <a:lstStyle/>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Gemini-assisted accuracy on the same builds, a baseline (for example the LLM without the rules), and live Jenkins runs: TBD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METRICS AGENT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agent: from failure time to evidence</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sp>
        <p:nvSpPr>
          <p:cNvPr id="7" name="card"/>
          <p:cNvSpPr/>
          <p:nvPr/>
        </p:nvSpPr>
        <p:spPr>
          <a:xfrm>
            <a:off x="548640"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685800" y="1783080"/>
            <a:ext cx="384048" cy="384048"/>
          </a:xfrm>
          <a:prstGeom prst="ellipse">
            <a:avLst/>
          </a:prstGeom>
          <a:solidFill>
            <a:srgbClr val="1F8A8A"/>
          </a:solidFill>
          <a:ln w="12700">
            <a:solidFill>
              <a:srgbClr val="1F8A8A"/>
            </a:solidFill>
            <a:prstDash val="solid"/>
          </a:ln>
        </p:spPr>
      </p:sp>
      <p:sp>
        <p:nvSpPr>
          <p:cNvPr id="9" name="Text 6"/>
          <p:cNvSpPr txBox="1"/>
          <p:nvPr/>
        </p:nvSpPr>
        <p:spPr>
          <a:xfrm>
            <a:off x="68580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685800"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Window</a:t>
            </a:r>
            <a:endParaRPr lang="en-US" sz="1800" dirty="0"/>
          </a:p>
        </p:txBody>
      </p:sp>
      <p:sp>
        <p:nvSpPr>
          <p:cNvPr id="11" name="Text 8"/>
          <p:cNvSpPr txBox="1"/>
          <p:nvPr/>
        </p:nvSpPr>
        <p:spPr>
          <a:xfrm>
            <a:off x="685800"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5 min before and 60 s after the failure, plus a 10 min baseline</a:t>
            </a:r>
            <a:endParaRPr lang="en-US" sz="1200" dirty="0"/>
          </a:p>
        </p:txBody>
      </p:sp>
      <p:sp>
        <p:nvSpPr>
          <p:cNvPr id="12" name="arrow"/>
          <p:cNvSpPr/>
          <p:nvPr/>
        </p:nvSpPr>
        <p:spPr>
          <a:xfrm>
            <a:off x="2020824" y="2697480"/>
            <a:ext cx="123444" cy="0"/>
          </a:xfrm>
          <a:prstGeom prst="line">
            <a:avLst/>
          </a:prstGeom>
          <a:noFill/>
          <a:ln w="19050">
            <a:solidFill>
              <a:srgbClr val="C9D3D6"/>
            </a:solidFill>
            <a:prstDash val="solid"/>
            <a:tailEnd type="triangle"/>
          </a:ln>
        </p:spPr>
      </p:sp>
      <p:sp>
        <p:nvSpPr>
          <p:cNvPr id="13" name="card"/>
          <p:cNvSpPr/>
          <p:nvPr/>
        </p:nvSpPr>
        <p:spPr>
          <a:xfrm>
            <a:off x="2153412"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badge"/>
          <p:cNvSpPr/>
          <p:nvPr/>
        </p:nvSpPr>
        <p:spPr>
          <a:xfrm>
            <a:off x="2290572" y="1783080"/>
            <a:ext cx="384048" cy="384048"/>
          </a:xfrm>
          <a:prstGeom prst="ellipse">
            <a:avLst/>
          </a:prstGeom>
          <a:solidFill>
            <a:srgbClr val="1F8A8A"/>
          </a:solidFill>
          <a:ln w="12700">
            <a:solidFill>
              <a:srgbClr val="1F8A8A"/>
            </a:solidFill>
            <a:prstDash val="solid"/>
          </a:ln>
        </p:spPr>
      </p:sp>
      <p:sp>
        <p:nvSpPr>
          <p:cNvPr id="15" name="Text 12"/>
          <p:cNvSpPr txBox="1"/>
          <p:nvPr/>
        </p:nvSpPr>
        <p:spPr>
          <a:xfrm>
            <a:off x="2290572"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2290572"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Plan</a:t>
            </a:r>
            <a:endParaRPr lang="en-US" sz="1800" dirty="0"/>
          </a:p>
        </p:txBody>
      </p:sp>
      <p:sp>
        <p:nvSpPr>
          <p:cNvPr id="17" name="Text 14"/>
          <p:cNvSpPr txBox="1"/>
          <p:nvPr/>
        </p:nvSpPr>
        <p:spPr>
          <a:xfrm>
            <a:off x="2290572"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Pick queries from a catalog: availability, p95 latency, CPU, memory</a:t>
            </a:r>
            <a:endParaRPr lang="en-US" sz="1200" dirty="0"/>
          </a:p>
        </p:txBody>
      </p:sp>
      <p:sp>
        <p:nvSpPr>
          <p:cNvPr id="18" name="arrow"/>
          <p:cNvSpPr/>
          <p:nvPr/>
        </p:nvSpPr>
        <p:spPr>
          <a:xfrm>
            <a:off x="3625596" y="2697480"/>
            <a:ext cx="123444" cy="0"/>
          </a:xfrm>
          <a:prstGeom prst="line">
            <a:avLst/>
          </a:prstGeom>
          <a:noFill/>
          <a:ln w="19050">
            <a:solidFill>
              <a:srgbClr val="C9D3D6"/>
            </a:solidFill>
            <a:prstDash val="solid"/>
            <a:tailEnd type="triangle"/>
          </a:ln>
        </p:spPr>
      </p:sp>
      <p:sp>
        <p:nvSpPr>
          <p:cNvPr id="19" name="card"/>
          <p:cNvSpPr/>
          <p:nvPr/>
        </p:nvSpPr>
        <p:spPr>
          <a:xfrm>
            <a:off x="3758184"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badge"/>
          <p:cNvSpPr/>
          <p:nvPr/>
        </p:nvSpPr>
        <p:spPr>
          <a:xfrm>
            <a:off x="3895344" y="1783080"/>
            <a:ext cx="384048" cy="384048"/>
          </a:xfrm>
          <a:prstGeom prst="ellipse">
            <a:avLst/>
          </a:prstGeom>
          <a:solidFill>
            <a:srgbClr val="1F8A8A"/>
          </a:solidFill>
          <a:ln w="12700">
            <a:solidFill>
              <a:srgbClr val="1F8A8A"/>
            </a:solidFill>
            <a:prstDash val="solid"/>
          </a:ln>
        </p:spPr>
      </p:sp>
      <p:sp>
        <p:nvSpPr>
          <p:cNvPr id="21" name="Text 18"/>
          <p:cNvSpPr txBox="1"/>
          <p:nvPr/>
        </p:nvSpPr>
        <p:spPr>
          <a:xfrm>
            <a:off x="3895344"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3895344"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Query</a:t>
            </a:r>
            <a:endParaRPr lang="en-US" sz="1800" dirty="0"/>
          </a:p>
        </p:txBody>
      </p:sp>
      <p:sp>
        <p:nvSpPr>
          <p:cNvPr id="23" name="Text 20"/>
          <p:cNvSpPr txBox="1"/>
          <p:nvPr/>
        </p:nvSpPr>
        <p:spPr>
          <a:xfrm>
            <a:off x="3895344"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Prometheus range query with timeout and bounded retry</a:t>
            </a:r>
            <a:endParaRPr lang="en-US" sz="1200" dirty="0"/>
          </a:p>
        </p:txBody>
      </p:sp>
      <p:sp>
        <p:nvSpPr>
          <p:cNvPr id="24" name="arrow"/>
          <p:cNvSpPr/>
          <p:nvPr/>
        </p:nvSpPr>
        <p:spPr>
          <a:xfrm>
            <a:off x="5230368" y="2697480"/>
            <a:ext cx="123444" cy="0"/>
          </a:xfrm>
          <a:prstGeom prst="line">
            <a:avLst/>
          </a:prstGeom>
          <a:noFill/>
          <a:ln w="19050">
            <a:solidFill>
              <a:srgbClr val="C9D3D6"/>
            </a:solidFill>
            <a:prstDash val="solid"/>
            <a:tailEnd type="triangle"/>
          </a:ln>
        </p:spPr>
      </p:sp>
      <p:sp>
        <p:nvSpPr>
          <p:cNvPr id="25" name="card"/>
          <p:cNvSpPr/>
          <p:nvPr/>
        </p:nvSpPr>
        <p:spPr>
          <a:xfrm>
            <a:off x="5362956"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6" name="badge"/>
          <p:cNvSpPr/>
          <p:nvPr/>
        </p:nvSpPr>
        <p:spPr>
          <a:xfrm>
            <a:off x="5500116" y="1783080"/>
            <a:ext cx="384048" cy="384048"/>
          </a:xfrm>
          <a:prstGeom prst="ellipse">
            <a:avLst/>
          </a:prstGeom>
          <a:solidFill>
            <a:srgbClr val="E8A33D"/>
          </a:solidFill>
          <a:ln w="12700">
            <a:solidFill>
              <a:srgbClr val="E8A33D"/>
            </a:solidFill>
            <a:prstDash val="solid"/>
          </a:ln>
        </p:spPr>
      </p:sp>
      <p:sp>
        <p:nvSpPr>
          <p:cNvPr id="27" name="Text 24"/>
          <p:cNvSpPr txBox="1"/>
          <p:nvPr/>
        </p:nvSpPr>
        <p:spPr>
          <a:xfrm>
            <a:off x="5500116"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5"/>
          <p:cNvSpPr txBox="1"/>
          <p:nvPr/>
        </p:nvSpPr>
        <p:spPr>
          <a:xfrm>
            <a:off x="5500116"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Sanity</a:t>
            </a:r>
            <a:endParaRPr lang="en-US" sz="1800" dirty="0"/>
          </a:p>
        </p:txBody>
      </p:sp>
      <p:sp>
        <p:nvSpPr>
          <p:cNvPr id="29" name="Text 26"/>
          <p:cNvSpPr txBox="1"/>
          <p:nvPr/>
        </p:nvSpPr>
        <p:spPr>
          <a:xfrm>
            <a:off x="5500116"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Empty, thin, stale or out-of-range data is rejected</a:t>
            </a:r>
            <a:endParaRPr lang="en-US" sz="1200" dirty="0"/>
          </a:p>
        </p:txBody>
      </p:sp>
      <p:sp>
        <p:nvSpPr>
          <p:cNvPr id="30" name="arrow"/>
          <p:cNvSpPr/>
          <p:nvPr/>
        </p:nvSpPr>
        <p:spPr>
          <a:xfrm>
            <a:off x="6835140" y="2697480"/>
            <a:ext cx="123444" cy="0"/>
          </a:xfrm>
          <a:prstGeom prst="line">
            <a:avLst/>
          </a:prstGeom>
          <a:noFill/>
          <a:ln w="19050">
            <a:solidFill>
              <a:srgbClr val="C9D3D6"/>
            </a:solidFill>
            <a:prstDash val="solid"/>
            <a:tailEnd type="triangle"/>
          </a:ln>
        </p:spPr>
      </p:sp>
      <p:sp>
        <p:nvSpPr>
          <p:cNvPr id="31" name="card"/>
          <p:cNvSpPr/>
          <p:nvPr/>
        </p:nvSpPr>
        <p:spPr>
          <a:xfrm>
            <a:off x="6967728"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32" name="badge"/>
          <p:cNvSpPr/>
          <p:nvPr/>
        </p:nvSpPr>
        <p:spPr>
          <a:xfrm>
            <a:off x="7104888" y="1783080"/>
            <a:ext cx="384048" cy="384048"/>
          </a:xfrm>
          <a:prstGeom prst="ellipse">
            <a:avLst/>
          </a:prstGeom>
          <a:solidFill>
            <a:srgbClr val="1F8A8A"/>
          </a:solidFill>
          <a:ln w="12700">
            <a:solidFill>
              <a:srgbClr val="1F8A8A"/>
            </a:solidFill>
            <a:prstDash val="solid"/>
          </a:ln>
        </p:spPr>
      </p:sp>
      <p:sp>
        <p:nvSpPr>
          <p:cNvPr id="33" name="Text 30"/>
          <p:cNvSpPr txBox="1"/>
          <p:nvPr/>
        </p:nvSpPr>
        <p:spPr>
          <a:xfrm>
            <a:off x="7104888"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4" name="Text 31"/>
          <p:cNvSpPr txBox="1"/>
          <p:nvPr/>
        </p:nvSpPr>
        <p:spPr>
          <a:xfrm>
            <a:off x="7104888"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Detect</a:t>
            </a:r>
            <a:endParaRPr lang="en-US" sz="1800" dirty="0"/>
          </a:p>
        </p:txBody>
      </p:sp>
      <p:sp>
        <p:nvSpPr>
          <p:cNvPr id="35" name="Text 32"/>
          <p:cNvSpPr txBox="1"/>
          <p:nvPr/>
        </p:nvSpPr>
        <p:spPr>
          <a:xfrm>
            <a:off x="7104888"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Anomaly versus baseline, with persistence</a:t>
            </a:r>
            <a:endParaRPr lang="en-US" sz="1200" dirty="0"/>
          </a:p>
        </p:txBody>
      </p:sp>
      <p:sp>
        <p:nvSpPr>
          <p:cNvPr id="36" name="arrow"/>
          <p:cNvSpPr/>
          <p:nvPr/>
        </p:nvSpPr>
        <p:spPr>
          <a:xfrm>
            <a:off x="8439912" y="2697480"/>
            <a:ext cx="123444" cy="0"/>
          </a:xfrm>
          <a:prstGeom prst="line">
            <a:avLst/>
          </a:prstGeom>
          <a:noFill/>
          <a:ln w="19050">
            <a:solidFill>
              <a:srgbClr val="C9D3D6"/>
            </a:solidFill>
            <a:prstDash val="solid"/>
            <a:tailEnd type="triangle"/>
          </a:ln>
        </p:spPr>
      </p:sp>
      <p:sp>
        <p:nvSpPr>
          <p:cNvPr id="37" name="card"/>
          <p:cNvSpPr/>
          <p:nvPr/>
        </p:nvSpPr>
        <p:spPr>
          <a:xfrm>
            <a:off x="8572500"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38" name="badge"/>
          <p:cNvSpPr/>
          <p:nvPr/>
        </p:nvSpPr>
        <p:spPr>
          <a:xfrm>
            <a:off x="8709660" y="1783080"/>
            <a:ext cx="384048" cy="384048"/>
          </a:xfrm>
          <a:prstGeom prst="ellipse">
            <a:avLst/>
          </a:prstGeom>
          <a:solidFill>
            <a:srgbClr val="1F8A8A"/>
          </a:solidFill>
          <a:ln w="12700">
            <a:solidFill>
              <a:srgbClr val="1F8A8A"/>
            </a:solidFill>
            <a:prstDash val="solid"/>
          </a:ln>
        </p:spPr>
      </p:sp>
      <p:sp>
        <p:nvSpPr>
          <p:cNvPr id="39" name="Text 36"/>
          <p:cNvSpPr txBox="1"/>
          <p:nvPr/>
        </p:nvSpPr>
        <p:spPr>
          <a:xfrm>
            <a:off x="870966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0" name="Text 37"/>
          <p:cNvSpPr txBox="1"/>
          <p:nvPr/>
        </p:nvSpPr>
        <p:spPr>
          <a:xfrm>
            <a:off x="8709660"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Correlate</a:t>
            </a:r>
            <a:endParaRPr lang="en-US" sz="1800" dirty="0"/>
          </a:p>
        </p:txBody>
      </p:sp>
      <p:sp>
        <p:nvSpPr>
          <p:cNvPr id="41" name="Text 38"/>
          <p:cNvSpPr txBox="1"/>
          <p:nvPr/>
        </p:nvSpPr>
        <p:spPr>
          <a:xfrm>
            <a:off x="8709660"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Metrics that move together strengthen one hypothesis</a:t>
            </a:r>
            <a:endParaRPr lang="en-US" sz="1200" dirty="0"/>
          </a:p>
        </p:txBody>
      </p:sp>
      <p:sp>
        <p:nvSpPr>
          <p:cNvPr id="42" name="arrow"/>
          <p:cNvSpPr/>
          <p:nvPr/>
        </p:nvSpPr>
        <p:spPr>
          <a:xfrm>
            <a:off x="10044684" y="2697480"/>
            <a:ext cx="123444" cy="0"/>
          </a:xfrm>
          <a:prstGeom prst="line">
            <a:avLst/>
          </a:prstGeom>
          <a:noFill/>
          <a:ln w="19050">
            <a:solidFill>
              <a:srgbClr val="C9D3D6"/>
            </a:solidFill>
            <a:prstDash val="solid"/>
            <a:tailEnd type="triangle"/>
          </a:ln>
        </p:spPr>
      </p:sp>
      <p:sp>
        <p:nvSpPr>
          <p:cNvPr id="43" name="card"/>
          <p:cNvSpPr/>
          <p:nvPr/>
        </p:nvSpPr>
        <p:spPr>
          <a:xfrm>
            <a:off x="10177272" y="1645920"/>
            <a:ext cx="1463040" cy="2148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44" name="badge"/>
          <p:cNvSpPr/>
          <p:nvPr/>
        </p:nvSpPr>
        <p:spPr>
          <a:xfrm>
            <a:off x="10314432" y="1783080"/>
            <a:ext cx="384048" cy="384048"/>
          </a:xfrm>
          <a:prstGeom prst="ellipse">
            <a:avLst/>
          </a:prstGeom>
          <a:solidFill>
            <a:srgbClr val="1F8A8A"/>
          </a:solidFill>
          <a:ln w="12700">
            <a:solidFill>
              <a:srgbClr val="1F8A8A"/>
            </a:solidFill>
            <a:prstDash val="solid"/>
          </a:ln>
        </p:spPr>
      </p:sp>
      <p:sp>
        <p:nvSpPr>
          <p:cNvPr id="45" name="Text 42"/>
          <p:cNvSpPr txBox="1"/>
          <p:nvPr/>
        </p:nvSpPr>
        <p:spPr>
          <a:xfrm>
            <a:off x="10314432"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6" name="Text 43"/>
          <p:cNvSpPr txBox="1"/>
          <p:nvPr/>
        </p:nvSpPr>
        <p:spPr>
          <a:xfrm>
            <a:off x="10314432" y="2286000"/>
            <a:ext cx="118872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Evidence</a:t>
            </a:r>
            <a:endParaRPr lang="en-US" sz="1800" dirty="0"/>
          </a:p>
        </p:txBody>
      </p:sp>
      <p:sp>
        <p:nvSpPr>
          <p:cNvPr id="47" name="Text 44"/>
          <p:cNvSpPr txBox="1"/>
          <p:nvPr/>
        </p:nvSpPr>
        <p:spPr>
          <a:xfrm>
            <a:off x="10314432" y="2697480"/>
            <a:ext cx="1188720" cy="105156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Ranked hypotheses, confidence, and audit trail</a:t>
            </a:r>
            <a:endParaRPr lang="en-US" sz="1200" dirty="0"/>
          </a:p>
        </p:txBody>
      </p:sp>
      <p:sp>
        <p:nvSpPr>
          <p:cNvPr id="48" name="card"/>
          <p:cNvSpPr/>
          <p:nvPr/>
        </p:nvSpPr>
        <p:spPr>
          <a:xfrm>
            <a:off x="548640" y="4114800"/>
            <a:ext cx="3566160" cy="1920240"/>
          </a:xfrm>
          <a:prstGeom prst="rect">
            <a:avLst/>
          </a:prstGeom>
          <a:solidFill>
            <a:srgbClr val="DCEEEC"/>
          </a:solidFill>
          <a:ln w="9525">
            <a:solidFill>
              <a:srgbClr val="DCEEEC"/>
            </a:solidFill>
            <a:prstDash val="solid"/>
          </a:ln>
        </p:spPr>
      </p:sp>
      <p:sp>
        <p:nvSpPr>
          <p:cNvPr id="49" name="Text 46"/>
          <p:cNvSpPr txBox="1"/>
          <p:nvPr/>
        </p:nvSpPr>
        <p:spPr>
          <a:xfrm>
            <a:off x="777240" y="4251960"/>
            <a:ext cx="31089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Spike</a:t>
            </a:r>
            <a:endParaRPr lang="en-US" sz="1800" dirty="0"/>
          </a:p>
        </p:txBody>
      </p:sp>
      <p:sp>
        <p:nvSpPr>
          <p:cNvPr id="50" name="Text 47"/>
          <p:cNvSpPr txBox="1"/>
          <p:nvPr/>
        </p:nvSpPr>
        <p:spPr>
          <a:xfrm>
            <a:off x="777240" y="4663440"/>
            <a:ext cx="3108960" cy="10058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Robust z-score from the median and MAD of the baseline. Fires at z of 6 or more and a minimum absolute change.</a:t>
            </a:r>
            <a:endParaRPr lang="en-US" sz="1400" dirty="0"/>
          </a:p>
        </p:txBody>
      </p:sp>
      <p:sp>
        <p:nvSpPr>
          <p:cNvPr id="51" name="Text 48"/>
          <p:cNvSpPr txBox="1"/>
          <p:nvPr/>
        </p:nvSpPr>
        <p:spPr>
          <a:xfrm>
            <a:off x="777240" y="5669280"/>
            <a:ext cx="3108960" cy="274320"/>
          </a:xfrm>
          <a:prstGeom prst="rect">
            <a:avLst/>
          </a:prstGeom>
          <a:noFill/>
          <a:ln/>
        </p:spPr>
        <p:txBody>
          <a:bodyPr wrap="square" lIns="0" tIns="0" rIns="0" bIns="0" rtlCol="0" anchor="t"/>
          <a:lstStyle/>
          <a:p>
            <a:pPr indent="0" marL="0">
              <a:buNone/>
            </a:pPr>
            <a:r>
              <a:rPr lang="en-US" sz="1200" b="1" dirty="0">
                <a:solidFill>
                  <a:srgbClr val="1F8A8A"/>
                </a:solidFill>
                <a:latin typeface="Calibri" pitchFamily="34" charset="0"/>
                <a:ea typeface="Calibri" pitchFamily="34" charset="-122"/>
                <a:cs typeface="Calibri" pitchFamily="34" charset="-120"/>
              </a:rPr>
              <a:t>Applies to: Latency, CPU</a:t>
            </a:r>
            <a:endParaRPr lang="en-US" sz="1200" dirty="0"/>
          </a:p>
        </p:txBody>
      </p:sp>
      <p:sp>
        <p:nvSpPr>
          <p:cNvPr id="52" name="card"/>
          <p:cNvSpPr/>
          <p:nvPr/>
        </p:nvSpPr>
        <p:spPr>
          <a:xfrm>
            <a:off x="4297680" y="4114800"/>
            <a:ext cx="3566160" cy="1920240"/>
          </a:xfrm>
          <a:prstGeom prst="rect">
            <a:avLst/>
          </a:prstGeom>
          <a:solidFill>
            <a:srgbClr val="DCEEEC"/>
          </a:solidFill>
          <a:ln w="9525">
            <a:solidFill>
              <a:srgbClr val="DCEEEC"/>
            </a:solidFill>
            <a:prstDash val="solid"/>
          </a:ln>
        </p:spPr>
      </p:sp>
      <p:sp>
        <p:nvSpPr>
          <p:cNvPr id="53" name="Text 50"/>
          <p:cNvSpPr txBox="1"/>
          <p:nvPr/>
        </p:nvSpPr>
        <p:spPr>
          <a:xfrm>
            <a:off x="4526280" y="4251960"/>
            <a:ext cx="31089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Sustained increase</a:t>
            </a:r>
            <a:endParaRPr lang="en-US" sz="1800" dirty="0"/>
          </a:p>
        </p:txBody>
      </p:sp>
      <p:sp>
        <p:nvSpPr>
          <p:cNvPr id="54" name="Text 51"/>
          <p:cNvSpPr txBox="1"/>
          <p:nvPr/>
        </p:nvSpPr>
        <p:spPr>
          <a:xfrm>
            <a:off x="4526280" y="4663440"/>
            <a:ext cx="3108960" cy="10058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Final level above baseline by a minimum amount while most steps do not decrease.</a:t>
            </a:r>
            <a:endParaRPr lang="en-US" sz="1400" dirty="0"/>
          </a:p>
        </p:txBody>
      </p:sp>
      <p:sp>
        <p:nvSpPr>
          <p:cNvPr id="55" name="Text 52"/>
          <p:cNvSpPr txBox="1"/>
          <p:nvPr/>
        </p:nvSpPr>
        <p:spPr>
          <a:xfrm>
            <a:off x="4526280" y="5669280"/>
            <a:ext cx="3108960" cy="274320"/>
          </a:xfrm>
          <a:prstGeom prst="rect">
            <a:avLst/>
          </a:prstGeom>
          <a:noFill/>
          <a:ln/>
        </p:spPr>
        <p:txBody>
          <a:bodyPr wrap="square" lIns="0" tIns="0" rIns="0" bIns="0" rtlCol="0" anchor="t"/>
          <a:lstStyle/>
          <a:p>
            <a:pPr indent="0" marL="0">
              <a:buNone/>
            </a:pPr>
            <a:r>
              <a:rPr lang="en-US" sz="1200" b="1" dirty="0">
                <a:solidFill>
                  <a:srgbClr val="1F8A8A"/>
                </a:solidFill>
                <a:latin typeface="Calibri" pitchFamily="34" charset="0"/>
                <a:ea typeface="Calibri" pitchFamily="34" charset="-122"/>
                <a:cs typeface="Calibri" pitchFamily="34" charset="-120"/>
              </a:rPr>
              <a:t>Applies to: Memory</a:t>
            </a:r>
            <a:endParaRPr lang="en-US" sz="1200" dirty="0"/>
          </a:p>
        </p:txBody>
      </p:sp>
      <p:sp>
        <p:nvSpPr>
          <p:cNvPr id="56" name="card"/>
          <p:cNvSpPr/>
          <p:nvPr/>
        </p:nvSpPr>
        <p:spPr>
          <a:xfrm>
            <a:off x="8046720" y="4114800"/>
            <a:ext cx="3566160" cy="1920240"/>
          </a:xfrm>
          <a:prstGeom prst="rect">
            <a:avLst/>
          </a:prstGeom>
          <a:solidFill>
            <a:srgbClr val="DCEEEC"/>
          </a:solidFill>
          <a:ln w="9525">
            <a:solidFill>
              <a:srgbClr val="DCEEEC"/>
            </a:solidFill>
            <a:prstDash val="solid"/>
          </a:ln>
        </p:spPr>
      </p:sp>
      <p:sp>
        <p:nvSpPr>
          <p:cNvPr id="57" name="Text 54"/>
          <p:cNvSpPr txBox="1"/>
          <p:nvPr/>
        </p:nvSpPr>
        <p:spPr>
          <a:xfrm>
            <a:off x="8275320" y="4251960"/>
            <a:ext cx="31089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Availability</a:t>
            </a:r>
            <a:endParaRPr lang="en-US" sz="1800" dirty="0"/>
          </a:p>
        </p:txBody>
      </p:sp>
      <p:sp>
        <p:nvSpPr>
          <p:cNvPr id="58" name="Text 55"/>
          <p:cNvSpPr txBox="1"/>
          <p:nvPr/>
        </p:nvSpPr>
        <p:spPr>
          <a:xfrm>
            <a:off x="8275320" y="4663440"/>
            <a:ext cx="3108960" cy="100584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Any sample where the target is down in the incident window.</a:t>
            </a:r>
            <a:endParaRPr lang="en-US" sz="1400" dirty="0"/>
          </a:p>
        </p:txBody>
      </p:sp>
      <p:sp>
        <p:nvSpPr>
          <p:cNvPr id="59" name="Text 56"/>
          <p:cNvSpPr txBox="1"/>
          <p:nvPr/>
        </p:nvSpPr>
        <p:spPr>
          <a:xfrm>
            <a:off x="8275320" y="5669280"/>
            <a:ext cx="3108960" cy="274320"/>
          </a:xfrm>
          <a:prstGeom prst="rect">
            <a:avLst/>
          </a:prstGeom>
          <a:noFill/>
          <a:ln/>
        </p:spPr>
        <p:txBody>
          <a:bodyPr wrap="square" lIns="0" tIns="0" rIns="0" bIns="0" rtlCol="0" anchor="t"/>
          <a:lstStyle/>
          <a:p>
            <a:pPr indent="0" marL="0">
              <a:buNone/>
            </a:pPr>
            <a:r>
              <a:rPr lang="en-US" sz="1200" b="1" dirty="0">
                <a:solidFill>
                  <a:srgbClr val="1F8A8A"/>
                </a:solidFill>
                <a:latin typeface="Calibri" pitchFamily="34" charset="0"/>
                <a:ea typeface="Calibri" pitchFamily="34" charset="-122"/>
                <a:cs typeface="Calibri" pitchFamily="34" charset="-120"/>
              </a:rPr>
              <a:t>Applies to: Up / down</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EXPERIMENT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inject known faults, compare systems</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309360" cy="914400"/>
        </p:xfrm>
        <a:graphic>
          <a:graphicData uri="http://schemas.openxmlformats.org/drawingml/2006/table">
            <a:tbl>
              <a:tblPr/>
              <a:tblGrid>
                <a:gridCol w="1737360"/>
                <a:gridCol w="2194560"/>
                <a:gridCol w="237744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Injected fault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Correct label</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475488">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Slow responses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/slow?delay=2</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timeout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CPU burn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/cpu?seconds=4</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resource_exhaustion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Memory leak</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/leak, 1 MiB per call</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resource_exhaustion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Target down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scenario only</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infra_network_failure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Healthy run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normal traffic</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unknown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754880"/>
            <a:ext cx="6309360" cy="640080"/>
          </a:xfrm>
          <a:prstGeom prst="rect">
            <a:avLst/>
          </a:prstGeom>
          <a:noFill/>
          <a:ln/>
        </p:spPr>
        <p:txBody>
          <a:bodyPr wrap="square" lIns="0" tIns="0" rIns="0" bIns="0" rtlCol="0" anchor="t"/>
          <a:lstStyle/>
          <a:p>
            <a:pPr indent="0" marL="0">
              <a:buNone/>
            </a:pPr>
            <a:r>
              <a:rPr lang="en-US" sz="1500" i="1" dirty="0">
                <a:solidFill>
                  <a:srgbClr val="566770"/>
                </a:solidFill>
                <a:latin typeface="Calibri" pitchFamily="34" charset="0"/>
                <a:ea typeface="Calibri" pitchFamily="34" charset="-122"/>
                <a:cs typeface="Calibri" pitchFamily="34" charset="-120"/>
              </a:rPr>
              <a:t>Each fault is a known ground-truth label, so every verdict can be scored.</a:t>
            </a:r>
            <a:endParaRPr lang="en-US" sz="1500" dirty="0"/>
          </a:p>
        </p:txBody>
      </p:sp>
      <p:sp>
        <p:nvSpPr>
          <p:cNvPr id="9" name="card"/>
          <p:cNvSpPr/>
          <p:nvPr/>
        </p:nvSpPr>
        <p:spPr>
          <a:xfrm>
            <a:off x="7132320" y="1691640"/>
            <a:ext cx="4507992" cy="11887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7360920" y="1819656"/>
            <a:ext cx="4023360" cy="228600"/>
          </a:xfrm>
          <a:prstGeom prst="rect">
            <a:avLst/>
          </a:prstGeom>
          <a:noFill/>
          <a:ln/>
        </p:spPr>
        <p:txBody>
          <a:bodyPr wrap="square" lIns="0" tIns="0" rIns="0" bIns="0" rtlCol="0" anchor="t"/>
          <a:lstStyle/>
          <a:p>
            <a:pPr indent="0" marL="0">
              <a:buNone/>
            </a:pPr>
            <a:r>
              <a:rPr lang="en-US" sz="1100" b="1" spc="200" kern="0" dirty="0">
                <a:solidFill>
                  <a:srgbClr val="1F8A8A"/>
                </a:solidFill>
                <a:latin typeface="Calibri" pitchFamily="34" charset="0"/>
                <a:ea typeface="Calibri" pitchFamily="34" charset="-122"/>
                <a:cs typeface="Calibri" pitchFamily="34" charset="-120"/>
              </a:rPr>
              <a:t>EVIDENCE SET A</a:t>
            </a:r>
            <a:endParaRPr lang="en-US" sz="1100" dirty="0"/>
          </a:p>
        </p:txBody>
      </p:sp>
      <p:sp>
        <p:nvSpPr>
          <p:cNvPr id="11" name="Text 7"/>
          <p:cNvSpPr txBox="1"/>
          <p:nvPr/>
        </p:nvSpPr>
        <p:spPr>
          <a:xfrm>
            <a:off x="7360920" y="2057400"/>
            <a:ext cx="40233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14 scenarios</a:t>
            </a:r>
            <a:endParaRPr lang="en-US" sz="1800" dirty="0"/>
          </a:p>
        </p:txBody>
      </p:sp>
      <p:sp>
        <p:nvSpPr>
          <p:cNvPr id="12" name="Text 8"/>
          <p:cNvSpPr txBox="1"/>
          <p:nvPr/>
        </p:nvSpPr>
        <p:spPr>
          <a:xfrm>
            <a:off x="7360920" y="2423160"/>
            <a:ext cx="4069080" cy="41148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Recorded fault shapes, including restraint cases: healthy, noisy, glitch, no data, Prometheus down.</a:t>
            </a:r>
            <a:endParaRPr lang="en-US" sz="1200" dirty="0"/>
          </a:p>
        </p:txBody>
      </p:sp>
      <p:sp>
        <p:nvSpPr>
          <p:cNvPr id="13" name="card"/>
          <p:cNvSpPr/>
          <p:nvPr/>
        </p:nvSpPr>
        <p:spPr>
          <a:xfrm>
            <a:off x="7132320" y="3017520"/>
            <a:ext cx="4507992" cy="11887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0"/>
          <p:cNvSpPr txBox="1"/>
          <p:nvPr/>
        </p:nvSpPr>
        <p:spPr>
          <a:xfrm>
            <a:off x="7360920" y="3145536"/>
            <a:ext cx="4023360" cy="228600"/>
          </a:xfrm>
          <a:prstGeom prst="rect">
            <a:avLst/>
          </a:prstGeom>
          <a:noFill/>
          <a:ln/>
        </p:spPr>
        <p:txBody>
          <a:bodyPr wrap="square" lIns="0" tIns="0" rIns="0" bIns="0" rtlCol="0" anchor="t"/>
          <a:lstStyle/>
          <a:p>
            <a:pPr indent="0" marL="0">
              <a:buNone/>
            </a:pPr>
            <a:r>
              <a:rPr lang="en-US" sz="1100" b="1" spc="200" kern="0" dirty="0">
                <a:solidFill>
                  <a:srgbClr val="1F8A8A"/>
                </a:solidFill>
                <a:latin typeface="Calibri" pitchFamily="34" charset="0"/>
                <a:ea typeface="Calibri" pitchFamily="34" charset="-122"/>
                <a:cs typeface="Calibri" pitchFamily="34" charset="-120"/>
              </a:rPr>
              <a:t>EVIDENCE SET B</a:t>
            </a:r>
            <a:endParaRPr lang="en-US" sz="1100" dirty="0"/>
          </a:p>
        </p:txBody>
      </p:sp>
      <p:sp>
        <p:nvSpPr>
          <p:cNvPr id="15" name="Text 11"/>
          <p:cNvSpPr txBox="1"/>
          <p:nvPr/>
        </p:nvSpPr>
        <p:spPr>
          <a:xfrm>
            <a:off x="7360920" y="3383280"/>
            <a:ext cx="40233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26-case severity sweep</a:t>
            </a:r>
            <a:endParaRPr lang="en-US" sz="1800" dirty="0"/>
          </a:p>
        </p:txBody>
      </p:sp>
      <p:sp>
        <p:nvSpPr>
          <p:cNvPr id="16" name="Text 12"/>
          <p:cNvSpPr txBox="1"/>
          <p:nvPr/>
        </p:nvSpPr>
        <p:spPr>
          <a:xfrm>
            <a:off x="7360920" y="3749040"/>
            <a:ext cx="4069080" cy="41148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Fault size and noise varied to find where detection starts.</a:t>
            </a:r>
            <a:endParaRPr lang="en-US" sz="1200" dirty="0"/>
          </a:p>
        </p:txBody>
      </p:sp>
      <p:sp>
        <p:nvSpPr>
          <p:cNvPr id="17" name="card"/>
          <p:cNvSpPr/>
          <p:nvPr/>
        </p:nvSpPr>
        <p:spPr>
          <a:xfrm>
            <a:off x="7132320" y="4343400"/>
            <a:ext cx="4507992" cy="1188720"/>
          </a:xfrm>
          <a:prstGeom prst="rect">
            <a:avLst/>
          </a:prstGeom>
          <a:solidFill>
            <a:srgbClr val="FBEFD9"/>
          </a:solidFill>
          <a:ln w="19050">
            <a:solidFill>
              <a:srgbClr val="E8A33D"/>
            </a:solidFill>
            <a:prstDash val="dash"/>
          </a:ln>
        </p:spPr>
      </p:sp>
      <p:sp>
        <p:nvSpPr>
          <p:cNvPr id="18" name="Text 14"/>
          <p:cNvSpPr txBox="1"/>
          <p:nvPr/>
        </p:nvSpPr>
        <p:spPr>
          <a:xfrm>
            <a:off x="7360920" y="4471416"/>
            <a:ext cx="4023360" cy="228600"/>
          </a:xfrm>
          <a:prstGeom prst="rect">
            <a:avLst/>
          </a:prstGeom>
          <a:noFill/>
          <a:ln/>
        </p:spPr>
        <p:txBody>
          <a:bodyPr wrap="square" lIns="0" tIns="0" rIns="0" bIns="0" rtlCol="0" anchor="t"/>
          <a:lstStyle/>
          <a:p>
            <a:pPr indent="0" marL="0">
              <a:buNone/>
            </a:pPr>
            <a:r>
              <a:rPr lang="en-US" sz="1100" b="1" spc="200" kern="0" dirty="0">
                <a:solidFill>
                  <a:srgbClr val="9A6A12"/>
                </a:solidFill>
                <a:latin typeface="Calibri" pitchFamily="34" charset="0"/>
                <a:ea typeface="Calibri" pitchFamily="34" charset="-122"/>
                <a:cs typeface="Calibri" pitchFamily="34" charset="-120"/>
              </a:rPr>
              <a:t>EVIDENCE SET C</a:t>
            </a:r>
            <a:endParaRPr lang="en-US" sz="1100" dirty="0"/>
          </a:p>
        </p:txBody>
      </p:sp>
      <p:sp>
        <p:nvSpPr>
          <p:cNvPr id="19" name="Text 15"/>
          <p:cNvSpPr txBox="1"/>
          <p:nvPr/>
        </p:nvSpPr>
        <p:spPr>
          <a:xfrm>
            <a:off x="7360920" y="4709160"/>
            <a:ext cx="40233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Live runs</a:t>
            </a:r>
            <a:endParaRPr lang="en-US" sz="1800" dirty="0"/>
          </a:p>
        </p:txBody>
      </p:sp>
      <p:sp>
        <p:nvSpPr>
          <p:cNvPr id="20" name="Text 16"/>
          <p:cNvSpPr txBox="1"/>
          <p:nvPr/>
        </p:nvSpPr>
        <p:spPr>
          <a:xfrm>
            <a:off x="7360920" y="5074920"/>
            <a:ext cx="4069080" cy="41148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Real stack with injected faults and labels. To be collected.</a:t>
            </a:r>
            <a:endParaRPr lang="en-US" sz="1200" dirty="0"/>
          </a:p>
        </p:txBody>
      </p:sp>
      <p:sp>
        <p:nvSpPr>
          <p:cNvPr id="21" name="card"/>
          <p:cNvSpPr/>
          <p:nvPr/>
        </p:nvSpPr>
        <p:spPr>
          <a:xfrm>
            <a:off x="548640" y="5715000"/>
            <a:ext cx="11091672" cy="548640"/>
          </a:xfrm>
          <a:prstGeom prst="rect">
            <a:avLst/>
          </a:prstGeom>
          <a:solidFill>
            <a:srgbClr val="DCEEEC"/>
          </a:solidFill>
          <a:ln w="9525">
            <a:solidFill>
              <a:srgbClr val="DCEEEC"/>
            </a:solidFill>
            <a:prstDash val="solid"/>
          </a:ln>
        </p:spPr>
      </p:sp>
      <p:sp>
        <p:nvSpPr>
          <p:cNvPr id="22" name="Text 18"/>
          <p:cNvSpPr txBox="1"/>
          <p:nvPr/>
        </p:nvSpPr>
        <p:spPr>
          <a:xfrm>
            <a:off x="822960" y="5715000"/>
            <a:ext cx="10543032" cy="548640"/>
          </a:xfrm>
          <a:prstGeom prst="rect">
            <a:avLst/>
          </a:prstGeom>
          <a:noFill/>
          <a:ln/>
        </p:spPr>
        <p:txBody>
          <a:bodyPr wrap="square" lIns="0" tIns="0" rIns="0" bIns="0" rtlCol="0" anchor="ctr"/>
          <a:lstStyle/>
          <a:p>
            <a:pPr indent="0" marL="0">
              <a:buNone/>
            </a:pPr>
            <a:r>
              <a:rPr lang="en-US" sz="1600" b="1" dirty="0">
                <a:solidFill>
                  <a:srgbClr val="12232B"/>
                </a:solidFill>
                <a:latin typeface="Calibri" pitchFamily="34" charset="0"/>
                <a:ea typeface="Calibri" pitchFamily="34" charset="-122"/>
                <a:cs typeface="Calibri" pitchFamily="34" charset="-120"/>
              </a:rPr>
              <a:t>Systems compared: Metrics agent   |   fixed-threshold alerting   |   Gemini given the same data</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EVALUATION SET-UP</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what we measure, on what, against what</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sp>
        <p:nvSpPr>
          <p:cNvPr id="7" name="card"/>
          <p:cNvSpPr/>
          <p:nvPr/>
        </p:nvSpPr>
        <p:spPr>
          <a:xfrm>
            <a:off x="548640"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Metrics</a:t>
            </a:r>
            <a:endParaRPr lang="en-US" sz="2400" dirty="0"/>
          </a:p>
        </p:txBody>
      </p:sp>
      <p:sp>
        <p:nvSpPr>
          <p:cNvPr id="9" name="Text 6"/>
          <p:cNvSpPr txBox="1"/>
          <p:nvPr/>
        </p:nvSpPr>
        <p:spPr>
          <a:xfrm>
            <a:off x="822960"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Accuracy and per-class precision, recall, F1</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Confusion matrix</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Fault recall: right type for real faults</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False-positive rate: a cause named when metrics explain nothing</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Confidence when right versus when wrong</a:t>
            </a:r>
            <a:endParaRPr lang="en-US" sz="1700" dirty="0"/>
          </a:p>
        </p:txBody>
      </p:sp>
      <p:sp>
        <p:nvSpPr>
          <p:cNvPr id="10" name="card"/>
          <p:cNvSpPr/>
          <p:nvPr/>
        </p:nvSpPr>
        <p:spPr>
          <a:xfrm>
            <a:off x="4329684"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4604004"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Evaluation data</a:t>
            </a:r>
            <a:endParaRPr lang="en-US" sz="2400" dirty="0"/>
          </a:p>
        </p:txBody>
      </p:sp>
      <p:sp>
        <p:nvSpPr>
          <p:cNvPr id="12" name="Text 9"/>
          <p:cNvSpPr txBox="1"/>
          <p:nvPr/>
        </p:nvSpPr>
        <p:spPr>
          <a:xfrm>
            <a:off x="4604004"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14 scenarios: 9 faults and 5 cases with no metric cause</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26 sweep cases: 21 faults of rising size and 5 healthy runs of rising noise</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Live runs on the real stack, as labelled by injection</a:t>
            </a:r>
            <a:endParaRPr lang="en-US" sz="1700" dirty="0"/>
          </a:p>
        </p:txBody>
      </p:sp>
      <p:sp>
        <p:nvSpPr>
          <p:cNvPr id="13" name="card"/>
          <p:cNvSpPr/>
          <p:nvPr/>
        </p:nvSpPr>
        <p:spPr>
          <a:xfrm>
            <a:off x="8110728"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385048"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Baselines</a:t>
            </a:r>
            <a:endParaRPr lang="en-US" sz="2400" dirty="0"/>
          </a:p>
        </p:txBody>
      </p:sp>
      <p:sp>
        <p:nvSpPr>
          <p:cNvPr id="15" name="Text 12"/>
          <p:cNvSpPr txBox="1"/>
          <p:nvPr/>
        </p:nvSpPr>
        <p:spPr>
          <a:xfrm>
            <a:off x="8385048"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Threshold: latency over 1 s, CPU over 0.8 cores, memory over 512 MiB, or any availability drop. No baseline period, no persistence</a:t>
            </a:r>
            <a:endParaRPr lang="en-US" sz="1700" dirty="0"/>
          </a:p>
          <a:p>
            <a:pPr marL="203200" indent="-203200">
              <a:spcAft>
                <a:spcPts val="600"/>
              </a:spcAft>
              <a:buSzPct val="100000"/>
              <a:buChar char="•"/>
            </a:pPr>
            <a:r>
              <a:rPr lang="en-US" sz="1700" dirty="0">
                <a:solidFill>
                  <a:srgbClr val="12232B"/>
                </a:solidFill>
                <a:latin typeface="Calibri" pitchFamily="34" charset="0"/>
                <a:ea typeface="Calibri" pitchFamily="34" charset="-122"/>
                <a:cs typeface="Calibri" pitchFamily="34" charset="-120"/>
              </a:rPr>
              <a:t>Gemini 3.5 Flash: same series as text, temperature 0, answers cached</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agent versus threshold alerting</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graphicFrame>
        <p:nvGraphicFramePr>
          <p:cNvPr id="7" name="Chart 0" descr=""/>
          <p:cNvGraphicFramePr/>
          <p:nvPr/>
        </p:nvGraphicFramePr>
        <p:xfrm>
          <a:off x="548640" y="155448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589520" y="1554480"/>
            <a:ext cx="4050792" cy="12344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818120" y="1664208"/>
            <a:ext cx="1737360" cy="1005840"/>
          </a:xfrm>
          <a:prstGeom prst="rect">
            <a:avLst/>
          </a:prstGeom>
          <a:noFill/>
          <a:ln/>
        </p:spPr>
        <p:txBody>
          <a:bodyPr wrap="square" lIns="0" tIns="0" rIns="0" bIns="0" rtlCol="0" anchor="ctr"/>
          <a:lstStyle/>
          <a:p>
            <a:pPr indent="0" marL="0">
              <a:buNone/>
            </a:pPr>
            <a:r>
              <a:rPr lang="en-US" sz="3800" b="1" dirty="0">
                <a:solidFill>
                  <a:srgbClr val="1F8A8A"/>
                </a:solidFill>
                <a:latin typeface="Cambria" pitchFamily="34" charset="0"/>
                <a:ea typeface="Cambria" pitchFamily="34" charset="-122"/>
                <a:cs typeface="Cambria" pitchFamily="34" charset="-120"/>
              </a:rPr>
              <a:t>9 / 9</a:t>
            </a:r>
            <a:endParaRPr lang="en-US" sz="3800" dirty="0"/>
          </a:p>
        </p:txBody>
      </p:sp>
      <p:sp>
        <p:nvSpPr>
          <p:cNvPr id="10" name="Text 6"/>
          <p:cNvSpPr txBox="1"/>
          <p:nvPr/>
        </p:nvSpPr>
        <p:spPr>
          <a:xfrm>
            <a:off x="9601200" y="1737360"/>
            <a:ext cx="1920240" cy="50292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faults named with the right type</a:t>
            </a:r>
            <a:endParaRPr lang="en-US" sz="1400" dirty="0"/>
          </a:p>
        </p:txBody>
      </p:sp>
      <p:sp>
        <p:nvSpPr>
          <p:cNvPr id="11" name="Text 7"/>
          <p:cNvSpPr txBox="1"/>
          <p:nvPr/>
        </p:nvSpPr>
        <p:spPr>
          <a:xfrm>
            <a:off x="9601200" y="2304288"/>
            <a:ext cx="1920240" cy="411480"/>
          </a:xfrm>
          <a:prstGeom prst="rect">
            <a:avLst/>
          </a:prstGeom>
          <a:noFill/>
          <a:ln/>
        </p:spPr>
        <p:txBody>
          <a:bodyPr wrap="square" lIns="0" tIns="0" rIns="0" bIns="0" rtlCol="0" anchor="t"/>
          <a:lstStyle/>
          <a:p>
            <a:pPr indent="0" marL="0">
              <a:buNone/>
            </a:pPr>
            <a:r>
              <a:rPr lang="en-US" sz="1100" dirty="0">
                <a:solidFill>
                  <a:srgbClr val="566770"/>
                </a:solidFill>
                <a:latin typeface="Calibri" pitchFamily="34" charset="0"/>
                <a:ea typeface="Calibri" pitchFamily="34" charset="-122"/>
                <a:cs typeface="Calibri" pitchFamily="34" charset="-120"/>
              </a:rPr>
              <a:t>threshold: 6 / 9, Gemini: 4 / 9</a:t>
            </a:r>
            <a:endParaRPr lang="en-US" sz="1100" dirty="0"/>
          </a:p>
        </p:txBody>
      </p:sp>
      <p:sp>
        <p:nvSpPr>
          <p:cNvPr id="12" name="card"/>
          <p:cNvSpPr/>
          <p:nvPr/>
        </p:nvSpPr>
        <p:spPr>
          <a:xfrm>
            <a:off x="7589520" y="2926080"/>
            <a:ext cx="4050792" cy="12344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7818120" y="3035808"/>
            <a:ext cx="1737360" cy="1005840"/>
          </a:xfrm>
          <a:prstGeom prst="rect">
            <a:avLst/>
          </a:prstGeom>
          <a:noFill/>
          <a:ln/>
        </p:spPr>
        <p:txBody>
          <a:bodyPr wrap="square" lIns="0" tIns="0" rIns="0" bIns="0" rtlCol="0" anchor="ctr"/>
          <a:lstStyle/>
          <a:p>
            <a:pPr indent="0" marL="0">
              <a:buNone/>
            </a:pPr>
            <a:r>
              <a:rPr lang="en-US" sz="3800" b="1" dirty="0">
                <a:solidFill>
                  <a:srgbClr val="1F8A8A"/>
                </a:solidFill>
                <a:latin typeface="Cambria" pitchFamily="34" charset="0"/>
                <a:ea typeface="Cambria" pitchFamily="34" charset="-122"/>
                <a:cs typeface="Cambria" pitchFamily="34" charset="-120"/>
              </a:rPr>
              <a:t>0 / 5</a:t>
            </a:r>
            <a:endParaRPr lang="en-US" sz="3800" dirty="0"/>
          </a:p>
        </p:txBody>
      </p:sp>
      <p:sp>
        <p:nvSpPr>
          <p:cNvPr id="14" name="Text 10"/>
          <p:cNvSpPr txBox="1"/>
          <p:nvPr/>
        </p:nvSpPr>
        <p:spPr>
          <a:xfrm>
            <a:off x="9601200" y="3108960"/>
            <a:ext cx="1920240" cy="50292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false alarms on no-cause cases</a:t>
            </a:r>
            <a:endParaRPr lang="en-US" sz="1400" dirty="0"/>
          </a:p>
        </p:txBody>
      </p:sp>
      <p:sp>
        <p:nvSpPr>
          <p:cNvPr id="15" name="Text 11"/>
          <p:cNvSpPr txBox="1"/>
          <p:nvPr/>
        </p:nvSpPr>
        <p:spPr>
          <a:xfrm>
            <a:off x="9601200" y="3675888"/>
            <a:ext cx="1920240" cy="411480"/>
          </a:xfrm>
          <a:prstGeom prst="rect">
            <a:avLst/>
          </a:prstGeom>
          <a:noFill/>
          <a:ln/>
        </p:spPr>
        <p:txBody>
          <a:bodyPr wrap="square" lIns="0" tIns="0" rIns="0" bIns="0" rtlCol="0" anchor="t"/>
          <a:lstStyle/>
          <a:p>
            <a:pPr indent="0" marL="0">
              <a:buNone/>
            </a:pPr>
            <a:r>
              <a:rPr lang="en-US" sz="1100" dirty="0">
                <a:solidFill>
                  <a:srgbClr val="566770"/>
                </a:solidFill>
                <a:latin typeface="Calibri" pitchFamily="34" charset="0"/>
                <a:ea typeface="Calibri" pitchFamily="34" charset="-122"/>
                <a:cs typeface="Calibri" pitchFamily="34" charset="-120"/>
              </a:rPr>
              <a:t>threshold: 1 / 5, Gemini: 0 / 5</a:t>
            </a:r>
            <a:endParaRPr lang="en-US" sz="1100" dirty="0"/>
          </a:p>
        </p:txBody>
      </p:sp>
      <p:sp>
        <p:nvSpPr>
          <p:cNvPr id="16" name="card"/>
          <p:cNvSpPr/>
          <p:nvPr/>
        </p:nvSpPr>
        <p:spPr>
          <a:xfrm>
            <a:off x="7589520" y="4343400"/>
            <a:ext cx="4050792" cy="1600200"/>
          </a:xfrm>
          <a:prstGeom prst="rect">
            <a:avLst/>
          </a:prstGeom>
          <a:solidFill>
            <a:srgbClr val="DCEEEC"/>
          </a:solidFill>
          <a:ln w="9525">
            <a:solidFill>
              <a:srgbClr val="DCEEEC"/>
            </a:solidFill>
            <a:prstDash val="solid"/>
          </a:ln>
        </p:spPr>
      </p:sp>
      <p:sp>
        <p:nvSpPr>
          <p:cNvPr id="17" name="Text 13"/>
          <p:cNvSpPr txBox="1"/>
          <p:nvPr/>
        </p:nvSpPr>
        <p:spPr>
          <a:xfrm>
            <a:off x="7818120" y="4434840"/>
            <a:ext cx="3611880" cy="1417320"/>
          </a:xfrm>
          <a:prstGeom prst="rect">
            <a:avLst/>
          </a:prstGeom>
          <a:noFill/>
          <a:ln/>
        </p:spPr>
        <p:txBody>
          <a:bodyPr wrap="square" lIns="0" tIns="0" rIns="0" bIns="0" rtlCol="0" anchor="ctr"/>
          <a:lstStyle/>
          <a:p>
            <a:pPr indent="0" marL="0">
              <a:buNone/>
            </a:pPr>
            <a:r>
              <a:rPr lang="en-US" sz="1400" b="1" dirty="0">
                <a:solidFill>
                  <a:srgbClr val="12232B"/>
                </a:solidFill>
                <a:latin typeface="Calibri" pitchFamily="34" charset="0"/>
                <a:ea typeface="Calibri" pitchFamily="34" charset="-122"/>
                <a:cs typeface="Calibri" pitchFamily="34" charset="-120"/>
              </a:rPr>
              <a:t>Gemini 3.5 Flash often gave the wrong failure type for a real fault: CPU burn became code_test_failure, a downed target became deployment_failure.</a:t>
            </a:r>
            <a:endParaRPr lang="en-US" sz="1400" dirty="0"/>
          </a:p>
        </p:txBody>
      </p:sp>
      <p:sp>
        <p:nvSpPr>
          <p:cNvPr id="18" name="Text 14"/>
          <p:cNvSpPr txBox="1"/>
          <p:nvPr/>
        </p:nvSpPr>
        <p:spPr>
          <a:xfrm>
            <a:off x="548640" y="5897880"/>
            <a:ext cx="6766560" cy="45720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n = 14 scenarios (9 faults, 5 with no metric cause). Scenarios were written alongside the detector. Gemini: one run, temperature 0, same data as text.</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Sweep: agent finds 14 of 21 faults, thresholds 4</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graphicFrame>
        <p:nvGraphicFramePr>
          <p:cNvPr id="7" name="Chart 0" descr=""/>
          <p:cNvGraphicFramePr/>
          <p:nvPr/>
        </p:nvGraphicFramePr>
        <p:xfrm>
          <a:off x="548640" y="155448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589520" y="1554480"/>
            <a:ext cx="4050792" cy="27432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818120" y="1691640"/>
            <a:ext cx="365760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Where the agent starts detecting</a:t>
            </a:r>
            <a:endParaRPr lang="en-US" sz="1800" dirty="0"/>
          </a:p>
        </p:txBody>
      </p:sp>
      <p:sp>
        <p:nvSpPr>
          <p:cNvPr id="10" name="Text 6"/>
          <p:cNvSpPr txBox="1"/>
          <p:nvPr/>
        </p:nvSpPr>
        <p:spPr>
          <a:xfrm>
            <a:off x="7818120" y="2194560"/>
            <a:ext cx="365760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Latency: from 0.5 s (threshold: from 1 s)</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CPU: from 0.06 cores (threshold: only at 0.9)</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Memory: from +5 MiB (threshold: never)</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Smaller faults are missed by design</a:t>
            </a:r>
            <a:endParaRPr lang="en-US" sz="1500" dirty="0"/>
          </a:p>
        </p:txBody>
      </p:sp>
      <p:sp>
        <p:nvSpPr>
          <p:cNvPr id="11" name="card"/>
          <p:cNvSpPr/>
          <p:nvPr/>
        </p:nvSpPr>
        <p:spPr>
          <a:xfrm>
            <a:off x="7589520" y="4480560"/>
            <a:ext cx="4050792" cy="1371600"/>
          </a:xfrm>
          <a:prstGeom prst="rect">
            <a:avLst/>
          </a:prstGeom>
          <a:solidFill>
            <a:srgbClr val="DCEEEC"/>
          </a:solidFill>
          <a:ln w="9525">
            <a:solidFill>
              <a:srgbClr val="DCEEEC"/>
            </a:solidFill>
            <a:prstDash val="solid"/>
          </a:ln>
        </p:spPr>
      </p:sp>
      <p:sp>
        <p:nvSpPr>
          <p:cNvPr id="12" name="Text 8"/>
          <p:cNvSpPr txBox="1"/>
          <p:nvPr/>
        </p:nvSpPr>
        <p:spPr>
          <a:xfrm>
            <a:off x="7818120" y="4572000"/>
            <a:ext cx="3657600" cy="1188720"/>
          </a:xfrm>
          <a:prstGeom prst="rect">
            <a:avLst/>
          </a:prstGeom>
          <a:noFill/>
          <a:ln/>
        </p:spPr>
        <p:txBody>
          <a:bodyPr wrap="square" lIns="0" tIns="0" rIns="0" bIns="0" rtlCol="0" anchor="ctr"/>
          <a:lstStyle/>
          <a:p>
            <a:pPr indent="0" marL="0">
              <a:buNone/>
            </a:pPr>
            <a:r>
              <a:rPr lang="en-US" sz="1500" b="1" dirty="0">
                <a:solidFill>
                  <a:srgbClr val="12232B"/>
                </a:solidFill>
                <a:latin typeface="Calibri" pitchFamily="34" charset="0"/>
                <a:ea typeface="Calibri" pitchFamily="34" charset="-122"/>
                <a:cs typeface="Calibri" pitchFamily="34" charset="-120"/>
              </a:rPr>
              <a:t>False alarms on 5 healthy runs of rising noise: 0 for the agent, 0 for the threshold baseline.</a:t>
            </a:r>
            <a:endParaRPr lang="en-US" sz="1500" dirty="0"/>
          </a:p>
        </p:txBody>
      </p:sp>
      <p:sp>
        <p:nvSpPr>
          <p:cNvPr id="13" name="Text 9"/>
          <p:cNvSpPr txBox="1"/>
          <p:nvPr/>
        </p:nvSpPr>
        <p:spPr>
          <a:xfrm>
            <a:off x="548640" y="5943600"/>
            <a:ext cx="6766560" cy="274320"/>
          </a:xfrm>
          <a:prstGeom prst="rect">
            <a:avLst/>
          </a:prstGeom>
          <a:noFill/>
          <a:ln/>
        </p:spPr>
        <p:txBody>
          <a:bodyPr wrap="square" lIns="0" tIns="0" rIns="0" bIns="0" rtlCol="0" anchor="t"/>
          <a:lstStyle/>
          <a:p>
            <a:pPr indent="0" marL="0">
              <a:buNone/>
            </a:pPr>
            <a:r>
              <a:rPr lang="en-US" sz="1200" dirty="0">
                <a:solidFill>
                  <a:srgbClr val="566770"/>
                </a:solidFill>
                <a:latin typeface="Calibri" pitchFamily="34" charset="0"/>
                <a:ea typeface="Calibri" pitchFamily="34" charset="-122"/>
                <a:cs typeface="Calibri" pitchFamily="34" charset="-120"/>
              </a:rPr>
              <a:t>Gemini was run on the 14 scenarios only (free-tier quota), not on the sweep.</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how Gemini compared, and what is pending</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sp>
        <p:nvSpPr>
          <p:cNvPr id="7" name="card"/>
          <p:cNvSpPr/>
          <p:nvPr/>
        </p:nvSpPr>
        <p:spPr>
          <a:xfrm>
            <a:off x="548640" y="1691640"/>
            <a:ext cx="6766560"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828800"/>
            <a:ext cx="621792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Gemini 3.5 Flash on the 14 scenarios</a:t>
            </a:r>
            <a:endParaRPr lang="en-US" sz="2000" dirty="0"/>
          </a:p>
        </p:txBody>
      </p:sp>
      <p:sp>
        <p:nvSpPr>
          <p:cNvPr id="9" name="Text 6"/>
          <p:cNvSpPr txBox="1"/>
          <p:nvPr/>
        </p:nvSpPr>
        <p:spPr>
          <a:xfrm>
            <a:off x="822960" y="2377440"/>
            <a:ext cx="6217920" cy="36576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Right on 4 of 9 faults, all four latency-type cases; it missed CPU burn, the latency-plus-CPU case (called timeout), the memory leak, partial data and the down target</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Right on all 5 cases with no metric cause: healthy, noisy, glitch, no data, Prometheus down</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Mixed up the taxonomy: CPU burn as code_test_failure, down target as deployment_failure</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Called the memory leak and partial data unknown, so it missed slow growth</a:t>
            </a:r>
            <a:endParaRPr lang="en-US" sz="1500" dirty="0"/>
          </a:p>
          <a:p>
            <a:pPr marL="203200" indent="-203200">
              <a:spcAft>
                <a:spcPts val="600"/>
              </a:spcAft>
              <a:buSzPct val="100000"/>
              <a:buChar char="•"/>
            </a:pPr>
            <a:r>
              <a:rPr lang="en-US" sz="1500" dirty="0">
                <a:solidFill>
                  <a:srgbClr val="12232B"/>
                </a:solidFill>
                <a:latin typeface="Calibri" pitchFamily="34" charset="0"/>
                <a:ea typeface="Calibri" pitchFamily="34" charset="-122"/>
                <a:cs typeface="Calibri" pitchFamily="34" charset="-120"/>
              </a:rPr>
              <a:t>Confidence 0.93 when right and 0.88 when wrong, so confidence did not signal errors</a:t>
            </a:r>
            <a:endParaRPr lang="en-US" sz="1500" dirty="0"/>
          </a:p>
        </p:txBody>
      </p:sp>
      <p:sp>
        <p:nvSpPr>
          <p:cNvPr id="10" name="placeholder"/>
          <p:cNvSpPr/>
          <p:nvPr/>
        </p:nvSpPr>
        <p:spPr>
          <a:xfrm>
            <a:off x="7498080" y="1691640"/>
            <a:ext cx="4142232" cy="4434840"/>
          </a:xfrm>
          <a:prstGeom prst="rect">
            <a:avLst/>
          </a:prstGeom>
          <a:solidFill>
            <a:srgbClr val="FBEFD9"/>
          </a:solidFill>
          <a:ln w="19050">
            <a:solidFill>
              <a:srgbClr val="E8A33D"/>
            </a:solidFill>
            <a:prstDash val="dash"/>
          </a:ln>
        </p:spPr>
      </p:sp>
      <p:sp>
        <p:nvSpPr>
          <p:cNvPr id="11" name="Text 8"/>
          <p:cNvSpPr txBox="1"/>
          <p:nvPr/>
        </p:nvSpPr>
        <p:spPr>
          <a:xfrm>
            <a:off x="7726680" y="1874520"/>
            <a:ext cx="3685032" cy="228600"/>
          </a:xfrm>
          <a:prstGeom prst="rect">
            <a:avLst/>
          </a:prstGeom>
          <a:noFill/>
          <a:ln/>
        </p:spPr>
        <p:txBody>
          <a:bodyPr wrap="square" lIns="0" tIns="0" rIns="0" bIns="0" rtlCol="0" anchor="t"/>
          <a:lstStyle/>
          <a:p>
            <a:pPr indent="0" marL="0">
              <a:buNone/>
            </a:pPr>
            <a:r>
              <a:rPr lang="en-US" sz="1100" b="1" spc="300" kern="0" dirty="0">
                <a:solidFill>
                  <a:srgbClr val="9A6A12"/>
                </a:solidFill>
                <a:latin typeface="Calibri" pitchFamily="34" charset="0"/>
                <a:ea typeface="Calibri" pitchFamily="34" charset="-122"/>
                <a:cs typeface="Calibri" pitchFamily="34" charset="-120"/>
              </a:rPr>
              <a:t>PLACEHOLDER</a:t>
            </a:r>
            <a:endParaRPr lang="en-US" sz="1100" dirty="0"/>
          </a:p>
        </p:txBody>
      </p:sp>
      <p:sp>
        <p:nvSpPr>
          <p:cNvPr id="12" name="Text 9"/>
          <p:cNvSpPr txBox="1"/>
          <p:nvPr/>
        </p:nvSpPr>
        <p:spPr>
          <a:xfrm>
            <a:off x="7726680" y="2148840"/>
            <a:ext cx="3685032" cy="45720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Live runs on the real stack</a:t>
            </a:r>
            <a:endParaRPr lang="en-US" sz="2000" dirty="0"/>
          </a:p>
        </p:txBody>
      </p:sp>
      <p:sp>
        <p:nvSpPr>
          <p:cNvPr id="13" name="Text 10"/>
          <p:cNvSpPr txBox="1"/>
          <p:nvPr/>
        </p:nvSpPr>
        <p:spPr>
          <a:xfrm>
            <a:off x="7726680" y="2651760"/>
            <a:ext cx="3685032" cy="3337560"/>
          </a:xfrm>
          <a:prstGeom prst="rect">
            <a:avLst/>
          </a:prstGeom>
          <a:noFill/>
          <a:ln/>
        </p:spPr>
        <p:txBody>
          <a:bodyPr wrap="square" lIns="0" tIns="0" rIns="0" bIns="0" rtlCol="0" anchor="t"/>
          <a:lstStyle/>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Injected slow, cpu, leak and healthy runs, with labels.</a:t>
            </a:r>
            <a:endParaRPr lang="en-US" sz="1600" dirty="0"/>
          </a:p>
          <a:p>
            <a:pPr indent="0" marL="0">
              <a:spcAft>
                <a:spcPts val="400"/>
              </a:spcAft>
              <a:buNone/>
            </a:pPr>
            <a:endParaRPr lang="en-US" sz="1600" dirty="0"/>
          </a:p>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Confusion matrix: TBD</a:t>
            </a:r>
            <a:endParaRPr lang="en-US" sz="1600" dirty="0"/>
          </a:p>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Runs per fault: TBD</a:t>
            </a:r>
            <a:endParaRPr lang="en-US" sz="1600" dirty="0"/>
          </a:p>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Verdict versus injected fault: TBD</a:t>
            </a:r>
            <a:endParaRPr lang="en-US" sz="1600" dirty="0"/>
          </a:p>
          <a:p>
            <a:pPr indent="0" marL="0">
              <a:spcAft>
                <a:spcPts val="400"/>
              </a:spcAft>
              <a:buNone/>
            </a:pPr>
            <a:endParaRPr lang="en-US" sz="1600" dirty="0"/>
          </a:p>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Run scripts/inject_faults.py, write labels.json, then score with --live.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PATTERNS AND DIFFERENCES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Metrics: context beats fixed limits</a:t>
            </a:r>
            <a:endParaRPr lang="en-US" sz="3400" dirty="0"/>
          </a:p>
        </p:txBody>
      </p:sp>
      <p:sp>
        <p:nvSpPr>
          <p:cNvPr id="5" name="owner pill"/>
          <p:cNvSpPr/>
          <p:nvPr/>
        </p:nvSpPr>
        <p:spPr>
          <a:xfrm>
            <a:off x="9262872" y="301752"/>
            <a:ext cx="2377440" cy="310896"/>
          </a:xfrm>
          <a:prstGeom prst="roundRect">
            <a:avLst>
              <a:gd name="adj" fmla="val 50000"/>
            </a:avLst>
          </a:prstGeom>
          <a:solidFill>
            <a:srgbClr val="E8A33D"/>
          </a:solidFill>
          <a:ln w="12700">
            <a:solidFill>
              <a:srgbClr val="E8A33D"/>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12232B"/>
                </a:solidFill>
                <a:latin typeface="Calibri" pitchFamily="34" charset="0"/>
                <a:ea typeface="Calibri" pitchFamily="34" charset="-122"/>
                <a:cs typeface="Calibri" pitchFamily="34" charset="-120"/>
              </a:rPr>
              <a:t>P2 | Metrics agent</a:t>
            </a:r>
            <a:endParaRPr lang="en-US" sz="1200" dirty="0"/>
          </a:p>
        </p:txBody>
      </p:sp>
      <p:sp>
        <p:nvSpPr>
          <p:cNvPr id="7" name="card"/>
          <p:cNvSpPr/>
          <p:nvPr/>
        </p:nvSpPr>
        <p:spPr>
          <a:xfrm>
            <a:off x="548640" y="1691640"/>
            <a:ext cx="544068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874520"/>
            <a:ext cx="489204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Slow faults slip past thresholds</a:t>
            </a:r>
            <a:endParaRPr lang="en-US" sz="2000" dirty="0"/>
          </a:p>
        </p:txBody>
      </p:sp>
      <p:sp>
        <p:nvSpPr>
          <p:cNvPr id="9" name="Text 6"/>
          <p:cNvSpPr txBox="1"/>
          <p:nvPr/>
        </p:nvSpPr>
        <p:spPr>
          <a:xfrm>
            <a:off x="822960" y="2423160"/>
            <a:ext cx="4892040" cy="1234440"/>
          </a:xfrm>
          <a:prstGeom prst="rect">
            <a:avLst/>
          </a:prstGeom>
          <a:noFill/>
          <a:ln/>
        </p:spPr>
        <p:txBody>
          <a:bodyPr wrap="square" lIns="0" tIns="0" rIns="0" bIns="0" rtlCol="0" anchor="t"/>
          <a:lstStyle/>
          <a:p>
            <a:pPr indent="0" marL="0">
              <a:buNone/>
            </a:pPr>
            <a:r>
              <a:rPr lang="en-US" sz="1600" dirty="0">
                <a:solidFill>
                  <a:srgbClr val="12232B"/>
                </a:solidFill>
                <a:latin typeface="Calibri" pitchFamily="34" charset="0"/>
                <a:ea typeface="Calibri" pitchFamily="34" charset="-122"/>
                <a:cs typeface="Calibri" pitchFamily="34" charset="-120"/>
              </a:rPr>
              <a:t>A memory leak that grows a little at a time never crosses a fixed limit, yet the agent sees the sustained rise against the baseline.</a:t>
            </a:r>
            <a:endParaRPr lang="en-US" sz="1600" dirty="0"/>
          </a:p>
        </p:txBody>
      </p:sp>
      <p:sp>
        <p:nvSpPr>
          <p:cNvPr id="10" name="card"/>
          <p:cNvSpPr/>
          <p:nvPr/>
        </p:nvSpPr>
        <p:spPr>
          <a:xfrm>
            <a:off x="6172200" y="1691640"/>
            <a:ext cx="544068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6446520" y="1874520"/>
            <a:ext cx="489204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Context changes the answer</a:t>
            </a:r>
            <a:endParaRPr lang="en-US" sz="2000" dirty="0"/>
          </a:p>
        </p:txBody>
      </p:sp>
      <p:sp>
        <p:nvSpPr>
          <p:cNvPr id="12" name="Text 9"/>
          <p:cNvSpPr txBox="1"/>
          <p:nvPr/>
        </p:nvSpPr>
        <p:spPr>
          <a:xfrm>
            <a:off x="6446520" y="2423160"/>
            <a:ext cx="4892040" cy="1234440"/>
          </a:xfrm>
          <a:prstGeom prst="rect">
            <a:avLst/>
          </a:prstGeom>
          <a:noFill/>
          <a:ln/>
        </p:spPr>
        <p:txBody>
          <a:bodyPr wrap="square" lIns="0" tIns="0" rIns="0" bIns="0" rtlCol="0" anchor="t"/>
          <a:lstStyle/>
          <a:p>
            <a:pPr indent="0" marL="0">
              <a:buNone/>
            </a:pPr>
            <a:r>
              <a:rPr lang="en-US" sz="1600" dirty="0">
                <a:solidFill>
                  <a:srgbClr val="12232B"/>
                </a:solidFill>
                <a:latin typeface="Calibri" pitchFamily="34" charset="0"/>
                <a:ea typeface="Calibri" pitchFamily="34" charset="-122"/>
                <a:cs typeface="Calibri" pitchFamily="34" charset="-120"/>
              </a:rPr>
              <a:t>When latency and CPU rise together, the agent blames CPU. The threshold baseline blames latency, because it ranks signals by size alone.</a:t>
            </a:r>
            <a:endParaRPr lang="en-US" sz="1600" dirty="0"/>
          </a:p>
        </p:txBody>
      </p:sp>
      <p:sp>
        <p:nvSpPr>
          <p:cNvPr id="13" name="card"/>
          <p:cNvSpPr/>
          <p:nvPr/>
        </p:nvSpPr>
        <p:spPr>
          <a:xfrm>
            <a:off x="548640" y="3931920"/>
            <a:ext cx="544068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22960" y="4114800"/>
            <a:ext cx="489204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Restraint holds</a:t>
            </a:r>
            <a:endParaRPr lang="en-US" sz="2000" dirty="0"/>
          </a:p>
        </p:txBody>
      </p:sp>
      <p:sp>
        <p:nvSpPr>
          <p:cNvPr id="15" name="Text 12"/>
          <p:cNvSpPr txBox="1"/>
          <p:nvPr/>
        </p:nvSpPr>
        <p:spPr>
          <a:xfrm>
            <a:off x="822960" y="4663440"/>
            <a:ext cx="4892040" cy="1234440"/>
          </a:xfrm>
          <a:prstGeom prst="rect">
            <a:avLst/>
          </a:prstGeom>
          <a:noFill/>
          <a:ln/>
        </p:spPr>
        <p:txBody>
          <a:bodyPr wrap="square" lIns="0" tIns="0" rIns="0" bIns="0" rtlCol="0" anchor="t"/>
          <a:lstStyle/>
          <a:p>
            <a:pPr indent="0" marL="0">
              <a:buNone/>
            </a:pPr>
            <a:r>
              <a:rPr lang="en-US" sz="1600" dirty="0">
                <a:solidFill>
                  <a:srgbClr val="12232B"/>
                </a:solidFill>
                <a:latin typeface="Calibri" pitchFamily="34" charset="0"/>
                <a:ea typeface="Calibri" pitchFamily="34" charset="-122"/>
                <a:cs typeface="Calibri" pitchFamily="34" charset="-120"/>
              </a:rPr>
              <a:t>On a one-sample glitch, noisy normal data and missing data, the agent says unknown. The threshold baseline fires on the glitch.</a:t>
            </a:r>
            <a:endParaRPr lang="en-US" sz="1600" dirty="0"/>
          </a:p>
        </p:txBody>
      </p:sp>
      <p:sp>
        <p:nvSpPr>
          <p:cNvPr id="16" name="card"/>
          <p:cNvSpPr/>
          <p:nvPr/>
        </p:nvSpPr>
        <p:spPr>
          <a:xfrm>
            <a:off x="6172200" y="3931920"/>
            <a:ext cx="544068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7" name="Text 14"/>
          <p:cNvSpPr txBox="1"/>
          <p:nvPr/>
        </p:nvSpPr>
        <p:spPr>
          <a:xfrm>
            <a:off x="6446520" y="4114800"/>
            <a:ext cx="489204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Confidence follows severity</a:t>
            </a:r>
            <a:endParaRPr lang="en-US" sz="2000" dirty="0"/>
          </a:p>
        </p:txBody>
      </p:sp>
      <p:sp>
        <p:nvSpPr>
          <p:cNvPr id="18" name="Text 15"/>
          <p:cNvSpPr txBox="1"/>
          <p:nvPr/>
        </p:nvSpPr>
        <p:spPr>
          <a:xfrm>
            <a:off x="6446520" y="4663440"/>
            <a:ext cx="4892040" cy="1234440"/>
          </a:xfrm>
          <a:prstGeom prst="rect">
            <a:avLst/>
          </a:prstGeom>
          <a:noFill/>
          <a:ln/>
        </p:spPr>
        <p:txBody>
          <a:bodyPr wrap="square" lIns="0" tIns="0" rIns="0" bIns="0" rtlCol="0" anchor="t"/>
          <a:lstStyle/>
          <a:p>
            <a:pPr indent="0" marL="0">
              <a:buNone/>
            </a:pPr>
            <a:r>
              <a:rPr lang="en-US" sz="1600" dirty="0">
                <a:solidFill>
                  <a:srgbClr val="12232B"/>
                </a:solidFill>
                <a:latin typeface="Calibri" pitchFamily="34" charset="0"/>
                <a:ea typeface="Calibri" pitchFamily="34" charset="-122"/>
                <a:cs typeface="Calibri" pitchFamily="34" charset="-120"/>
              </a:rPr>
              <a:t>Confidence is about 0.5 near the detection floor and about 0.85 to 0.9 for large faults, so a reader can weigh the verdict.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CODE AGENT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Code agent: does a recent change explain the failure?</a:t>
            </a:r>
            <a:endParaRPr lang="en-US" sz="3400" dirty="0"/>
          </a:p>
        </p:txBody>
      </p:sp>
      <p:sp>
        <p:nvSpPr>
          <p:cNvPr id="5" name="owner pill"/>
          <p:cNvSpPr/>
          <p:nvPr/>
        </p:nvSpPr>
        <p:spPr>
          <a:xfrm>
            <a:off x="9262872" y="301752"/>
            <a:ext cx="2377440" cy="310896"/>
          </a:xfrm>
          <a:prstGeom prst="roundRect">
            <a:avLst>
              <a:gd name="adj" fmla="val 50000"/>
            </a:avLst>
          </a:prstGeom>
          <a:solidFill>
            <a:srgbClr val="6B4C86"/>
          </a:solidFill>
          <a:ln w="12700">
            <a:solidFill>
              <a:srgbClr val="6B4C86"/>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 | Code agent and policy</a:t>
            </a:r>
            <a:endParaRPr lang="en-US" sz="1200" dirty="0"/>
          </a:p>
        </p:txBody>
      </p:sp>
      <p:sp>
        <p:nvSpPr>
          <p:cNvPr id="7" name="card"/>
          <p:cNvSpPr/>
          <p:nvPr/>
        </p:nvSpPr>
        <p:spPr>
          <a:xfrm>
            <a:off x="548640" y="1645920"/>
            <a:ext cx="2468880" cy="21945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777240" y="1783080"/>
            <a:ext cx="384048" cy="384048"/>
          </a:xfrm>
          <a:prstGeom prst="ellipse">
            <a:avLst/>
          </a:prstGeom>
          <a:solidFill>
            <a:srgbClr val="6B4C86"/>
          </a:solidFill>
          <a:ln w="12700">
            <a:solidFill>
              <a:srgbClr val="6B4C86"/>
            </a:solidFill>
            <a:prstDash val="solid"/>
          </a:ln>
        </p:spPr>
      </p:sp>
      <p:sp>
        <p:nvSpPr>
          <p:cNvPr id="9" name="Text 6"/>
          <p:cNvSpPr txBox="1"/>
          <p:nvPr/>
        </p:nvSpPr>
        <p:spPr>
          <a:xfrm>
            <a:off x="77724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280160" y="1810512"/>
            <a:ext cx="1645920" cy="365760"/>
          </a:xfrm>
          <a:prstGeom prst="rect">
            <a:avLst/>
          </a:prstGeom>
          <a:noFill/>
          <a:ln/>
        </p:spPr>
        <p:txBody>
          <a:bodyPr wrap="square" lIns="0" tIns="0" rIns="0" bIns="0" rtlCol="0" anchor="t"/>
          <a:lstStyle/>
          <a:p>
            <a:pPr indent="0" marL="0">
              <a:buNone/>
            </a:pPr>
            <a:r>
              <a:rPr lang="en-US" sz="1700" b="1" dirty="0">
                <a:solidFill>
                  <a:srgbClr val="12232B"/>
                </a:solidFill>
                <a:latin typeface="Cambria" pitchFamily="34" charset="0"/>
                <a:ea typeface="Cambria" pitchFamily="34" charset="-122"/>
                <a:cs typeface="Cambria" pitchFamily="34" charset="-120"/>
              </a:rPr>
              <a:t>fetch_context</a:t>
            </a:r>
            <a:endParaRPr lang="en-US" sz="1700" dirty="0"/>
          </a:p>
        </p:txBody>
      </p:sp>
      <p:sp>
        <p:nvSpPr>
          <p:cNvPr id="11" name="Text 8"/>
          <p:cNvSpPr txBox="1"/>
          <p:nvPr/>
        </p:nvSpPr>
        <p:spPr>
          <a:xfrm>
            <a:off x="777240" y="2377440"/>
            <a:ext cx="2011680" cy="1417320"/>
          </a:xfrm>
          <a:prstGeom prst="rect">
            <a:avLst/>
          </a:prstGeom>
          <a:noFill/>
          <a:ln/>
        </p:spPr>
        <p:txBody>
          <a:bodyPr wrap="square" lIns="0" tIns="0" rIns="0" bIns="0" rtlCol="0" anchor="t"/>
          <a:lstStyle/>
          <a:p>
            <a:pPr indent="0" marL="0">
              <a:buNone/>
            </a:pPr>
            <a:r>
              <a:rPr lang="en-US" sz="1300" dirty="0">
                <a:solidFill>
                  <a:srgbClr val="566770"/>
                </a:solidFill>
                <a:latin typeface="Calibri" pitchFamily="34" charset="0"/>
                <a:ea typeface="Calibri" pitchFamily="34" charset="-122"/>
                <a:cs typeface="Calibri" pitchFamily="34" charset="-120"/>
              </a:rPr>
              <a:t>Reads the failing commit and its files, its pull requests, and recent branch history from GitHub</a:t>
            </a:r>
            <a:endParaRPr lang="en-US" sz="1300" dirty="0"/>
          </a:p>
        </p:txBody>
      </p:sp>
      <p:sp>
        <p:nvSpPr>
          <p:cNvPr id="12" name="arrow"/>
          <p:cNvSpPr/>
          <p:nvPr/>
        </p:nvSpPr>
        <p:spPr>
          <a:xfrm>
            <a:off x="3035808" y="2743200"/>
            <a:ext cx="368808" cy="0"/>
          </a:xfrm>
          <a:prstGeom prst="line">
            <a:avLst/>
          </a:prstGeom>
          <a:noFill/>
          <a:ln w="19050">
            <a:solidFill>
              <a:srgbClr val="566770"/>
            </a:solidFill>
            <a:prstDash val="solid"/>
            <a:tailEnd type="triangle"/>
          </a:ln>
        </p:spPr>
      </p:sp>
      <p:sp>
        <p:nvSpPr>
          <p:cNvPr id="13" name="card"/>
          <p:cNvSpPr/>
          <p:nvPr/>
        </p:nvSpPr>
        <p:spPr>
          <a:xfrm>
            <a:off x="3422904" y="1645920"/>
            <a:ext cx="2468880" cy="21945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badge"/>
          <p:cNvSpPr/>
          <p:nvPr/>
        </p:nvSpPr>
        <p:spPr>
          <a:xfrm>
            <a:off x="3651504" y="1783080"/>
            <a:ext cx="384048" cy="384048"/>
          </a:xfrm>
          <a:prstGeom prst="ellipse">
            <a:avLst/>
          </a:prstGeom>
          <a:solidFill>
            <a:srgbClr val="6B4C86"/>
          </a:solidFill>
          <a:ln w="12700">
            <a:solidFill>
              <a:srgbClr val="6B4C86"/>
            </a:solidFill>
            <a:prstDash val="solid"/>
          </a:ln>
        </p:spPr>
      </p:sp>
      <p:sp>
        <p:nvSpPr>
          <p:cNvPr id="15" name="Text 12"/>
          <p:cNvSpPr txBox="1"/>
          <p:nvPr/>
        </p:nvSpPr>
        <p:spPr>
          <a:xfrm>
            <a:off x="3651504"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txBox="1"/>
          <p:nvPr/>
        </p:nvSpPr>
        <p:spPr>
          <a:xfrm>
            <a:off x="4154424" y="1810512"/>
            <a:ext cx="1645920" cy="365760"/>
          </a:xfrm>
          <a:prstGeom prst="rect">
            <a:avLst/>
          </a:prstGeom>
          <a:noFill/>
          <a:ln/>
        </p:spPr>
        <p:txBody>
          <a:bodyPr wrap="square" lIns="0" tIns="0" rIns="0" bIns="0" rtlCol="0" anchor="t"/>
          <a:lstStyle/>
          <a:p>
            <a:pPr indent="0" marL="0">
              <a:buNone/>
            </a:pPr>
            <a:r>
              <a:rPr lang="en-US" sz="1700" b="1" dirty="0">
                <a:solidFill>
                  <a:srgbClr val="12232B"/>
                </a:solidFill>
                <a:latin typeface="Cambria" pitchFamily="34" charset="0"/>
                <a:ea typeface="Cambria" pitchFamily="34" charset="-122"/>
                <a:cs typeface="Cambria" pitchFamily="34" charset="-120"/>
              </a:rPr>
              <a:t>analyze</a:t>
            </a:r>
            <a:endParaRPr lang="en-US" sz="1700" dirty="0"/>
          </a:p>
        </p:txBody>
      </p:sp>
      <p:sp>
        <p:nvSpPr>
          <p:cNvPr id="17" name="Text 14"/>
          <p:cNvSpPr txBox="1"/>
          <p:nvPr/>
        </p:nvSpPr>
        <p:spPr>
          <a:xfrm>
            <a:off x="3651504" y="2377440"/>
            <a:ext cx="2011680" cy="1417320"/>
          </a:xfrm>
          <a:prstGeom prst="rect">
            <a:avLst/>
          </a:prstGeom>
          <a:noFill/>
          <a:ln/>
        </p:spPr>
        <p:txBody>
          <a:bodyPr wrap="square" lIns="0" tIns="0" rIns="0" bIns="0" rtlCol="0" anchor="t"/>
          <a:lstStyle/>
          <a:p>
            <a:pPr indent="0" marL="0">
              <a:buNone/>
            </a:pPr>
            <a:r>
              <a:rPr lang="en-US" sz="1300" dirty="0">
                <a:solidFill>
                  <a:srgbClr val="566770"/>
                </a:solidFill>
                <a:latin typeface="Calibri" pitchFamily="34" charset="0"/>
                <a:ea typeface="Calibri" pitchFamily="34" charset="-122"/>
                <a:cs typeface="Calibri" pitchFamily="34" charset="-120"/>
              </a:rPr>
              <a:t>Classifies every changed path by role and extracts dependency pins and config values that moved</a:t>
            </a:r>
            <a:endParaRPr lang="en-US" sz="1300" dirty="0"/>
          </a:p>
        </p:txBody>
      </p:sp>
      <p:sp>
        <p:nvSpPr>
          <p:cNvPr id="18" name="arrow"/>
          <p:cNvSpPr/>
          <p:nvPr/>
        </p:nvSpPr>
        <p:spPr>
          <a:xfrm>
            <a:off x="5910072" y="2743200"/>
            <a:ext cx="368808" cy="0"/>
          </a:xfrm>
          <a:prstGeom prst="line">
            <a:avLst/>
          </a:prstGeom>
          <a:noFill/>
          <a:ln w="19050">
            <a:solidFill>
              <a:srgbClr val="566770"/>
            </a:solidFill>
            <a:prstDash val="solid"/>
            <a:tailEnd type="triangle"/>
          </a:ln>
        </p:spPr>
      </p:sp>
      <p:sp>
        <p:nvSpPr>
          <p:cNvPr id="19" name="card"/>
          <p:cNvSpPr/>
          <p:nvPr/>
        </p:nvSpPr>
        <p:spPr>
          <a:xfrm>
            <a:off x="6297168" y="1645920"/>
            <a:ext cx="2468880" cy="21945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badge"/>
          <p:cNvSpPr/>
          <p:nvPr/>
        </p:nvSpPr>
        <p:spPr>
          <a:xfrm>
            <a:off x="6525768" y="1783080"/>
            <a:ext cx="384048" cy="384048"/>
          </a:xfrm>
          <a:prstGeom prst="ellipse">
            <a:avLst/>
          </a:prstGeom>
          <a:solidFill>
            <a:srgbClr val="6B4C86"/>
          </a:solidFill>
          <a:ln w="12700">
            <a:solidFill>
              <a:srgbClr val="6B4C86"/>
            </a:solidFill>
            <a:prstDash val="solid"/>
          </a:ln>
        </p:spPr>
      </p:sp>
      <p:sp>
        <p:nvSpPr>
          <p:cNvPr id="21" name="Text 18"/>
          <p:cNvSpPr txBox="1"/>
          <p:nvPr/>
        </p:nvSpPr>
        <p:spPr>
          <a:xfrm>
            <a:off x="6525768"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7028688" y="1810512"/>
            <a:ext cx="1645920" cy="365760"/>
          </a:xfrm>
          <a:prstGeom prst="rect">
            <a:avLst/>
          </a:prstGeom>
          <a:noFill/>
          <a:ln/>
        </p:spPr>
        <p:txBody>
          <a:bodyPr wrap="square" lIns="0" tIns="0" rIns="0" bIns="0" rtlCol="0" anchor="t"/>
          <a:lstStyle/>
          <a:p>
            <a:pPr indent="0" marL="0">
              <a:buNone/>
            </a:pPr>
            <a:r>
              <a:rPr lang="en-US" sz="1700" b="1" dirty="0">
                <a:solidFill>
                  <a:srgbClr val="12232B"/>
                </a:solidFill>
                <a:latin typeface="Cambria" pitchFamily="34" charset="0"/>
                <a:ea typeface="Cambria" pitchFamily="34" charset="-122"/>
                <a:cs typeface="Cambria" pitchFamily="34" charset="-120"/>
              </a:rPr>
              <a:t>reason</a:t>
            </a:r>
            <a:endParaRPr lang="en-US" sz="1700" dirty="0"/>
          </a:p>
        </p:txBody>
      </p:sp>
      <p:sp>
        <p:nvSpPr>
          <p:cNvPr id="23" name="Text 20"/>
          <p:cNvSpPr txBox="1"/>
          <p:nvPr/>
        </p:nvSpPr>
        <p:spPr>
          <a:xfrm>
            <a:off x="6525768" y="2377440"/>
            <a:ext cx="2011680" cy="1417320"/>
          </a:xfrm>
          <a:prstGeom prst="rect">
            <a:avLst/>
          </a:prstGeom>
          <a:noFill/>
          <a:ln/>
        </p:spPr>
        <p:txBody>
          <a:bodyPr wrap="square" lIns="0" tIns="0" rIns="0" bIns="0" rtlCol="0" anchor="t"/>
          <a:lstStyle/>
          <a:p>
            <a:pPr indent="0" marL="0">
              <a:buNone/>
            </a:pPr>
            <a:r>
              <a:rPr lang="en-US" sz="1300" dirty="0">
                <a:solidFill>
                  <a:srgbClr val="566770"/>
                </a:solidFill>
                <a:latin typeface="Calibri" pitchFamily="34" charset="0"/>
                <a:ea typeface="Calibri" pitchFamily="34" charset="-122"/>
                <a:cs typeface="Calibri" pitchFamily="34" charset="-120"/>
              </a:rPr>
              <a:t>Ranks plausible code-side causes with confidence and cited evidence</a:t>
            </a:r>
            <a:endParaRPr lang="en-US" sz="1300" dirty="0"/>
          </a:p>
        </p:txBody>
      </p:sp>
      <p:sp>
        <p:nvSpPr>
          <p:cNvPr id="24" name="arrow"/>
          <p:cNvSpPr/>
          <p:nvPr/>
        </p:nvSpPr>
        <p:spPr>
          <a:xfrm>
            <a:off x="8784336" y="2743200"/>
            <a:ext cx="368808" cy="0"/>
          </a:xfrm>
          <a:prstGeom prst="line">
            <a:avLst/>
          </a:prstGeom>
          <a:noFill/>
          <a:ln w="19050">
            <a:solidFill>
              <a:srgbClr val="566770"/>
            </a:solidFill>
            <a:prstDash val="solid"/>
            <a:tailEnd type="triangle"/>
          </a:ln>
        </p:spPr>
      </p:sp>
      <p:sp>
        <p:nvSpPr>
          <p:cNvPr id="25" name="card"/>
          <p:cNvSpPr/>
          <p:nvPr/>
        </p:nvSpPr>
        <p:spPr>
          <a:xfrm>
            <a:off x="9171432" y="1645920"/>
            <a:ext cx="2468880" cy="21945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6" name="badge"/>
          <p:cNvSpPr/>
          <p:nvPr/>
        </p:nvSpPr>
        <p:spPr>
          <a:xfrm>
            <a:off x="9400032" y="1783080"/>
            <a:ext cx="384048" cy="384048"/>
          </a:xfrm>
          <a:prstGeom prst="ellipse">
            <a:avLst/>
          </a:prstGeom>
          <a:solidFill>
            <a:srgbClr val="6B4C86"/>
          </a:solidFill>
          <a:ln w="12700">
            <a:solidFill>
              <a:srgbClr val="6B4C86"/>
            </a:solidFill>
            <a:prstDash val="solid"/>
          </a:ln>
        </p:spPr>
      </p:sp>
      <p:sp>
        <p:nvSpPr>
          <p:cNvPr id="27" name="Text 24"/>
          <p:cNvSpPr txBox="1"/>
          <p:nvPr/>
        </p:nvSpPr>
        <p:spPr>
          <a:xfrm>
            <a:off x="9400032"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5"/>
          <p:cNvSpPr txBox="1"/>
          <p:nvPr/>
        </p:nvSpPr>
        <p:spPr>
          <a:xfrm>
            <a:off x="9902952" y="1810512"/>
            <a:ext cx="1645920" cy="365760"/>
          </a:xfrm>
          <a:prstGeom prst="rect">
            <a:avLst/>
          </a:prstGeom>
          <a:noFill/>
          <a:ln/>
        </p:spPr>
        <p:txBody>
          <a:bodyPr wrap="square" lIns="0" tIns="0" rIns="0" bIns="0" rtlCol="0" anchor="t"/>
          <a:lstStyle/>
          <a:p>
            <a:pPr indent="0" marL="0">
              <a:buNone/>
            </a:pPr>
            <a:r>
              <a:rPr lang="en-US" sz="1700" b="1" dirty="0">
                <a:solidFill>
                  <a:srgbClr val="12232B"/>
                </a:solidFill>
                <a:latin typeface="Cambria" pitchFamily="34" charset="0"/>
                <a:ea typeface="Cambria" pitchFamily="34" charset="-122"/>
                <a:cs typeface="Cambria" pitchFamily="34" charset="-120"/>
              </a:rPr>
              <a:t>finalize</a:t>
            </a:r>
            <a:endParaRPr lang="en-US" sz="1700" dirty="0"/>
          </a:p>
        </p:txBody>
      </p:sp>
      <p:sp>
        <p:nvSpPr>
          <p:cNvPr id="29" name="Text 26"/>
          <p:cNvSpPr txBox="1"/>
          <p:nvPr/>
        </p:nvSpPr>
        <p:spPr>
          <a:xfrm>
            <a:off x="9400032" y="2377440"/>
            <a:ext cx="2011680" cy="1417320"/>
          </a:xfrm>
          <a:prstGeom prst="rect">
            <a:avLst/>
          </a:prstGeom>
          <a:noFill/>
          <a:ln/>
        </p:spPr>
        <p:txBody>
          <a:bodyPr wrap="square" lIns="0" tIns="0" rIns="0" bIns="0" rtlCol="0" anchor="t"/>
          <a:lstStyle/>
          <a:p>
            <a:pPr indent="0" marL="0">
              <a:buNone/>
            </a:pPr>
            <a:r>
              <a:rPr lang="en-US" sz="1300" dirty="0">
                <a:solidFill>
                  <a:srgbClr val="566770"/>
                </a:solidFill>
                <a:latin typeface="Calibri" pitchFamily="34" charset="0"/>
                <a:ea typeface="Calibri" pitchFamily="34" charset="-122"/>
                <a:cs typeface="Calibri" pitchFamily="34" charset="-120"/>
              </a:rPr>
              <a:t>Writes one evidence document and records the run in the audit trail</a:t>
            </a:r>
            <a:endParaRPr lang="en-US" sz="1300" dirty="0"/>
          </a:p>
        </p:txBody>
      </p:sp>
      <p:sp>
        <p:nvSpPr>
          <p:cNvPr id="30" name="card"/>
          <p:cNvSpPr/>
          <p:nvPr/>
        </p:nvSpPr>
        <p:spPr>
          <a:xfrm>
            <a:off x="548640" y="4114800"/>
            <a:ext cx="6675120" cy="2103120"/>
          </a:xfrm>
          <a:prstGeom prst="rect">
            <a:avLst/>
          </a:prstGeom>
          <a:solidFill>
            <a:srgbClr val="DCEEEC"/>
          </a:solidFill>
          <a:ln w="9525">
            <a:solidFill>
              <a:srgbClr val="DCEEEC"/>
            </a:solidFill>
            <a:prstDash val="solid"/>
          </a:ln>
        </p:spPr>
      </p:sp>
      <p:sp>
        <p:nvSpPr>
          <p:cNvPr id="31" name="Text 28"/>
          <p:cNvSpPr txBox="1"/>
          <p:nvPr/>
        </p:nvSpPr>
        <p:spPr>
          <a:xfrm>
            <a:off x="822960" y="4224528"/>
            <a:ext cx="612648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File roles it recognises</a:t>
            </a:r>
            <a:endParaRPr lang="en-US" sz="1800" dirty="0"/>
          </a:p>
        </p:txBody>
      </p:sp>
      <p:sp>
        <p:nvSpPr>
          <p:cNvPr id="32" name="Text 29"/>
          <p:cNvSpPr txBox="1"/>
          <p:nvPr/>
        </p:nvSpPr>
        <p:spPr>
          <a:xfrm>
            <a:off x="822960" y="4709160"/>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dependency manifest</a:t>
            </a:r>
            <a:endParaRPr lang="en-US" sz="1500" dirty="0"/>
          </a:p>
        </p:txBody>
      </p:sp>
      <p:sp>
        <p:nvSpPr>
          <p:cNvPr id="33" name="Text 30"/>
          <p:cNvSpPr txBox="1"/>
          <p:nvPr/>
        </p:nvSpPr>
        <p:spPr>
          <a:xfrm>
            <a:off x="3931920" y="4709160"/>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configuration</a:t>
            </a:r>
            <a:endParaRPr lang="en-US" sz="1500" dirty="0"/>
          </a:p>
        </p:txBody>
      </p:sp>
      <p:sp>
        <p:nvSpPr>
          <p:cNvPr id="34" name="Text 31"/>
          <p:cNvSpPr txBox="1"/>
          <p:nvPr/>
        </p:nvSpPr>
        <p:spPr>
          <a:xfrm>
            <a:off x="822960" y="5056632"/>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CI pipeline</a:t>
            </a:r>
            <a:endParaRPr lang="en-US" sz="1500" dirty="0"/>
          </a:p>
        </p:txBody>
      </p:sp>
      <p:sp>
        <p:nvSpPr>
          <p:cNvPr id="35" name="Text 32"/>
          <p:cNvSpPr txBox="1"/>
          <p:nvPr/>
        </p:nvSpPr>
        <p:spPr>
          <a:xfrm>
            <a:off x="3931920" y="5056632"/>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deployment</a:t>
            </a:r>
            <a:endParaRPr lang="en-US" sz="1500" dirty="0"/>
          </a:p>
        </p:txBody>
      </p:sp>
      <p:sp>
        <p:nvSpPr>
          <p:cNvPr id="36" name="Text 33"/>
          <p:cNvSpPr txBox="1"/>
          <p:nvPr/>
        </p:nvSpPr>
        <p:spPr>
          <a:xfrm>
            <a:off x="822960" y="5404104"/>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test</a:t>
            </a:r>
            <a:endParaRPr lang="en-US" sz="1500" dirty="0"/>
          </a:p>
        </p:txBody>
      </p:sp>
      <p:sp>
        <p:nvSpPr>
          <p:cNvPr id="37" name="Text 34"/>
          <p:cNvSpPr txBox="1"/>
          <p:nvPr/>
        </p:nvSpPr>
        <p:spPr>
          <a:xfrm>
            <a:off x="3931920" y="5404104"/>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source</a:t>
            </a:r>
            <a:endParaRPr lang="en-US" sz="1500" dirty="0"/>
          </a:p>
        </p:txBody>
      </p:sp>
      <p:sp>
        <p:nvSpPr>
          <p:cNvPr id="38" name="Text 35"/>
          <p:cNvSpPr txBox="1"/>
          <p:nvPr/>
        </p:nvSpPr>
        <p:spPr>
          <a:xfrm>
            <a:off x="822960" y="5751576"/>
            <a:ext cx="3017520" cy="32004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documentation</a:t>
            </a:r>
            <a:endParaRPr lang="en-US" sz="1500" dirty="0"/>
          </a:p>
        </p:txBody>
      </p:sp>
      <p:sp>
        <p:nvSpPr>
          <p:cNvPr id="39" name="card"/>
          <p:cNvSpPr/>
          <p:nvPr/>
        </p:nvSpPr>
        <p:spPr>
          <a:xfrm>
            <a:off x="7498080" y="4114800"/>
            <a:ext cx="4142232" cy="21031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40" name="Text 37"/>
          <p:cNvSpPr txBox="1"/>
          <p:nvPr/>
        </p:nvSpPr>
        <p:spPr>
          <a:xfrm>
            <a:off x="7772400" y="4224528"/>
            <a:ext cx="3657600" cy="365760"/>
          </a:xfrm>
          <a:prstGeom prst="rect">
            <a:avLst/>
          </a:prstGeom>
          <a:noFill/>
          <a:ln/>
        </p:spPr>
        <p:txBody>
          <a:bodyPr wrap="square" lIns="0" tIns="0" rIns="0" bIns="0" rtlCol="0" anchor="t"/>
          <a:lstStyle/>
          <a:p>
            <a:pPr indent="0" marL="0">
              <a:buNone/>
            </a:pPr>
            <a:r>
              <a:rPr lang="en-US" sz="1800" b="1" dirty="0">
                <a:solidFill>
                  <a:srgbClr val="6B4C86"/>
                </a:solidFill>
                <a:latin typeface="Cambria" pitchFamily="34" charset="0"/>
                <a:ea typeface="Cambria" pitchFamily="34" charset="-122"/>
                <a:cs typeface="Cambria" pitchFamily="34" charset="-120"/>
              </a:rPr>
              <a:t>Design choices</a:t>
            </a:r>
            <a:endParaRPr lang="en-US" sz="1800" dirty="0"/>
          </a:p>
        </p:txBody>
      </p:sp>
      <p:sp>
        <p:nvSpPr>
          <p:cNvPr id="41" name="Text 38"/>
          <p:cNvSpPr txBox="1"/>
          <p:nvPr/>
        </p:nvSpPr>
        <p:spPr>
          <a:xfrm>
            <a:off x="7772400" y="4617720"/>
            <a:ext cx="3703320" cy="155448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rgbClr val="12232B"/>
                </a:solidFill>
                <a:latin typeface="Calibri" pitchFamily="34" charset="0"/>
                <a:ea typeface="Calibri" pitchFamily="34" charset="-122"/>
                <a:cs typeface="Calibri" pitchFamily="34" charset="-120"/>
              </a:rPr>
              <a:t>Always writes a document, even if GitHub is unreachable or the run crashes</a:t>
            </a:r>
            <a:endParaRPr lang="en-US" sz="1300" dirty="0"/>
          </a:p>
          <a:p>
            <a:pPr marL="203200" indent="-203200">
              <a:spcAft>
                <a:spcPts val="300"/>
              </a:spcAft>
              <a:buSzPct val="100000"/>
              <a:buChar char="•"/>
            </a:pPr>
            <a:r>
              <a:rPr lang="en-US" sz="1300" dirty="0">
                <a:solidFill>
                  <a:srgbClr val="12232B"/>
                </a:solidFill>
                <a:latin typeface="Calibri" pitchFamily="34" charset="0"/>
                <a:ea typeface="Calibri" pitchFamily="34" charset="-122"/>
                <a:cs typeface="Calibri" pitchFamily="34" charset="-120"/>
              </a:rPr>
              <a:t>Own durable queue; never imports another agent</a:t>
            </a:r>
            <a:endParaRPr lang="en-US" sz="1300" dirty="0"/>
          </a:p>
          <a:p>
            <a:pPr marL="203200" indent="-203200">
              <a:spcAft>
                <a:spcPts val="300"/>
              </a:spcAft>
              <a:buSzPct val="100000"/>
              <a:buChar char="•"/>
            </a:pPr>
            <a:r>
              <a:rPr lang="en-US" sz="1300" dirty="0">
                <a:solidFill>
                  <a:srgbClr val="12232B"/>
                </a:solidFill>
                <a:latin typeface="Calibri" pitchFamily="34" charset="0"/>
                <a:ea typeface="Calibri" pitchFamily="34" charset="-122"/>
                <a:cs typeface="Calibri" pitchFamily="34" charset="-120"/>
              </a:rPr>
              <a:t>Redacts every diff before use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METHODOLOGY: CODE AGENT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Code agent: reasoning that knows when to hold back</a:t>
            </a:r>
            <a:endParaRPr lang="en-US" sz="3400" dirty="0"/>
          </a:p>
        </p:txBody>
      </p:sp>
      <p:sp>
        <p:nvSpPr>
          <p:cNvPr id="5" name="owner pill"/>
          <p:cNvSpPr/>
          <p:nvPr/>
        </p:nvSpPr>
        <p:spPr>
          <a:xfrm>
            <a:off x="9262872" y="301752"/>
            <a:ext cx="2377440" cy="310896"/>
          </a:xfrm>
          <a:prstGeom prst="roundRect">
            <a:avLst>
              <a:gd name="adj" fmla="val 50000"/>
            </a:avLst>
          </a:prstGeom>
          <a:solidFill>
            <a:srgbClr val="6B4C86"/>
          </a:solidFill>
          <a:ln w="12700">
            <a:solidFill>
              <a:srgbClr val="6B4C86"/>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 | Code agent and policy</a:t>
            </a:r>
            <a:endParaRPr lang="en-US" sz="1200" dirty="0"/>
          </a:p>
        </p:txBody>
      </p:sp>
      <p:sp>
        <p:nvSpPr>
          <p:cNvPr id="7" name="card"/>
          <p:cNvSpPr/>
          <p:nvPr/>
        </p:nvSpPr>
        <p:spPr>
          <a:xfrm>
            <a:off x="548640" y="1645920"/>
            <a:ext cx="5440680" cy="17373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badge"/>
          <p:cNvSpPr/>
          <p:nvPr/>
        </p:nvSpPr>
        <p:spPr>
          <a:xfrm>
            <a:off x="777240" y="1874520"/>
            <a:ext cx="384048" cy="384048"/>
          </a:xfrm>
          <a:prstGeom prst="ellipse">
            <a:avLst/>
          </a:prstGeom>
          <a:solidFill>
            <a:srgbClr val="6B4C86"/>
          </a:solidFill>
          <a:ln w="12700">
            <a:solidFill>
              <a:srgbClr val="6B4C86"/>
            </a:solidFill>
            <a:prstDash val="solid"/>
          </a:ln>
        </p:spPr>
      </p:sp>
      <p:sp>
        <p:nvSpPr>
          <p:cNvPr id="9" name="Text 6"/>
          <p:cNvSpPr txBox="1"/>
          <p:nvPr/>
        </p:nvSpPr>
        <p:spPr>
          <a:xfrm>
            <a:off x="777240" y="1874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1325880" y="1901952"/>
            <a:ext cx="44805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Absence of evidence is evidence</a:t>
            </a:r>
            <a:endParaRPr lang="en-US" sz="1800" dirty="0"/>
          </a:p>
        </p:txBody>
      </p:sp>
      <p:sp>
        <p:nvSpPr>
          <p:cNvPr id="11" name="Text 8"/>
          <p:cNvSpPr txBox="1"/>
          <p:nvPr/>
        </p:nvSpPr>
        <p:spPr>
          <a:xfrm>
            <a:off x="1325880" y="2377440"/>
            <a:ext cx="4480560" cy="96012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When nothing changed, or only docs changed, the agent says a code change does not explain the failure instead of blaming the latest commit (TC-12).</a:t>
            </a:r>
            <a:endParaRPr lang="en-US" sz="1400" dirty="0"/>
          </a:p>
        </p:txBody>
      </p:sp>
      <p:sp>
        <p:nvSpPr>
          <p:cNvPr id="12" name="card"/>
          <p:cNvSpPr/>
          <p:nvPr/>
        </p:nvSpPr>
        <p:spPr>
          <a:xfrm>
            <a:off x="6172200" y="1645920"/>
            <a:ext cx="5440680" cy="17373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3" name="badge"/>
          <p:cNvSpPr/>
          <p:nvPr/>
        </p:nvSpPr>
        <p:spPr>
          <a:xfrm>
            <a:off x="6400800" y="1874520"/>
            <a:ext cx="384048" cy="384048"/>
          </a:xfrm>
          <a:prstGeom prst="ellipse">
            <a:avLst/>
          </a:prstGeom>
          <a:solidFill>
            <a:srgbClr val="6B4C86"/>
          </a:solidFill>
          <a:ln w="12700">
            <a:solidFill>
              <a:srgbClr val="6B4C86"/>
            </a:solidFill>
            <a:prstDash val="solid"/>
          </a:ln>
        </p:spPr>
      </p:sp>
      <p:sp>
        <p:nvSpPr>
          <p:cNvPr id="14" name="Text 11"/>
          <p:cNvSpPr txBox="1"/>
          <p:nvPr/>
        </p:nvSpPr>
        <p:spPr>
          <a:xfrm>
            <a:off x="6400800" y="1874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6949440" y="1901952"/>
            <a:ext cx="44805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Competing explanations lower confidence</a:t>
            </a:r>
            <a:endParaRPr lang="en-US" sz="1800" dirty="0"/>
          </a:p>
        </p:txBody>
      </p:sp>
      <p:sp>
        <p:nvSpPr>
          <p:cNvPr id="16" name="Text 13"/>
          <p:cNvSpPr txBox="1"/>
          <p:nvPr/>
        </p:nvSpPr>
        <p:spPr>
          <a:xfrm>
            <a:off x="6949440" y="2377440"/>
            <a:ext cx="4480560" cy="96012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TC-13: a commit that moves a dependency and edits many source files scores lower, because it is weak evidence for either.</a:t>
            </a:r>
            <a:endParaRPr lang="en-US" sz="1400" dirty="0"/>
          </a:p>
        </p:txBody>
      </p:sp>
      <p:sp>
        <p:nvSpPr>
          <p:cNvPr id="17" name="card"/>
          <p:cNvSpPr/>
          <p:nvPr/>
        </p:nvSpPr>
        <p:spPr>
          <a:xfrm>
            <a:off x="548640" y="3566160"/>
            <a:ext cx="5440680" cy="17373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8" name="badge"/>
          <p:cNvSpPr/>
          <p:nvPr/>
        </p:nvSpPr>
        <p:spPr>
          <a:xfrm>
            <a:off x="777240" y="3794760"/>
            <a:ext cx="384048" cy="384048"/>
          </a:xfrm>
          <a:prstGeom prst="ellipse">
            <a:avLst/>
          </a:prstGeom>
          <a:solidFill>
            <a:srgbClr val="6B4C86"/>
          </a:solidFill>
          <a:ln w="12700">
            <a:solidFill>
              <a:srgbClr val="6B4C86"/>
            </a:solidFill>
            <a:prstDash val="solid"/>
          </a:ln>
        </p:spPr>
      </p:sp>
      <p:sp>
        <p:nvSpPr>
          <p:cNvPr id="19" name="Text 16"/>
          <p:cNvSpPr txBox="1"/>
          <p:nvPr/>
        </p:nvSpPr>
        <p:spPr>
          <a:xfrm>
            <a:off x="777240" y="3794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1325880" y="3822192"/>
            <a:ext cx="44805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A floor below which it will not answer</a:t>
            </a:r>
            <a:endParaRPr lang="en-US" sz="1800" dirty="0"/>
          </a:p>
        </p:txBody>
      </p:sp>
      <p:sp>
        <p:nvSpPr>
          <p:cNvPr id="21" name="Text 18"/>
          <p:cNvSpPr txBox="1"/>
          <p:nvPr/>
        </p:nvSpPr>
        <p:spPr>
          <a:xfrm>
            <a:off x="1325880" y="4297680"/>
            <a:ext cx="4480560" cy="96012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Under 0.5 confidence it reports insufficient evidence and asks for correlation (TC-14). The policy gate uses the same 0.5.</a:t>
            </a:r>
            <a:endParaRPr lang="en-US" sz="1400" dirty="0"/>
          </a:p>
        </p:txBody>
      </p:sp>
      <p:sp>
        <p:nvSpPr>
          <p:cNvPr id="22" name="card"/>
          <p:cNvSpPr/>
          <p:nvPr/>
        </p:nvSpPr>
        <p:spPr>
          <a:xfrm>
            <a:off x="6172200" y="3566160"/>
            <a:ext cx="5440680" cy="17373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3" name="badge"/>
          <p:cNvSpPr/>
          <p:nvPr/>
        </p:nvSpPr>
        <p:spPr>
          <a:xfrm>
            <a:off x="6400800" y="3794760"/>
            <a:ext cx="384048" cy="384048"/>
          </a:xfrm>
          <a:prstGeom prst="ellipse">
            <a:avLst/>
          </a:prstGeom>
          <a:solidFill>
            <a:srgbClr val="6B4C86"/>
          </a:solidFill>
          <a:ln w="12700">
            <a:solidFill>
              <a:srgbClr val="6B4C86"/>
            </a:solidFill>
            <a:prstDash val="solid"/>
          </a:ln>
        </p:spPr>
      </p:sp>
      <p:sp>
        <p:nvSpPr>
          <p:cNvPr id="24" name="Text 21"/>
          <p:cNvSpPr txBox="1"/>
          <p:nvPr/>
        </p:nvSpPr>
        <p:spPr>
          <a:xfrm>
            <a:off x="6400800" y="3794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6949440" y="3822192"/>
            <a:ext cx="4480560" cy="365760"/>
          </a:xfrm>
          <a:prstGeom prst="rect">
            <a:avLst/>
          </a:prstGeom>
          <a:noFill/>
          <a:ln/>
        </p:spPr>
        <p:txBody>
          <a:bodyPr wrap="square" lIns="0" tIns="0" rIns="0" bIns="0" rtlCol="0" anchor="t"/>
          <a:lstStyle/>
          <a:p>
            <a:pPr indent="0" marL="0">
              <a:buNone/>
            </a:pPr>
            <a:r>
              <a:rPr lang="en-US" sz="1800" b="1" dirty="0">
                <a:solidFill>
                  <a:srgbClr val="12232B"/>
                </a:solidFill>
                <a:latin typeface="Cambria" pitchFamily="34" charset="0"/>
                <a:ea typeface="Cambria" pitchFamily="34" charset="-122"/>
                <a:cs typeface="Cambria" pitchFamily="34" charset="-120"/>
              </a:rPr>
              <a:t>Unknown stays humble</a:t>
            </a:r>
            <a:endParaRPr lang="en-US" sz="1800" dirty="0"/>
          </a:p>
        </p:txBody>
      </p:sp>
      <p:sp>
        <p:nvSpPr>
          <p:cNvPr id="26" name="Text 23"/>
          <p:cNvSpPr txBox="1"/>
          <p:nvPr/>
        </p:nvSpPr>
        <p:spPr>
          <a:xfrm>
            <a:off x="6949440" y="4297680"/>
            <a:ext cx="4480560" cy="960120"/>
          </a:xfrm>
          <a:prstGeom prst="rect">
            <a:avLst/>
          </a:prstGeom>
          <a:noFill/>
          <a:ln/>
        </p:spPr>
        <p:txBody>
          <a:bodyPr wrap="square" lIns="0" tIns="0" rIns="0" bIns="0" rtlCol="0" anchor="t"/>
          <a:lstStyle/>
          <a:p>
            <a:pPr indent="0" marL="0">
              <a:buNone/>
            </a:pPr>
            <a:r>
              <a:rPr lang="en-US" sz="1400" dirty="0">
                <a:solidFill>
                  <a:srgbClr val="566770"/>
                </a:solidFill>
                <a:latin typeface="Calibri" pitchFamily="34" charset="0"/>
                <a:ea typeface="Calibri" pitchFamily="34" charset="-122"/>
                <a:cs typeface="Calibri" pitchFamily="34" charset="-120"/>
              </a:rPr>
              <a:t>An unknown verdict is capped at 0.4. A statement of ignorance may not be made confidently.</a:t>
            </a:r>
            <a:endParaRPr lang="en-US" sz="1400" dirty="0"/>
          </a:p>
        </p:txBody>
      </p:sp>
      <p:sp>
        <p:nvSpPr>
          <p:cNvPr id="27" name="card"/>
          <p:cNvSpPr/>
          <p:nvPr/>
        </p:nvSpPr>
        <p:spPr>
          <a:xfrm>
            <a:off x="548640" y="5532120"/>
            <a:ext cx="11091672" cy="685800"/>
          </a:xfrm>
          <a:prstGeom prst="rect">
            <a:avLst/>
          </a:prstGeom>
          <a:solidFill>
            <a:srgbClr val="DCEEEC"/>
          </a:solidFill>
          <a:ln w="9525">
            <a:solidFill>
              <a:srgbClr val="DCEEEC"/>
            </a:solidFill>
            <a:prstDash val="solid"/>
          </a:ln>
        </p:spPr>
      </p:sp>
      <p:sp>
        <p:nvSpPr>
          <p:cNvPr id="28" name="Text 25"/>
          <p:cNvSpPr txBox="1"/>
          <p:nvPr/>
        </p:nvSpPr>
        <p:spPr>
          <a:xfrm>
            <a:off x="822960" y="5532120"/>
            <a:ext cx="10543032" cy="685800"/>
          </a:xfrm>
          <a:prstGeom prst="rect">
            <a:avLst/>
          </a:prstGeom>
          <a:noFill/>
          <a:ln/>
        </p:spPr>
        <p:txBody>
          <a:bodyPr wrap="square" lIns="0" tIns="0" rIns="0" bIns="0" rtlCol="0" anchor="ctr"/>
          <a:lstStyle/>
          <a:p>
            <a:pPr indent="0" marL="0">
              <a:buNone/>
            </a:pPr>
            <a:r>
              <a:rPr lang="en-US" sz="1400" b="1" dirty="0">
                <a:solidFill>
                  <a:srgbClr val="12232B"/>
                </a:solidFill>
                <a:latin typeface="Calibri" pitchFamily="34" charset="0"/>
                <a:ea typeface="Calibri" pitchFamily="34" charset="-122"/>
                <a:cs typeface="Calibri" pitchFamily="34" charset="-120"/>
              </a:rPr>
              <a:t>Rule-based by design for now; LLM-assisted reasoning and calibration are planned and will be scored on the same scenarios.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Code agent: four scenarios, two of them restraint tests</a:t>
            </a:r>
            <a:endParaRPr lang="en-US" sz="3400" dirty="0"/>
          </a:p>
        </p:txBody>
      </p:sp>
      <p:sp>
        <p:nvSpPr>
          <p:cNvPr id="5" name="owner pill"/>
          <p:cNvSpPr/>
          <p:nvPr/>
        </p:nvSpPr>
        <p:spPr>
          <a:xfrm>
            <a:off x="9262872" y="301752"/>
            <a:ext cx="2377440" cy="310896"/>
          </a:xfrm>
          <a:prstGeom prst="roundRect">
            <a:avLst>
              <a:gd name="adj" fmla="val 50000"/>
            </a:avLst>
          </a:prstGeom>
          <a:solidFill>
            <a:srgbClr val="6B4C86"/>
          </a:solidFill>
          <a:ln w="12700">
            <a:solidFill>
              <a:srgbClr val="6B4C86"/>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 | Code agent and policy</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914400"/>
                <a:gridCol w="3566160"/>
                <a:gridCol w="5212080"/>
                <a:gridCol w="137160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Required answer</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54864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TC-03</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A dependency is bumped to an incompatible version</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dependency_regression, 0.70 or more, cites the pin change, says pin back</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TC-08</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A config value is set to an invalid number</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config_error, 0.70 or more, cites the value, says restore it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TC-12</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Failure with an empty commit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unknown, 0.40 or less, says a code change does not explain it</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TC-14</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Wide commit, no stage, no clear signal</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2232B"/>
                          </a:solidFill>
                          <a:latin typeface="Calibri" pitchFamily="34" charset="0"/>
                          <a:ea typeface="Calibri" pitchFamily="34" charset="-122"/>
                          <a:cs typeface="Calibri" pitchFamily="34" charset="-120"/>
                        </a:rPr>
                        <a:t>insufficient evidence, under 0.50, asks for correlation</a:t>
                      </a:r>
                      <a:endParaRPr lang="en-US" sz="13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card"/>
          <p:cNvSpPr/>
          <p:nvPr/>
        </p:nvSpPr>
        <p:spPr>
          <a:xfrm>
            <a:off x="548640" y="4572000"/>
            <a:ext cx="3657600" cy="16916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77240" y="4754880"/>
            <a:ext cx="1645920" cy="1325880"/>
          </a:xfrm>
          <a:prstGeom prst="rect">
            <a:avLst/>
          </a:prstGeom>
          <a:noFill/>
          <a:ln/>
        </p:spPr>
        <p:txBody>
          <a:bodyPr wrap="square" lIns="0" tIns="0" rIns="0" bIns="0" rtlCol="0" anchor="ctr"/>
          <a:lstStyle/>
          <a:p>
            <a:pPr indent="0" marL="0">
              <a:buNone/>
            </a:pPr>
            <a:r>
              <a:rPr lang="en-US" sz="3600" b="1" dirty="0">
                <a:solidFill>
                  <a:srgbClr val="6B4C86"/>
                </a:solidFill>
                <a:latin typeface="Cambria" pitchFamily="34" charset="0"/>
                <a:ea typeface="Cambria" pitchFamily="34" charset="-122"/>
                <a:cs typeface="Cambria" pitchFamily="34" charset="-120"/>
              </a:rPr>
              <a:t>4 / 4</a:t>
            </a:r>
            <a:endParaRPr lang="en-US" sz="3600" dirty="0"/>
          </a:p>
        </p:txBody>
      </p:sp>
      <p:sp>
        <p:nvSpPr>
          <p:cNvPr id="10" name="Text 6"/>
          <p:cNvSpPr txBox="1"/>
          <p:nvPr/>
        </p:nvSpPr>
        <p:spPr>
          <a:xfrm>
            <a:off x="2377440" y="4754880"/>
            <a:ext cx="1691640" cy="1325880"/>
          </a:xfrm>
          <a:prstGeom prst="rect">
            <a:avLst/>
          </a:prstGeom>
          <a:noFill/>
          <a:ln/>
        </p:spPr>
        <p:txBody>
          <a:bodyPr wrap="square" lIns="0" tIns="0" rIns="0" bIns="0" rtlCol="0" anchor="ctr"/>
          <a:lstStyle/>
          <a:p>
            <a:pPr indent="0" marL="0">
              <a:buNone/>
            </a:pPr>
            <a:r>
              <a:rPr lang="en-US" sz="1300" dirty="0">
                <a:solidFill>
                  <a:srgbClr val="12232B"/>
                </a:solidFill>
                <a:latin typeface="Calibri" pitchFamily="34" charset="0"/>
                <a:ea typeface="Calibri" pitchFamily="34" charset="-122"/>
                <a:cs typeface="Calibri" pitchFamily="34" charset="-120"/>
              </a:rPr>
              <a:t>scenarios meet every stated criterion</a:t>
            </a:r>
            <a:endParaRPr lang="en-US" sz="1300" dirty="0"/>
          </a:p>
        </p:txBody>
      </p:sp>
      <p:sp>
        <p:nvSpPr>
          <p:cNvPr id="11" name="placeholder"/>
          <p:cNvSpPr/>
          <p:nvPr/>
        </p:nvSpPr>
        <p:spPr>
          <a:xfrm>
            <a:off x="4434840" y="4572000"/>
            <a:ext cx="7205472" cy="1691640"/>
          </a:xfrm>
          <a:prstGeom prst="rect">
            <a:avLst/>
          </a:prstGeom>
          <a:solidFill>
            <a:srgbClr val="FBEFD9"/>
          </a:solidFill>
          <a:ln w="19050">
            <a:solidFill>
              <a:srgbClr val="E8A33D"/>
            </a:solidFill>
            <a:prstDash val="dash"/>
          </a:ln>
        </p:spPr>
      </p:sp>
      <p:sp>
        <p:nvSpPr>
          <p:cNvPr id="12" name="Text 8"/>
          <p:cNvSpPr txBox="1"/>
          <p:nvPr/>
        </p:nvSpPr>
        <p:spPr>
          <a:xfrm>
            <a:off x="4663440" y="4754880"/>
            <a:ext cx="6748272" cy="228600"/>
          </a:xfrm>
          <a:prstGeom prst="rect">
            <a:avLst/>
          </a:prstGeom>
          <a:noFill/>
          <a:ln/>
        </p:spPr>
        <p:txBody>
          <a:bodyPr wrap="square" lIns="0" tIns="0" rIns="0" bIns="0" rtlCol="0" anchor="t"/>
          <a:lstStyle/>
          <a:p>
            <a:pPr indent="0" marL="0">
              <a:buNone/>
            </a:pPr>
            <a:r>
              <a:rPr lang="en-US" sz="1100" b="1" spc="300" kern="0" dirty="0">
                <a:solidFill>
                  <a:srgbClr val="9A6A12"/>
                </a:solidFill>
                <a:latin typeface="Calibri" pitchFamily="34" charset="0"/>
                <a:ea typeface="Calibri" pitchFamily="34" charset="-122"/>
                <a:cs typeface="Calibri" pitchFamily="34" charset="-120"/>
              </a:rPr>
              <a:t>PLACEHOLDER</a:t>
            </a:r>
            <a:endParaRPr lang="en-US" sz="1100" dirty="0"/>
          </a:p>
        </p:txBody>
      </p:sp>
      <p:sp>
        <p:nvSpPr>
          <p:cNvPr id="13" name="Text 9"/>
          <p:cNvSpPr txBox="1"/>
          <p:nvPr/>
        </p:nvSpPr>
        <p:spPr>
          <a:xfrm>
            <a:off x="4663440" y="5029200"/>
            <a:ext cx="6748272" cy="457200"/>
          </a:xfrm>
          <a:prstGeom prst="rect">
            <a:avLst/>
          </a:prstGeom>
          <a:noFill/>
          <a:ln/>
        </p:spPr>
        <p:txBody>
          <a:bodyPr wrap="square" lIns="0" tIns="0" rIns="0" bIns="0" rtlCol="0" anchor="t"/>
          <a:lstStyle/>
          <a:p>
            <a:pPr indent="0" marL="0">
              <a:buNone/>
            </a:pPr>
            <a:r>
              <a:rPr lang="en-US" sz="2000" b="1" dirty="0">
                <a:solidFill>
                  <a:srgbClr val="12232B"/>
                </a:solidFill>
                <a:latin typeface="Cambria" pitchFamily="34" charset="0"/>
                <a:ea typeface="Cambria" pitchFamily="34" charset="-122"/>
                <a:cs typeface="Cambria" pitchFamily="34" charset="-120"/>
              </a:rPr>
              <a:t>Still to add (P3)</a:t>
            </a:r>
            <a:endParaRPr lang="en-US" sz="2000" dirty="0"/>
          </a:p>
        </p:txBody>
      </p:sp>
      <p:sp>
        <p:nvSpPr>
          <p:cNvPr id="14" name="Text 10"/>
          <p:cNvSpPr txBox="1"/>
          <p:nvPr/>
        </p:nvSpPr>
        <p:spPr>
          <a:xfrm>
            <a:off x="4663440" y="5532120"/>
            <a:ext cx="6748272" cy="594360"/>
          </a:xfrm>
          <a:prstGeom prst="rect">
            <a:avLst/>
          </a:prstGeom>
          <a:noFill/>
          <a:ln/>
        </p:spPr>
        <p:txBody>
          <a:bodyPr wrap="square" lIns="0" tIns="0" rIns="0" bIns="0" rtlCol="0" anchor="t"/>
          <a:lstStyle/>
          <a:p>
            <a:pPr indent="0" marL="0">
              <a:spcAft>
                <a:spcPts val="400"/>
              </a:spcAft>
              <a:buNone/>
            </a:pPr>
            <a:r>
              <a:rPr lang="en-US" sz="1600" dirty="0">
                <a:solidFill>
                  <a:srgbClr val="566770"/>
                </a:solidFill>
                <a:latin typeface="Calibri" pitchFamily="34" charset="0"/>
                <a:ea typeface="Calibri" pitchFamily="34" charset="-122"/>
                <a:cs typeface="Calibri" pitchFamily="34" charset="-120"/>
              </a:rPr>
              <a:t>Baseline (always blame the latest commit) and LLM-assisted reasoning compared on these scenarios: TBD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Policy guardrails: what the system may never do</a:t>
            </a:r>
            <a:endParaRPr lang="en-US" sz="3400" dirty="0"/>
          </a:p>
        </p:txBody>
      </p:sp>
      <p:sp>
        <p:nvSpPr>
          <p:cNvPr id="5" name="owner pill"/>
          <p:cNvSpPr/>
          <p:nvPr/>
        </p:nvSpPr>
        <p:spPr>
          <a:xfrm>
            <a:off x="9262872" y="301752"/>
            <a:ext cx="2377440" cy="310896"/>
          </a:xfrm>
          <a:prstGeom prst="roundRect">
            <a:avLst>
              <a:gd name="adj" fmla="val 50000"/>
            </a:avLst>
          </a:prstGeom>
          <a:solidFill>
            <a:srgbClr val="6B4C86"/>
          </a:solidFill>
          <a:ln w="12700">
            <a:solidFill>
              <a:srgbClr val="6B4C86"/>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 | Code agent and policy</a:t>
            </a:r>
            <a:endParaRPr lang="en-US" sz="1200" dirty="0"/>
          </a:p>
        </p:txBody>
      </p:sp>
      <p:sp>
        <p:nvSpPr>
          <p:cNvPr id="7" name="card"/>
          <p:cNvSpPr/>
          <p:nvPr/>
        </p:nvSpPr>
        <p:spPr>
          <a:xfrm>
            <a:off x="548640" y="1645920"/>
            <a:ext cx="6858000" cy="448056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783080"/>
            <a:ext cx="6309360" cy="365760"/>
          </a:xfrm>
          <a:prstGeom prst="rect">
            <a:avLst/>
          </a:prstGeom>
          <a:noFill/>
          <a:ln/>
        </p:spPr>
        <p:txBody>
          <a:bodyPr wrap="square" lIns="0" tIns="0" rIns="0" bIns="0" rtlCol="0" anchor="t"/>
          <a:lstStyle/>
          <a:p>
            <a:pPr indent="0" marL="0">
              <a:buNone/>
            </a:pPr>
            <a:r>
              <a:rPr lang="en-US" sz="2000" b="1" dirty="0">
                <a:solidFill>
                  <a:srgbClr val="6B4C86"/>
                </a:solidFill>
                <a:latin typeface="Cambria" pitchFamily="34" charset="0"/>
                <a:ea typeface="Cambria" pitchFamily="34" charset="-122"/>
                <a:cs typeface="Cambria" pitchFamily="34" charset="-120"/>
              </a:rPr>
              <a:t>Before a reviewer sees a fix</a:t>
            </a:r>
            <a:endParaRPr lang="en-US" sz="2000" dirty="0"/>
          </a:p>
        </p:txBody>
      </p:sp>
      <p:sp>
        <p:nvSpPr>
          <p:cNvPr id="9" name="Text 6"/>
          <p:cNvSpPr txBox="1"/>
          <p:nvPr/>
        </p:nvSpPr>
        <p:spPr>
          <a:xfrm>
            <a:off x="822960" y="2286000"/>
            <a:ext cx="6309360" cy="3749040"/>
          </a:xfrm>
          <a:prstGeom prst="rect">
            <a:avLst/>
          </a:prstGeom>
          <a:noFill/>
          <a:ln/>
        </p:spPr>
        <p:txBody>
          <a:bodyPr wrap="square" lIns="0" tIns="0" rIns="0" bIns="0" rtlCol="0" anchor="t"/>
          <a:lstStyle/>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Confidence under 0.5: keep investigating instead of guessing</a:t>
            </a:r>
            <a:endParaRPr lang="en-US" sz="1700" dirty="0"/>
          </a:p>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More than 5 files or 40 lines: a minimal fix, not a rewrite</a:t>
            </a:r>
            <a:endParaRPr lang="en-US" sz="1700" dirty="0"/>
          </a:p>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Any protected path: Jenkinsfile, CI config, monitoring, migrations, Dockerfiles, and the policies themselves</a:t>
            </a:r>
            <a:endParaRPr lang="en-US" sz="1700" dirty="0"/>
          </a:p>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Any secret path: .env, keys, credentials</a:t>
            </a:r>
            <a:endParaRPr lang="en-US" sz="1700" dirty="0"/>
          </a:p>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Anything outside target_app/</a:t>
            </a:r>
            <a:endParaRPr lang="en-US" sz="1700" dirty="0"/>
          </a:p>
          <a:p>
            <a:pPr marL="203200" indent="-203200">
              <a:spcAft>
                <a:spcPts val="500"/>
              </a:spcAft>
              <a:buSzPct val="100000"/>
              <a:buChar char="•"/>
            </a:pPr>
            <a:r>
              <a:rPr lang="en-US" sz="1700" dirty="0">
                <a:solidFill>
                  <a:srgbClr val="12232B"/>
                </a:solidFill>
                <a:latin typeface="Calibri" pitchFamily="34" charset="0"/>
                <a:ea typeface="Calibri" pitchFamily="34" charset="-122"/>
                <a:cs typeface="Calibri" pitchFamily="34" charset="-120"/>
              </a:rPr>
              <a:t>Deleting a test, or adding a skip or a disabled check</a:t>
            </a:r>
            <a:endParaRPr lang="en-US" sz="1700" dirty="0"/>
          </a:p>
        </p:txBody>
      </p:sp>
      <p:sp>
        <p:nvSpPr>
          <p:cNvPr id="10" name="card"/>
          <p:cNvSpPr/>
          <p:nvPr/>
        </p:nvSpPr>
        <p:spPr>
          <a:xfrm>
            <a:off x="7680960" y="1645920"/>
            <a:ext cx="3959352" cy="246888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7955280" y="1783080"/>
            <a:ext cx="3474720" cy="365760"/>
          </a:xfrm>
          <a:prstGeom prst="rect">
            <a:avLst/>
          </a:prstGeom>
          <a:noFill/>
          <a:ln/>
        </p:spPr>
        <p:txBody>
          <a:bodyPr wrap="square" lIns="0" tIns="0" rIns="0" bIns="0" rtlCol="0" anchor="t"/>
          <a:lstStyle/>
          <a:p>
            <a:pPr indent="0" marL="0">
              <a:buNone/>
            </a:pPr>
            <a:r>
              <a:rPr lang="en-US" sz="2000" b="1" dirty="0">
                <a:solidFill>
                  <a:srgbClr val="6B4C86"/>
                </a:solidFill>
                <a:latin typeface="Cambria" pitchFamily="34" charset="0"/>
                <a:ea typeface="Cambria" pitchFamily="34" charset="-122"/>
                <a:cs typeface="Cambria" pitchFamily="34" charset="-120"/>
              </a:rPr>
              <a:t>Before a PR opens</a:t>
            </a:r>
            <a:endParaRPr lang="en-US" sz="2000" dirty="0"/>
          </a:p>
        </p:txBody>
      </p:sp>
      <p:sp>
        <p:nvSpPr>
          <p:cNvPr id="12" name="Text 9"/>
          <p:cNvSpPr txBox="1"/>
          <p:nvPr/>
        </p:nvSpPr>
        <p:spPr>
          <a:xfrm>
            <a:off x="7955280" y="2286000"/>
            <a:ext cx="3474720" cy="173736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12232B"/>
                </a:solidFill>
                <a:latin typeface="Calibri" pitchFamily="34" charset="0"/>
                <a:ea typeface="Calibri" pitchFamily="34" charset="-122"/>
                <a:cs typeface="Calibri" pitchFamily="34" charset="-120"/>
              </a:rPr>
              <a:t>A recorded human approval with a named reviewer</a:t>
            </a:r>
            <a:endParaRPr lang="en-US" sz="1500" dirty="0"/>
          </a:p>
          <a:p>
            <a:pPr marL="203200" indent="-203200">
              <a:spcAft>
                <a:spcPts val="500"/>
              </a:spcAft>
              <a:buSzPct val="100000"/>
              <a:buChar char="•"/>
            </a:pPr>
            <a:r>
              <a:rPr lang="en-US" sz="1500" dirty="0">
                <a:solidFill>
                  <a:srgbClr val="12232B"/>
                </a:solidFill>
                <a:latin typeface="Calibri" pitchFamily="34" charset="0"/>
                <a:ea typeface="Calibri" pitchFamily="34" charset="-122"/>
                <a:cs typeface="Calibri" pitchFamily="34" charset="-120"/>
              </a:rPr>
              <a:t>The PR must be a draft</a:t>
            </a:r>
            <a:endParaRPr lang="en-US" sz="1500" dirty="0"/>
          </a:p>
          <a:p>
            <a:pPr marL="203200" indent="-203200">
              <a:spcAft>
                <a:spcPts val="500"/>
              </a:spcAft>
              <a:buSzPct val="100000"/>
              <a:buChar char="•"/>
            </a:pPr>
            <a:r>
              <a:rPr lang="en-US" sz="1500" dirty="0">
                <a:solidFill>
                  <a:srgbClr val="12232B"/>
                </a:solidFill>
                <a:latin typeface="Calibri" pitchFamily="34" charset="0"/>
                <a:ea typeface="Calibri" pitchFamily="34" charset="-122"/>
                <a:cs typeface="Calibri" pitchFamily="34" charset="-120"/>
              </a:rPr>
              <a:t>Auto-merge must be off</a:t>
            </a:r>
            <a:endParaRPr lang="en-US" sz="1500" dirty="0"/>
          </a:p>
        </p:txBody>
      </p:sp>
      <p:sp>
        <p:nvSpPr>
          <p:cNvPr id="13" name="card"/>
          <p:cNvSpPr/>
          <p:nvPr/>
        </p:nvSpPr>
        <p:spPr>
          <a:xfrm>
            <a:off x="7680960" y="4297680"/>
            <a:ext cx="3959352" cy="1828800"/>
          </a:xfrm>
          <a:prstGeom prst="rect">
            <a:avLst/>
          </a:prstGeom>
          <a:solidFill>
            <a:srgbClr val="DCEEEC"/>
          </a:solidFill>
          <a:ln w="9525">
            <a:solidFill>
              <a:srgbClr val="DCEEEC"/>
            </a:solidFill>
            <a:prstDash val="solid"/>
          </a:ln>
        </p:spPr>
      </p:sp>
      <p:sp>
        <p:nvSpPr>
          <p:cNvPr id="14" name="Text 11"/>
          <p:cNvSpPr txBox="1"/>
          <p:nvPr/>
        </p:nvSpPr>
        <p:spPr>
          <a:xfrm>
            <a:off x="7955280" y="4389120"/>
            <a:ext cx="3474720" cy="1645920"/>
          </a:xfrm>
          <a:prstGeom prst="rect">
            <a:avLst/>
          </a:prstGeom>
          <a:noFill/>
          <a:ln/>
        </p:spPr>
        <p:txBody>
          <a:bodyPr wrap="square" lIns="0" tIns="0" rIns="0" bIns="0" rtlCol="0" anchor="ctr"/>
          <a:lstStyle/>
          <a:p>
            <a:pPr indent="0" marL="0">
              <a:buNone/>
            </a:pPr>
            <a:r>
              <a:rPr lang="en-US" sz="1600" b="1" dirty="0">
                <a:solidFill>
                  <a:srgbClr val="12232B"/>
                </a:solidFill>
                <a:latin typeface="Calibri" pitchFamily="34" charset="0"/>
                <a:ea typeface="Calibri" pitchFamily="34" charset="-122"/>
                <a:cs typeface="Calibri" pitchFamily="34" charset="-120"/>
              </a:rPr>
              <a:t>Fails closed: if OPA cannot be reached, the proposal is blocked.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TECHNICAL IMPLEMENTATION</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Tools, models and retrieval</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Tools</a:t>
            </a:r>
            <a:endParaRPr lang="en-US" sz="2400" dirty="0"/>
          </a:p>
        </p:txBody>
      </p:sp>
      <p:sp>
        <p:nvSpPr>
          <p:cNvPr id="9" name="Text 6"/>
          <p:cNvSpPr txBox="1"/>
          <p:nvPr/>
        </p:nvSpPr>
        <p:spPr>
          <a:xfrm>
            <a:off x="822960"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Jenkins, RabbitMQ, PostgreSQL</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Prometheus and Grafana</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FastAPI, Pydantic v2, LangGraph</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OPA / Rego policy gate</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Docker Compose, pytest</a:t>
            </a:r>
            <a:endParaRPr lang="en-US" sz="1600" dirty="0"/>
          </a:p>
        </p:txBody>
      </p:sp>
      <p:sp>
        <p:nvSpPr>
          <p:cNvPr id="10" name="card"/>
          <p:cNvSpPr/>
          <p:nvPr/>
        </p:nvSpPr>
        <p:spPr>
          <a:xfrm>
            <a:off x="4329684"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4604004"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Models</a:t>
            </a:r>
            <a:endParaRPr lang="en-US" sz="2400" dirty="0"/>
          </a:p>
        </p:txBody>
      </p:sp>
      <p:sp>
        <p:nvSpPr>
          <p:cNvPr id="12" name="Text 9"/>
          <p:cNvSpPr txBox="1"/>
          <p:nvPr/>
        </p:nvSpPr>
        <p:spPr>
          <a:xfrm>
            <a:off x="4604004"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Jenkins agent: Gemini Flash with read-only tools, and a rule-based classifier as fallback</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Metrics agent: no LLM. Robust z-score, persistence, correlation</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Code agent: rule-based now, LLM reasoning planned</a:t>
            </a:r>
            <a:endParaRPr lang="en-US" sz="1600" dirty="0"/>
          </a:p>
        </p:txBody>
      </p:sp>
      <p:sp>
        <p:nvSpPr>
          <p:cNvPr id="13" name="card"/>
          <p:cNvSpPr/>
          <p:nvPr/>
        </p:nvSpPr>
        <p:spPr>
          <a:xfrm>
            <a:off x="8110728" y="1691640"/>
            <a:ext cx="3529584"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385048" y="1874520"/>
            <a:ext cx="2980944" cy="457200"/>
          </a:xfrm>
          <a:prstGeom prst="rect">
            <a:avLst/>
          </a:prstGeom>
          <a:noFill/>
          <a:ln/>
        </p:spPr>
        <p:txBody>
          <a:bodyPr wrap="square" lIns="0" tIns="0" rIns="0" bIns="0" rtlCol="0" anchor="t"/>
          <a:lstStyle/>
          <a:p>
            <a:pPr indent="0" marL="0">
              <a:buNone/>
            </a:pPr>
            <a:r>
              <a:rPr lang="en-US" sz="2400" b="1" dirty="0">
                <a:solidFill>
                  <a:srgbClr val="1F8A8A"/>
                </a:solidFill>
                <a:latin typeface="Cambria" pitchFamily="34" charset="0"/>
                <a:ea typeface="Cambria" pitchFamily="34" charset="-122"/>
                <a:cs typeface="Cambria" pitchFamily="34" charset="-120"/>
              </a:rPr>
              <a:t>Retrieval</a:t>
            </a:r>
            <a:endParaRPr lang="en-US" sz="2400" dirty="0"/>
          </a:p>
        </p:txBody>
      </p:sp>
      <p:sp>
        <p:nvSpPr>
          <p:cNvPr id="15" name="Text 12"/>
          <p:cNvSpPr txBox="1"/>
          <p:nvPr/>
        </p:nvSpPr>
        <p:spPr>
          <a:xfrm>
            <a:off x="8385048" y="2514600"/>
            <a:ext cx="2980944" cy="35204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No vector search or RAG</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Jenkins: console log, stage and test report via API</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Metrics: PromQL range queries</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Code: GitHub reads of commits and diffs</a:t>
            </a:r>
            <a:endParaRPr lang="en-US" sz="1600" dirty="0"/>
          </a:p>
          <a:p>
            <a:pPr marL="203200" indent="-203200">
              <a:spcAft>
                <a:spcPts val="600"/>
              </a:spcAft>
              <a:buSzPct val="100000"/>
              <a:buChar char="•"/>
            </a:pPr>
            <a:r>
              <a:rPr lang="en-US" sz="1600" dirty="0">
                <a:solidFill>
                  <a:srgbClr val="12232B"/>
                </a:solidFill>
                <a:latin typeface="Calibri" pitchFamily="34" charset="0"/>
                <a:ea typeface="Calibri" pitchFamily="34" charset="-122"/>
                <a:cs typeface="Calibri" pitchFamily="34" charset="-120"/>
              </a:rPr>
              <a:t>All text redacted before storage or any LLM</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ALIGNMENT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Does the design answer the research question?</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566160"/>
                <a:gridCol w="5120640"/>
                <a:gridCol w="237744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 of the question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is tested</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232B"/>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Identify the root-cause type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P1 6 fixtures, P2 14 scenarios and a sweep, P3 4 scenarios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Covered per agent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Better than a simple baseline</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P2 against thresholds. P1 and P3 baselines not yet run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9A6A12"/>
                          </a:solidFill>
                          <a:latin typeface="Calibri" pitchFamily="34" charset="0"/>
                          <a:ea typeface="Calibri" pitchFamily="34" charset="-122"/>
                          <a:cs typeface="Calibri" pitchFamily="34" charset="-120"/>
                        </a:rPr>
                        <a:t>Covered for P2 only</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Recognise when it cannot</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P2 false-positive rate, P3 TC-12 and TC-14, P1 unknown cap</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Covered</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LLM compared with rules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P2: Gemini 3.5 Flash on the scenarios. P1: LLM versus rules not yet run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9A6A12"/>
                          </a:solidFill>
                          <a:latin typeface="Calibri" pitchFamily="34" charset="0"/>
                          <a:ea typeface="Calibri" pitchFamily="34" charset="-122"/>
                          <a:cs typeface="Calibri" pitchFamily="34" charset="-120"/>
                        </a:rPr>
                        <a:t>Covered for P2 only</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Works on the real stack</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Live runs with injected, labelled faults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9A6A12"/>
                          </a:solidFill>
                          <a:latin typeface="Calibri" pitchFamily="34" charset="0"/>
                          <a:ea typeface="Calibri" pitchFamily="34" charset="-122"/>
                          <a:cs typeface="Calibri" pitchFamily="34" charset="-120"/>
                        </a:rPr>
                        <a:t>Pending runs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Combines evidence across agents</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2232B"/>
                          </a:solidFill>
                          <a:latin typeface="Calibri" pitchFamily="34" charset="0"/>
                          <a:ea typeface="Calibri" pitchFamily="34" charset="-122"/>
                          <a:cs typeface="Calibri" pitchFamily="34" charset="-120"/>
                        </a:rPr>
                        <a:t>Coordinator fusion</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A33B2B"/>
                          </a:solidFill>
                          <a:latin typeface="Calibri" pitchFamily="34" charset="0"/>
                          <a:ea typeface="Calibri" pitchFamily="34" charset="-122"/>
                          <a:cs typeface="Calibri" pitchFamily="34" charset="-120"/>
                        </a:rPr>
                        <a:t>Not covered, future work</a:t>
                      </a:r>
                      <a:endParaRPr lang="en-US" sz="1400" dirty="0">
                        <a:latin typeface="Calibri" charset="0"/>
                        <a:ea typeface="Calibri" charset="0"/>
                        <a:cs typeface="Calibri" charset="0"/>
                      </a:endParaRPr>
                    </a:p>
                  </a:txBody>
                  <a:tcPr marL="91440" marR="91440" marT="45720" marB="4572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1600" b="1" dirty="0">
                <a:solidFill>
                  <a:srgbClr val="1F8A8A"/>
                </a:solidFill>
                <a:latin typeface="Calibri" pitchFamily="34" charset="0"/>
                <a:ea typeface="Calibri" pitchFamily="34" charset="-122"/>
                <a:cs typeface="Calibri" pitchFamily="34" charset="-120"/>
              </a:rPr>
              <a:t>Scope of the claim: each agent is evaluated on its own; the combined system is not yet.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Limitations and failure cases</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691640"/>
            <a:ext cx="3566160" cy="32461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777240" y="1828800"/>
            <a:ext cx="3108960" cy="41148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P1  Jenkins</a:t>
            </a:r>
            <a:endParaRPr lang="en-US" sz="2000" dirty="0"/>
          </a:p>
        </p:txBody>
      </p:sp>
      <p:sp>
        <p:nvSpPr>
          <p:cNvPr id="9" name="Text 6"/>
          <p:cNvSpPr txBox="1"/>
          <p:nvPr/>
        </p:nvSpPr>
        <p:spPr>
          <a:xfrm>
            <a:off x="777240" y="2377440"/>
            <a:ext cx="3108960" cy="24688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Regex rules can miss unusual log wording</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dependency_regression is only 0.65 and needs GitHub to confirm</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Nine rules; no real-LLM evaluation yet</a:t>
            </a:r>
            <a:endParaRPr lang="en-US" sz="1600" dirty="0"/>
          </a:p>
        </p:txBody>
      </p:sp>
      <p:sp>
        <p:nvSpPr>
          <p:cNvPr id="10" name="card"/>
          <p:cNvSpPr/>
          <p:nvPr/>
        </p:nvSpPr>
        <p:spPr>
          <a:xfrm>
            <a:off x="4297680" y="1691640"/>
            <a:ext cx="3566160" cy="32461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4526280" y="1828800"/>
            <a:ext cx="3108960" cy="411480"/>
          </a:xfrm>
          <a:prstGeom prst="rect">
            <a:avLst/>
          </a:prstGeom>
          <a:noFill/>
          <a:ln/>
        </p:spPr>
        <p:txBody>
          <a:bodyPr wrap="square" lIns="0" tIns="0" rIns="0" bIns="0" rtlCol="0" anchor="t"/>
          <a:lstStyle/>
          <a:p>
            <a:pPr indent="0" marL="0">
              <a:buNone/>
            </a:pPr>
            <a:r>
              <a:rPr lang="en-US" sz="2000" b="1" dirty="0">
                <a:solidFill>
                  <a:srgbClr val="B97A14"/>
                </a:solidFill>
                <a:latin typeface="Cambria" pitchFamily="34" charset="0"/>
                <a:ea typeface="Cambria" pitchFamily="34" charset="-122"/>
                <a:cs typeface="Cambria" pitchFamily="34" charset="-120"/>
              </a:rPr>
              <a:t>P2  Metrics</a:t>
            </a:r>
            <a:endParaRPr lang="en-US" sz="2000" dirty="0"/>
          </a:p>
        </p:txBody>
      </p:sp>
      <p:sp>
        <p:nvSpPr>
          <p:cNvPr id="12" name="Text 9"/>
          <p:cNvSpPr txBox="1"/>
          <p:nvPr/>
        </p:nvSpPr>
        <p:spPr>
          <a:xfrm>
            <a:off x="4526280" y="2377440"/>
            <a:ext cx="3108960" cy="24688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Faults below the floors are missed: latency to 0.25 s, CPU to 0.03 cores, memory under 5 MiB</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CPU and memory share one type; latency is labelled timeout</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Four metrics, one small app</a:t>
            </a:r>
            <a:endParaRPr lang="en-US" sz="1600" dirty="0"/>
          </a:p>
        </p:txBody>
      </p:sp>
      <p:sp>
        <p:nvSpPr>
          <p:cNvPr id="13" name="card"/>
          <p:cNvSpPr/>
          <p:nvPr/>
        </p:nvSpPr>
        <p:spPr>
          <a:xfrm>
            <a:off x="8046720" y="1691640"/>
            <a:ext cx="3566160" cy="324612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275320" y="1828800"/>
            <a:ext cx="3108960" cy="411480"/>
          </a:xfrm>
          <a:prstGeom prst="rect">
            <a:avLst/>
          </a:prstGeom>
          <a:noFill/>
          <a:ln/>
        </p:spPr>
        <p:txBody>
          <a:bodyPr wrap="square" lIns="0" tIns="0" rIns="0" bIns="0" rtlCol="0" anchor="t"/>
          <a:lstStyle/>
          <a:p>
            <a:pPr indent="0" marL="0">
              <a:buNone/>
            </a:pPr>
            <a:r>
              <a:rPr lang="en-US" sz="2000" b="1" dirty="0">
                <a:solidFill>
                  <a:srgbClr val="6B4C86"/>
                </a:solidFill>
                <a:latin typeface="Cambria" pitchFamily="34" charset="0"/>
                <a:ea typeface="Cambria" pitchFamily="34" charset="-122"/>
                <a:cs typeface="Cambria" pitchFamily="34" charset="-120"/>
              </a:rPr>
              <a:t>P3  Code</a:t>
            </a:r>
            <a:endParaRPr lang="en-US" sz="2000" dirty="0"/>
          </a:p>
        </p:txBody>
      </p:sp>
      <p:sp>
        <p:nvSpPr>
          <p:cNvPr id="15" name="Text 12"/>
          <p:cNvSpPr txBox="1"/>
          <p:nvPr/>
        </p:nvSpPr>
        <p:spPr>
          <a:xfrm>
            <a:off x="8275320" y="2377440"/>
            <a:ext cx="3108960" cy="24688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Sees only the failing commit and recent history</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Reads dependency, config and file-role signals, not program logic</a:t>
            </a:r>
            <a:endParaRPr lang="en-US" sz="1600" dirty="0"/>
          </a:p>
          <a:p>
            <a:pPr marL="203200" indent="-203200">
              <a:spcAft>
                <a:spcPts val="500"/>
              </a:spcAft>
              <a:buSzPct val="100000"/>
              <a:buChar char="•"/>
            </a:pPr>
            <a:r>
              <a:rPr lang="en-US" sz="1600" dirty="0">
                <a:solidFill>
                  <a:srgbClr val="12232B"/>
                </a:solidFill>
                <a:latin typeface="Calibri" pitchFamily="34" charset="0"/>
                <a:ea typeface="Calibri" pitchFamily="34" charset="-122"/>
                <a:cs typeface="Calibri" pitchFamily="34" charset="-120"/>
              </a:rPr>
              <a:t>Rule-based and read-only so far</a:t>
            </a:r>
            <a:endParaRPr lang="en-US" sz="1600" dirty="0"/>
          </a:p>
        </p:txBody>
      </p:sp>
      <p:sp>
        <p:nvSpPr>
          <p:cNvPr id="16" name="card"/>
          <p:cNvSpPr/>
          <p:nvPr/>
        </p:nvSpPr>
        <p:spPr>
          <a:xfrm>
            <a:off x="548640" y="5120640"/>
            <a:ext cx="11091672" cy="1097280"/>
          </a:xfrm>
          <a:prstGeom prst="rect">
            <a:avLst/>
          </a:prstGeom>
          <a:solidFill>
            <a:srgbClr val="DCEEEC"/>
          </a:solidFill>
          <a:ln w="9525">
            <a:solidFill>
              <a:srgbClr val="DCEEEC"/>
            </a:solidFill>
            <a:prstDash val="solid"/>
          </a:ln>
        </p:spPr>
      </p:sp>
      <p:sp>
        <p:nvSpPr>
          <p:cNvPr id="17" name="Text 14"/>
          <p:cNvSpPr txBox="1"/>
          <p:nvPr/>
        </p:nvSpPr>
        <p:spPr>
          <a:xfrm>
            <a:off x="822960" y="5193792"/>
            <a:ext cx="3657600" cy="320040"/>
          </a:xfrm>
          <a:prstGeom prst="rect">
            <a:avLst/>
          </a:prstGeom>
          <a:noFill/>
          <a:ln/>
        </p:spPr>
        <p:txBody>
          <a:bodyPr wrap="square" lIns="0" tIns="0" rIns="0" bIns="0" rtlCol="0" anchor="t"/>
          <a:lstStyle/>
          <a:p>
            <a:pPr indent="0" marL="0">
              <a:buNone/>
            </a:pPr>
            <a:r>
              <a:rPr lang="en-US" sz="1600" b="1" dirty="0">
                <a:solidFill>
                  <a:srgbClr val="12232B"/>
                </a:solidFill>
                <a:latin typeface="Cambria" pitchFamily="34" charset="0"/>
                <a:ea typeface="Cambria" pitchFamily="34" charset="-122"/>
                <a:cs typeface="Cambria" pitchFamily="34" charset="-120"/>
              </a:rPr>
              <a:t>Across the project</a:t>
            </a:r>
            <a:endParaRPr lang="en-US" sz="1600" dirty="0"/>
          </a:p>
        </p:txBody>
      </p:sp>
      <p:sp>
        <p:nvSpPr>
          <p:cNvPr id="18" name="Text 15"/>
          <p:cNvSpPr txBox="1"/>
          <p:nvPr/>
        </p:nvSpPr>
        <p:spPr>
          <a:xfrm>
            <a:off x="822960" y="5532120"/>
            <a:ext cx="10543032" cy="640080"/>
          </a:xfrm>
          <a:prstGeom prst="rect">
            <a:avLst/>
          </a:prstGeom>
          <a:noFill/>
          <a:ln/>
        </p:spPr>
        <p:txBody>
          <a:bodyPr wrap="square" lIns="0" tIns="0" rIns="0" bIns="0" rtlCol="0" anchor="t"/>
          <a:lstStyle/>
          <a:p>
            <a:pPr indent="0" marL="0">
              <a:buNone/>
            </a:pPr>
            <a:r>
              <a:rPr lang="en-US" sz="1400" dirty="0">
                <a:solidFill>
                  <a:srgbClr val="12232B"/>
                </a:solidFill>
                <a:latin typeface="Calibri" pitchFamily="34" charset="0"/>
                <a:ea typeface="Calibri" pitchFamily="34" charset="-122"/>
                <a:cs typeface="Calibri" pitchFamily="34" charset="-120"/>
              </a:rPr>
              <a:t>Coordinator fusion, human approval and PR creation are not built. Thresholds were tuned by hand. Evidence comes from one small target app.</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THREATS TO VALIDITY</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Possible sources of error and bias</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77724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Circular test cases</a:t>
            </a:r>
            <a:endParaRPr lang="en-US" sz="1800" dirty="0"/>
          </a:p>
        </p:txBody>
      </p:sp>
      <p:sp>
        <p:nvSpPr>
          <p:cNvPr id="9" name="Text 6"/>
          <p:cNvSpPr txBox="1"/>
          <p:nvPr/>
        </p:nvSpPr>
        <p:spPr>
          <a:xfrm>
            <a:off x="777240" y="233172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Fixtures and scenarios were written together with the rules and detectors, so a perfect score mostly shows consistency.</a:t>
            </a:r>
            <a:endParaRPr lang="en-US" sz="1500" dirty="0"/>
          </a:p>
        </p:txBody>
      </p:sp>
      <p:sp>
        <p:nvSpPr>
          <p:cNvPr id="10" name="card"/>
          <p:cNvSpPr/>
          <p:nvPr/>
        </p:nvSpPr>
        <p:spPr>
          <a:xfrm>
            <a:off x="429768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452628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Mocked LLM in tests</a:t>
            </a:r>
            <a:endParaRPr lang="en-US" sz="1800" dirty="0"/>
          </a:p>
        </p:txBody>
      </p:sp>
      <p:sp>
        <p:nvSpPr>
          <p:cNvPr id="12" name="Text 9"/>
          <p:cNvSpPr txBox="1"/>
          <p:nvPr/>
        </p:nvSpPr>
        <p:spPr>
          <a:xfrm>
            <a:off x="4526280" y="233172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The Jenkins and shared LLM tests use scripted answers. They check the guard rails, not the model's real accuracy.</a:t>
            </a:r>
            <a:endParaRPr lang="en-US" sz="1500" dirty="0"/>
          </a:p>
        </p:txBody>
      </p:sp>
      <p:sp>
        <p:nvSpPr>
          <p:cNvPr id="13" name="card"/>
          <p:cNvSpPr/>
          <p:nvPr/>
        </p:nvSpPr>
        <p:spPr>
          <a:xfrm>
            <a:off x="8046720" y="169164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275320" y="185623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Baseline choice</a:t>
            </a:r>
            <a:endParaRPr lang="en-US" sz="1800" dirty="0"/>
          </a:p>
        </p:txBody>
      </p:sp>
      <p:sp>
        <p:nvSpPr>
          <p:cNvPr id="15" name="Text 12"/>
          <p:cNvSpPr txBox="1"/>
          <p:nvPr/>
        </p:nvSpPr>
        <p:spPr>
          <a:xfrm>
            <a:off x="8275320" y="233172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P2's threshold values were chosen by us and are not tuned to the app. A tuned baseline would score better.</a:t>
            </a:r>
            <a:endParaRPr lang="en-US" sz="1500" dirty="0"/>
          </a:p>
        </p:txBody>
      </p:sp>
      <p:sp>
        <p:nvSpPr>
          <p:cNvPr id="16" name="card"/>
          <p:cNvSpPr/>
          <p:nvPr/>
        </p:nvSpPr>
        <p:spPr>
          <a:xfrm>
            <a:off x="54864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7" name="Text 14"/>
          <p:cNvSpPr txBox="1"/>
          <p:nvPr/>
        </p:nvSpPr>
        <p:spPr>
          <a:xfrm>
            <a:off x="77724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Small samples</a:t>
            </a:r>
            <a:endParaRPr lang="en-US" sz="1800" dirty="0"/>
          </a:p>
        </p:txBody>
      </p:sp>
      <p:sp>
        <p:nvSpPr>
          <p:cNvPr id="18" name="Text 15"/>
          <p:cNvSpPr txBox="1"/>
          <p:nvPr/>
        </p:nvSpPr>
        <p:spPr>
          <a:xfrm>
            <a:off x="777240" y="457200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6 fixtures, 4 code scenarios, 14 metric scenarios and 26 sweep cases. Differences carry real uncertainty.</a:t>
            </a:r>
            <a:endParaRPr lang="en-US" sz="1500" dirty="0"/>
          </a:p>
        </p:txBody>
      </p:sp>
      <p:sp>
        <p:nvSpPr>
          <p:cNvPr id="19" name="card"/>
          <p:cNvSpPr/>
          <p:nvPr/>
        </p:nvSpPr>
        <p:spPr>
          <a:xfrm>
            <a:off x="429768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Text 17"/>
          <p:cNvSpPr txBox="1"/>
          <p:nvPr/>
        </p:nvSpPr>
        <p:spPr>
          <a:xfrm>
            <a:off x="452628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LLM variance</a:t>
            </a:r>
            <a:endParaRPr lang="en-US" sz="1800" dirty="0"/>
          </a:p>
        </p:txBody>
      </p:sp>
      <p:sp>
        <p:nvSpPr>
          <p:cNvPr id="21" name="Text 18"/>
          <p:cNvSpPr txBox="1"/>
          <p:nvPr/>
        </p:nvSpPr>
        <p:spPr>
          <a:xfrm>
            <a:off x="4526280" y="457200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Gemini is run once at temperature 0 on text. A different prompt or model could change its score.</a:t>
            </a:r>
            <a:endParaRPr lang="en-US" sz="1500" dirty="0"/>
          </a:p>
        </p:txBody>
      </p:sp>
      <p:sp>
        <p:nvSpPr>
          <p:cNvPr id="22" name="card"/>
          <p:cNvSpPr/>
          <p:nvPr/>
        </p:nvSpPr>
        <p:spPr>
          <a:xfrm>
            <a:off x="8046720" y="3931920"/>
            <a:ext cx="3566160" cy="205740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3" name="Text 20"/>
          <p:cNvSpPr txBox="1"/>
          <p:nvPr/>
        </p:nvSpPr>
        <p:spPr>
          <a:xfrm>
            <a:off x="8275320" y="4096512"/>
            <a:ext cx="3108960" cy="365760"/>
          </a:xfrm>
          <a:prstGeom prst="rect">
            <a:avLst/>
          </a:prstGeom>
          <a:noFill/>
          <a:ln/>
        </p:spPr>
        <p:txBody>
          <a:bodyPr wrap="square" lIns="0" tIns="0" rIns="0" bIns="0" rtlCol="0" anchor="t"/>
          <a:lstStyle/>
          <a:p>
            <a:pPr indent="0" marL="0">
              <a:buNone/>
            </a:pPr>
            <a:r>
              <a:rPr lang="en-US" sz="1800" b="1" dirty="0">
                <a:solidFill>
                  <a:srgbClr val="1F8A8A"/>
                </a:solidFill>
                <a:latin typeface="Cambria" pitchFamily="34" charset="0"/>
                <a:ea typeface="Cambria" pitchFamily="34" charset="-122"/>
                <a:cs typeface="Cambria" pitchFamily="34" charset="-120"/>
              </a:rPr>
              <a:t>Injected incidents</a:t>
            </a:r>
            <a:endParaRPr lang="en-US" sz="1800" dirty="0"/>
          </a:p>
        </p:txBody>
      </p:sp>
      <p:sp>
        <p:nvSpPr>
          <p:cNvPr id="24" name="Text 21"/>
          <p:cNvSpPr txBox="1"/>
          <p:nvPr/>
        </p:nvSpPr>
        <p:spPr>
          <a:xfrm>
            <a:off x="8275320" y="4572000"/>
            <a:ext cx="3108960" cy="1371600"/>
          </a:xfrm>
          <a:prstGeom prst="rect">
            <a:avLst/>
          </a:prstGeom>
          <a:noFill/>
          <a:ln/>
        </p:spPr>
        <p:txBody>
          <a:bodyPr wrap="square" lIns="0" tIns="0" rIns="0" bIns="0" rtlCol="0" anchor="t"/>
          <a:lstStyle/>
          <a:p>
            <a:pPr indent="0" marL="0">
              <a:buNone/>
            </a:pPr>
            <a:r>
              <a:rPr lang="en-US" sz="1500" dirty="0">
                <a:solidFill>
                  <a:srgbClr val="12232B"/>
                </a:solidFill>
                <a:latin typeface="Calibri" pitchFamily="34" charset="0"/>
                <a:ea typeface="Calibri" pitchFamily="34" charset="-122"/>
                <a:cs typeface="Calibri" pitchFamily="34" charset="-120"/>
              </a:rPr>
              <a:t>Live incident times come from injection scripts, not real failures, and metrics lag by one scrape.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en-US" sz="1200" b="1" spc="300" kern="0" dirty="0">
                <a:solidFill>
                  <a:srgbClr val="1F8A8A"/>
                </a:solidFill>
                <a:latin typeface="Calibri" pitchFamily="34" charset="0"/>
                <a:ea typeface="Calibri" pitchFamily="34" charset="-122"/>
                <a:cs typeface="Calibri" pitchFamily="34" charset="-120"/>
              </a:rPr>
              <a:t>WHERE WE GO NEXT</a:t>
            </a:r>
            <a:endParaRPr lang="en-US" sz="1200" dirty="0"/>
          </a:p>
        </p:txBody>
      </p:sp>
      <p:sp>
        <p:nvSpPr>
          <p:cNvPr id="3" name="Text 1"/>
          <p:cNvSpPr txBox="1"/>
          <p:nvPr/>
        </p:nvSpPr>
        <p:spPr>
          <a:xfrm>
            <a:off x="548640" y="621792"/>
            <a:ext cx="11091672" cy="731520"/>
          </a:xfrm>
          <a:prstGeom prst="rect">
            <a:avLst/>
          </a:prstGeom>
          <a:noFill/>
          <a:ln/>
        </p:spPr>
        <p:txBody>
          <a:bodyPr wrap="square" lIns="0" tIns="0" rIns="0" bIns="0" rtlCol="0" anchor="t"/>
          <a:lstStyle/>
          <a:p>
            <a:pPr indent="0" marL="0">
              <a:buNone/>
            </a:pPr>
            <a:r>
              <a:rPr lang="en-US" sz="3400" b="1" dirty="0">
                <a:solidFill>
                  <a:srgbClr val="12232B"/>
                </a:solidFill>
                <a:latin typeface="Cambria" pitchFamily="34" charset="0"/>
                <a:ea typeface="Cambria" pitchFamily="34" charset="-122"/>
                <a:cs typeface="Cambria" pitchFamily="34" charset="-120"/>
              </a:rPr>
              <a:t>Future scope</a:t>
            </a:r>
            <a:endParaRPr lang="en-US" sz="3400" dirty="0"/>
          </a:p>
        </p:txBody>
      </p:sp>
      <p:sp>
        <p:nvSpPr>
          <p:cNvPr id="5" name="owner pill"/>
          <p:cNvSpPr/>
          <p:nvPr/>
        </p:nvSpPr>
        <p:spPr>
          <a:xfrm>
            <a:off x="9262872" y="301752"/>
            <a:ext cx="2377440" cy="310896"/>
          </a:xfrm>
          <a:prstGeom prst="roundRect">
            <a:avLst>
              <a:gd name="adj" fmla="val 50000"/>
            </a:avLst>
          </a:prstGeom>
          <a:solidFill>
            <a:srgbClr val="12232B"/>
          </a:solidFill>
          <a:ln w="12700">
            <a:solidFill>
              <a:srgbClr val="12232B"/>
            </a:solidFill>
            <a:prstDash val="solid"/>
          </a:ln>
        </p:spPr>
      </p:sp>
      <p:sp>
        <p:nvSpPr>
          <p:cNvPr id="6" name="Text 3"/>
          <p:cNvSpPr txBox="1"/>
          <p:nvPr/>
        </p:nvSpPr>
        <p:spPr>
          <a:xfrm>
            <a:off x="9262872" y="301752"/>
            <a:ext cx="23774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Whole team</a:t>
            </a:r>
            <a:endParaRPr lang="en-US" sz="1200" dirty="0"/>
          </a:p>
        </p:txBody>
      </p:sp>
      <p:sp>
        <p:nvSpPr>
          <p:cNvPr id="7" name="card"/>
          <p:cNvSpPr/>
          <p:nvPr/>
        </p:nvSpPr>
        <p:spPr>
          <a:xfrm>
            <a:off x="548640" y="1691640"/>
            <a:ext cx="2601468"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8" name="owner pill"/>
          <p:cNvSpPr/>
          <p:nvPr/>
        </p:nvSpPr>
        <p:spPr>
          <a:xfrm>
            <a:off x="777240" y="1874520"/>
            <a:ext cx="2144268" cy="365760"/>
          </a:xfrm>
          <a:prstGeom prst="roundRect">
            <a:avLst>
              <a:gd name="adj" fmla="val 50000"/>
            </a:avLst>
          </a:prstGeom>
          <a:solidFill>
            <a:srgbClr val="1F8A8A"/>
          </a:solidFill>
          <a:ln w="12700">
            <a:solidFill>
              <a:srgbClr val="1F8A8A"/>
            </a:solidFill>
            <a:prstDash val="solid"/>
          </a:ln>
        </p:spPr>
      </p:sp>
      <p:sp>
        <p:nvSpPr>
          <p:cNvPr id="9" name="Text 6"/>
          <p:cNvSpPr txBox="1"/>
          <p:nvPr/>
        </p:nvSpPr>
        <p:spPr>
          <a:xfrm>
            <a:off x="777240" y="1874520"/>
            <a:ext cx="21442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P1  Jenkins agent</a:t>
            </a:r>
            <a:endParaRPr lang="en-US" sz="1400" dirty="0"/>
          </a:p>
        </p:txBody>
      </p:sp>
      <p:sp>
        <p:nvSpPr>
          <p:cNvPr id="10" name="Text 7"/>
          <p:cNvSpPr txBox="1"/>
          <p:nvPr/>
        </p:nvSpPr>
        <p:spPr>
          <a:xfrm>
            <a:off x="777240" y="2468880"/>
            <a:ext cx="2144268" cy="3566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Score the LLM-assisted classifier on the real model, against rules alone</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More fault types: timeouts, flaky tests, deployment and config failures</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Live Jenkins runs to replace fixed log fixtures</a:t>
            </a:r>
            <a:endParaRPr lang="en-US" sz="1500" dirty="0"/>
          </a:p>
        </p:txBody>
      </p:sp>
      <p:sp>
        <p:nvSpPr>
          <p:cNvPr id="11" name="card"/>
          <p:cNvSpPr/>
          <p:nvPr/>
        </p:nvSpPr>
        <p:spPr>
          <a:xfrm>
            <a:off x="3378708" y="1691640"/>
            <a:ext cx="2601468"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2" name="owner pill"/>
          <p:cNvSpPr/>
          <p:nvPr/>
        </p:nvSpPr>
        <p:spPr>
          <a:xfrm>
            <a:off x="3607308" y="1874520"/>
            <a:ext cx="2144268" cy="365760"/>
          </a:xfrm>
          <a:prstGeom prst="roundRect">
            <a:avLst>
              <a:gd name="adj" fmla="val 50000"/>
            </a:avLst>
          </a:prstGeom>
          <a:solidFill>
            <a:srgbClr val="B97A14"/>
          </a:solidFill>
          <a:ln w="12700">
            <a:solidFill>
              <a:srgbClr val="B97A14"/>
            </a:solidFill>
            <a:prstDash val="solid"/>
          </a:ln>
        </p:spPr>
      </p:sp>
      <p:sp>
        <p:nvSpPr>
          <p:cNvPr id="13" name="Text 10"/>
          <p:cNvSpPr txBox="1"/>
          <p:nvPr/>
        </p:nvSpPr>
        <p:spPr>
          <a:xfrm>
            <a:off x="3607308" y="1874520"/>
            <a:ext cx="21442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  Metrics agent</a:t>
            </a:r>
            <a:endParaRPr lang="en-US" sz="1400" dirty="0"/>
          </a:p>
        </p:txBody>
      </p:sp>
      <p:sp>
        <p:nvSpPr>
          <p:cNvPr id="14" name="Text 11"/>
          <p:cNvSpPr txBox="1"/>
          <p:nvPr/>
        </p:nvSpPr>
        <p:spPr>
          <a:xfrm>
            <a:off x="3607308" y="2468880"/>
            <a:ext cx="2144268" cy="3566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Wider catalog: 5xx rate, Jenkins queue and build metrics</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Separate CPU from memory failure types</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LLM query planner on the existing planner slot</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Learn thresholds from data; labelled live runs</a:t>
            </a:r>
            <a:endParaRPr lang="en-US" sz="1500" dirty="0"/>
          </a:p>
        </p:txBody>
      </p:sp>
      <p:sp>
        <p:nvSpPr>
          <p:cNvPr id="15" name="card"/>
          <p:cNvSpPr/>
          <p:nvPr/>
        </p:nvSpPr>
        <p:spPr>
          <a:xfrm>
            <a:off x="6208776" y="1691640"/>
            <a:ext cx="2601468"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16" name="owner pill"/>
          <p:cNvSpPr/>
          <p:nvPr/>
        </p:nvSpPr>
        <p:spPr>
          <a:xfrm>
            <a:off x="6437376" y="1874520"/>
            <a:ext cx="2144268" cy="365760"/>
          </a:xfrm>
          <a:prstGeom prst="roundRect">
            <a:avLst>
              <a:gd name="adj" fmla="val 50000"/>
            </a:avLst>
          </a:prstGeom>
          <a:solidFill>
            <a:srgbClr val="6B4C86"/>
          </a:solidFill>
          <a:ln w="12700">
            <a:solidFill>
              <a:srgbClr val="6B4C86"/>
            </a:solidFill>
            <a:prstDash val="solid"/>
          </a:ln>
        </p:spPr>
      </p:sp>
      <p:sp>
        <p:nvSpPr>
          <p:cNvPr id="17" name="Text 14"/>
          <p:cNvSpPr txBox="1"/>
          <p:nvPr/>
        </p:nvSpPr>
        <p:spPr>
          <a:xfrm>
            <a:off x="6437376" y="1874520"/>
            <a:ext cx="21442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P3  Code agent</a:t>
            </a:r>
            <a:endParaRPr lang="en-US" sz="1400" dirty="0"/>
          </a:p>
        </p:txBody>
      </p:sp>
      <p:sp>
        <p:nvSpPr>
          <p:cNvPr id="18" name="Text 15"/>
          <p:cNvSpPr txBox="1"/>
          <p:nvPr/>
        </p:nvSpPr>
        <p:spPr>
          <a:xfrm>
            <a:off x="6437376" y="2468880"/>
            <a:ext cx="2144268" cy="3566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LLM-assisted reasoning, scored on the same scenarios</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Minimal fix proposals as draft PRs behind OPA</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Jenkins re-runs the build to validate each fix</a:t>
            </a:r>
            <a:endParaRPr lang="en-US" sz="1500" dirty="0"/>
          </a:p>
        </p:txBody>
      </p:sp>
      <p:sp>
        <p:nvSpPr>
          <p:cNvPr id="19" name="card"/>
          <p:cNvSpPr/>
          <p:nvPr/>
        </p:nvSpPr>
        <p:spPr>
          <a:xfrm>
            <a:off x="9038844" y="1691640"/>
            <a:ext cx="2601468" cy="4434840"/>
          </a:xfrm>
          <a:prstGeom prst="rect">
            <a:avLst/>
          </a:prstGeom>
          <a:solidFill>
            <a:srgbClr val="FFFFFF"/>
          </a:solidFill>
          <a:ln w="9525">
            <a:solidFill>
              <a:srgbClr val="C9D3D6"/>
            </a:solidFill>
            <a:prstDash val="solid"/>
          </a:ln>
          <a:effectLst>
            <a:outerShdw sx="100000" sy="100000" kx="0" ky="0" algn="bl" rotWithShape="0" blurRad="76200" dist="25400" dir="5400000">
              <a:srgbClr val="000000">
                <a:alpha val="10000"/>
              </a:srgbClr>
            </a:outerShdw>
          </a:effectLst>
        </p:spPr>
      </p:sp>
      <p:sp>
        <p:nvSpPr>
          <p:cNvPr id="20" name="owner pill"/>
          <p:cNvSpPr/>
          <p:nvPr/>
        </p:nvSpPr>
        <p:spPr>
          <a:xfrm>
            <a:off x="9267444" y="1874520"/>
            <a:ext cx="2144268" cy="365760"/>
          </a:xfrm>
          <a:prstGeom prst="roundRect">
            <a:avLst>
              <a:gd name="adj" fmla="val 50000"/>
            </a:avLst>
          </a:prstGeom>
          <a:solidFill>
            <a:srgbClr val="12232B"/>
          </a:solidFill>
          <a:ln w="12700">
            <a:solidFill>
              <a:srgbClr val="12232B"/>
            </a:solidFill>
            <a:prstDash val="solid"/>
          </a:ln>
        </p:spPr>
      </p:sp>
      <p:sp>
        <p:nvSpPr>
          <p:cNvPr id="21" name="Text 18"/>
          <p:cNvSpPr txBox="1"/>
          <p:nvPr/>
        </p:nvSpPr>
        <p:spPr>
          <a:xfrm>
            <a:off x="9267444" y="1874520"/>
            <a:ext cx="214426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Team</a:t>
            </a:r>
            <a:endParaRPr lang="en-US" sz="1400" dirty="0"/>
          </a:p>
        </p:txBody>
      </p:sp>
      <p:sp>
        <p:nvSpPr>
          <p:cNvPr id="22" name="Text 19"/>
          <p:cNvSpPr txBox="1"/>
          <p:nvPr/>
        </p:nvSpPr>
        <p:spPr>
          <a:xfrm>
            <a:off x="9267444" y="2468880"/>
            <a:ext cx="2144268" cy="3566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Coordinator that fuses the three evidence documents into one verdict</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Human approval step</a:t>
            </a:r>
            <a:endParaRPr lang="en-US" sz="1500" dirty="0"/>
          </a:p>
          <a:p>
            <a:pPr marL="203200" indent="-203200">
              <a:spcAft>
                <a:spcPts val="800"/>
              </a:spcAft>
              <a:buSzPct val="100000"/>
              <a:buChar char="•"/>
            </a:pPr>
            <a:r>
              <a:rPr lang="en-US" sz="1500" dirty="0">
                <a:solidFill>
                  <a:srgbClr val="12232B"/>
                </a:solidFill>
                <a:latin typeface="Calibri" pitchFamily="34" charset="0"/>
                <a:ea typeface="Calibri" pitchFamily="34" charset="-122"/>
                <a:cs typeface="Calibri" pitchFamily="34" charset="-120"/>
              </a:rPr>
              <a:t>End-to-end demo and evaluation: fused verdict versus any single agent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77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Three working agents; fusion and approval still ahead</a:t>
            </a:r>
            <a:endParaRPr lang="en-US" sz="3400" dirty="0"/>
          </a:p>
        </p:txBody>
      </p:sp>
      <p:sp>
        <p:nvSpPr>
          <p:cNvPr id="5" name="panel"/>
          <p:cNvSpPr/>
          <p:nvPr/>
        </p:nvSpPr>
        <p:spPr>
          <a:xfrm>
            <a:off x="548640" y="1920240"/>
            <a:ext cx="5440680" cy="4206240"/>
          </a:xfrm>
          <a:prstGeom prst="rect">
            <a:avLst/>
          </a:prstGeom>
          <a:solidFill>
            <a:srgbClr val="1B343E"/>
          </a:solidFill>
          <a:ln w="12700">
            <a:solidFill>
              <a:srgbClr val="1B343E"/>
            </a:solidFill>
            <a:prstDash val="solid"/>
          </a:ln>
        </p:spPr>
      </p:sp>
      <p:sp>
        <p:nvSpPr>
          <p:cNvPr id="6" name="Text 3"/>
          <p:cNvSpPr txBox="1"/>
          <p:nvPr/>
        </p:nvSpPr>
        <p:spPr>
          <a:xfrm>
            <a:off x="868680" y="2103120"/>
            <a:ext cx="4754880" cy="457200"/>
          </a:xfrm>
          <a:prstGeom prst="rect">
            <a:avLst/>
          </a:prstGeom>
          <a:noFill/>
          <a:ln/>
        </p:spPr>
        <p:txBody>
          <a:bodyPr wrap="square" lIns="0" tIns="0" rIns="0" bIns="0" rtlCol="0" anchor="ctr"/>
          <a:lstStyle/>
          <a:p>
            <a:pPr indent="0" marL="0">
              <a:buNone/>
            </a:pPr>
            <a:r>
              <a:rPr lang="en-US" sz="2200" b="1" dirty="0">
                <a:solidFill>
                  <a:srgbClr val="7FD1CB"/>
                </a:solidFill>
                <a:latin typeface="Cambria" pitchFamily="34" charset="0"/>
                <a:ea typeface="Cambria" pitchFamily="34" charset="-122"/>
                <a:cs typeface="Cambria" pitchFamily="34" charset="-120"/>
              </a:rPr>
              <a:t>What we can say</a:t>
            </a:r>
            <a:endParaRPr lang="en-US" sz="2200" dirty="0"/>
          </a:p>
        </p:txBody>
      </p:sp>
      <p:sp>
        <p:nvSpPr>
          <p:cNvPr id="7" name="Text 4"/>
          <p:cNvSpPr txBox="1"/>
          <p:nvPr/>
        </p:nvSpPr>
        <p:spPr>
          <a:xfrm>
            <a:off x="868680" y="2697480"/>
            <a:ext cx="4800600" cy="32918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All three agents run end to end and write one shared evidence contract</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Each reports low confidence when its evidence does not support a cause</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Metrics agent beat both baselines: thresholds (71%) and Gemini 3.5 Flash (64%) on the scenarios; 14 of 21 sweep faults against 4</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596 tests pass</a:t>
            </a:r>
            <a:endParaRPr lang="en-US" sz="1800" dirty="0"/>
          </a:p>
        </p:txBody>
      </p:sp>
      <p:sp>
        <p:nvSpPr>
          <p:cNvPr id="8" name="panel"/>
          <p:cNvSpPr/>
          <p:nvPr/>
        </p:nvSpPr>
        <p:spPr>
          <a:xfrm>
            <a:off x="6172200" y="1920240"/>
            <a:ext cx="5440680" cy="4206240"/>
          </a:xfrm>
          <a:prstGeom prst="rect">
            <a:avLst/>
          </a:prstGeom>
          <a:solidFill>
            <a:srgbClr val="1B343E"/>
          </a:solidFill>
          <a:ln w="12700">
            <a:solidFill>
              <a:srgbClr val="1B343E"/>
            </a:solidFill>
            <a:prstDash val="solid"/>
          </a:ln>
        </p:spPr>
      </p:sp>
      <p:sp>
        <p:nvSpPr>
          <p:cNvPr id="9" name="Text 6"/>
          <p:cNvSpPr txBox="1"/>
          <p:nvPr/>
        </p:nvSpPr>
        <p:spPr>
          <a:xfrm>
            <a:off x="6492240" y="2103120"/>
            <a:ext cx="4754880" cy="457200"/>
          </a:xfrm>
          <a:prstGeom prst="rect">
            <a:avLst/>
          </a:prstGeom>
          <a:noFill/>
          <a:ln/>
        </p:spPr>
        <p:txBody>
          <a:bodyPr wrap="square" lIns="0" tIns="0" rIns="0" bIns="0" rtlCol="0" anchor="ctr"/>
          <a:lstStyle/>
          <a:p>
            <a:pPr indent="0" marL="0">
              <a:buNone/>
            </a:pPr>
            <a:r>
              <a:rPr lang="en-US" sz="2200" b="1" dirty="0">
                <a:solidFill>
                  <a:srgbClr val="E8A33D"/>
                </a:solidFill>
                <a:latin typeface="Cambria" pitchFamily="34" charset="0"/>
                <a:ea typeface="Cambria" pitchFamily="34" charset="-122"/>
                <a:cs typeface="Cambria" pitchFamily="34" charset="-120"/>
              </a:rPr>
              <a:t>Next steps</a:t>
            </a:r>
            <a:endParaRPr lang="en-US" sz="2200" dirty="0"/>
          </a:p>
        </p:txBody>
      </p:sp>
      <p:sp>
        <p:nvSpPr>
          <p:cNvPr id="10" name="Text 7"/>
          <p:cNvSpPr txBox="1"/>
          <p:nvPr/>
        </p:nvSpPr>
        <p:spPr>
          <a:xfrm>
            <a:off x="6492240" y="2697480"/>
            <a:ext cx="4800600" cy="32918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P1: evaluate with the real LLM and add more fault types</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P2: live labelled runs; Gemini on the sweep</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P3: LLM reasoning, then draft PRs behind approval</a:t>
            </a:r>
            <a:endParaRPr lang="en-US" sz="1800" dirty="0"/>
          </a:p>
          <a:p>
            <a:pPr marL="203200" indent="-203200">
              <a:spcAft>
                <a:spcPts val="600"/>
              </a:spcAft>
              <a:buSzPct val="100000"/>
              <a:buChar char="•"/>
            </a:pPr>
            <a:r>
              <a:rPr lang="en-US" sz="1800" dirty="0">
                <a:solidFill>
                  <a:srgbClr val="E4EEEE"/>
                </a:solidFill>
                <a:latin typeface="Calibri" pitchFamily="34" charset="0"/>
                <a:ea typeface="Calibri" pitchFamily="34" charset="-122"/>
                <a:cs typeface="Calibri" pitchFamily="34" charset="-120"/>
              </a:rPr>
              <a:t>Team: Coordinator fusion and an end-to-end demo</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B3B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JenkinsGuardians">
  <a:themeElements>
    <a:clrScheme name="JenkinsGuardians">
      <a:dk1>
        <a:srgbClr val="12232B"/>
      </a:dk1>
      <a:lt1>
        <a:srgbClr val="FFFFFF"/>
      </a:lt1>
      <a:dk2>
        <a:srgbClr val="566770"/>
      </a:dk2>
      <a:lt2>
        <a:srgbClr val="F4F7F7"/>
      </a:lt2>
      <a:accent1>
        <a:srgbClr val="1F8A8A"/>
      </a:accent1>
      <a:accent2>
        <a:srgbClr val="E8A33D"/>
      </a:accent2>
      <a:accent3>
        <a:srgbClr val="C8503C"/>
      </a:accent3>
      <a:accent4>
        <a:srgbClr val="2E8B57"/>
      </a:accent4>
      <a:accent5>
        <a:srgbClr val="7A8F99"/>
      </a:accent5>
      <a:accent6>
        <a:srgbClr val="9CC9C5"/>
      </a:accent6>
      <a:hlink>
        <a:srgbClr val="1F8A8A"/>
      </a:hlink>
      <a:folHlink>
        <a:srgbClr val="566770"/>
      </a:folHlink>
    </a:clrScheme>
    <a:fontScheme name="JenkinsGuardi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JenkinsGuardians - Mid-semester review</dc:title>
  <dc:subject>PptxGenJS Presentation</dc:subject>
  <dc:creator>JenkinsGuardians team</dc:creator>
  <cp:lastModifiedBy>JenkinsGuardians team</cp:lastModifiedBy>
  <cp:revision>1</cp:revision>
  <dcterms:created xsi:type="dcterms:W3CDTF">2026-10-06T05:21:10Z</dcterms:created>
  <dcterms:modified xsi:type="dcterms:W3CDTF">2026-10-06T05:21:10Z</dcterms:modified>
</cp:coreProperties>
</file>