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 id="272" r:id="rId17"/>
    <p:sldId id="273" r:id="rId18"/>
    <p:sldId id="274" r:id="rId19"/>
    <p:sldId id="275"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Metrics agent</c:v>
                </c:pt>
              </c:strCache>
            </c:strRef>
          </c:tx>
          <c:spPr>
            <a:solidFill>
              <a:srgbClr val="1F8A8A"/>
            </a:solidFill>
            <a:effectLst/>
          </c:spPr>
          <c:invertIfNegative val="0"/>
          <c:dLbls>
            <c:numFmt formatCode="0%" sourceLinked="0"/>
            <c:spPr>
              <a:noFill/>
              <a:ln>
                <a:noFill/>
              </a:ln>
              <a:effectLst/>
            </c:spPr>
            <c:txPr>
              <a:bodyPr/>
              <a:lstStyle/>
              <a:p>
                <a:pPr>
                  <a:defRPr sz="1300" b="0" i="0" u="none" strike="noStrike">
                    <a:solidFill>
                      <a:srgbClr val="12232B"/>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Accuracy</c:v>
                </c:pt>
                <c:pt idx="1">
                  <c:v>Fault recall</c:v>
                </c:pt>
                <c:pt idx="2">
                  <c:v>False-positive rate</c:v>
                </c:pt>
              </c:strCache>
            </c:strRef>
          </c:cat>
          <c:val>
            <c:numRef>
              <c:f>Sheet1!$B$2:$B$4</c:f>
              <c:numCache>
                <c:formatCode>General</c:formatCode>
                <c:ptCount val="3"/>
                <c:pt idx="0">
                  <c:v>1</c:v>
                </c:pt>
                <c:pt idx="1">
                  <c:v>1</c:v>
                </c:pt>
                <c:pt idx="2">
                  <c:v>0</c:v>
                </c:pt>
              </c:numCache>
            </c:numRef>
          </c:val>
          <c:extLst>
            <c:ext xmlns:c16="http://schemas.microsoft.com/office/drawing/2014/chart" uri="{C3380CC4-5D6E-409C-BE32-E72D297353CC}">
              <c16:uniqueId val="{00000000-4179-4F69-B6FA-6171B7F15C75}"/>
            </c:ext>
          </c:extLst>
        </c:ser>
        <c:ser>
          <c:idx val="1"/>
          <c:order val="1"/>
          <c:tx>
            <c:strRef>
              <c:f>Sheet1!$C$1</c:f>
              <c:strCache>
                <c:ptCount val="1"/>
                <c:pt idx="0">
                  <c:v>Threshold alert</c:v>
                </c:pt>
              </c:strCache>
            </c:strRef>
          </c:tx>
          <c:spPr>
            <a:solidFill>
              <a:srgbClr val="E8A33D"/>
            </a:solidFill>
            <a:effectLst/>
          </c:spPr>
          <c:invertIfNegative val="0"/>
          <c:dLbls>
            <c:numFmt formatCode="0%" sourceLinked="0"/>
            <c:spPr>
              <a:noFill/>
              <a:ln>
                <a:noFill/>
              </a:ln>
              <a:effectLst/>
            </c:spPr>
            <c:txPr>
              <a:bodyPr/>
              <a:lstStyle/>
              <a:p>
                <a:pPr>
                  <a:defRPr sz="1300" b="0" i="0" u="none" strike="noStrike">
                    <a:solidFill>
                      <a:srgbClr val="12232B"/>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Accuracy</c:v>
                </c:pt>
                <c:pt idx="1">
                  <c:v>Fault recall</c:v>
                </c:pt>
                <c:pt idx="2">
                  <c:v>False-positive rate</c:v>
                </c:pt>
              </c:strCache>
            </c:strRef>
          </c:cat>
          <c:val>
            <c:numRef>
              <c:f>Sheet1!$C$2:$C$4</c:f>
              <c:numCache>
                <c:formatCode>General</c:formatCode>
                <c:ptCount val="3"/>
                <c:pt idx="0">
                  <c:v>0.71</c:v>
                </c:pt>
                <c:pt idx="1">
                  <c:v>0.67</c:v>
                </c:pt>
                <c:pt idx="2">
                  <c:v>0.2</c:v>
                </c:pt>
              </c:numCache>
            </c:numRef>
          </c:val>
          <c:extLst>
            <c:ext xmlns:c16="http://schemas.microsoft.com/office/drawing/2014/chart" uri="{C3380CC4-5D6E-409C-BE32-E72D297353CC}">
              <c16:uniqueId val="{00000001-4179-4F69-B6FA-6171B7F15C75}"/>
            </c:ext>
          </c:extLst>
        </c:ser>
        <c:ser>
          <c:idx val="2"/>
          <c:order val="2"/>
          <c:tx>
            <c:strRef>
              <c:f>Sheet1!$D$1</c:f>
              <c:strCache>
                <c:ptCount val="1"/>
                <c:pt idx="0">
                  <c:v>Gemini 3.5 Flash</c:v>
                </c:pt>
              </c:strCache>
            </c:strRef>
          </c:tx>
          <c:spPr>
            <a:solidFill>
              <a:srgbClr val="7A8F99"/>
            </a:solidFill>
            <a:effectLst/>
          </c:spPr>
          <c:invertIfNegative val="0"/>
          <c:dLbls>
            <c:numFmt formatCode="0%" sourceLinked="0"/>
            <c:spPr>
              <a:noFill/>
              <a:ln>
                <a:noFill/>
              </a:ln>
              <a:effectLst/>
            </c:spPr>
            <c:txPr>
              <a:bodyPr/>
              <a:lstStyle/>
              <a:p>
                <a:pPr>
                  <a:defRPr sz="1300" b="0" i="0" u="none" strike="noStrike">
                    <a:solidFill>
                      <a:srgbClr val="12232B"/>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Accuracy</c:v>
                </c:pt>
                <c:pt idx="1">
                  <c:v>Fault recall</c:v>
                </c:pt>
                <c:pt idx="2">
                  <c:v>False-positive rate</c:v>
                </c:pt>
              </c:strCache>
            </c:strRef>
          </c:cat>
          <c:val>
            <c:numRef>
              <c:f>Sheet1!$D$2:$D$4</c:f>
              <c:numCache>
                <c:formatCode>General</c:formatCode>
                <c:ptCount val="3"/>
                <c:pt idx="0">
                  <c:v>0.64</c:v>
                </c:pt>
                <c:pt idx="1">
                  <c:v>0.44</c:v>
                </c:pt>
                <c:pt idx="2">
                  <c:v>0</c:v>
                </c:pt>
              </c:numCache>
            </c:numRef>
          </c:val>
          <c:extLst>
            <c:ext xmlns:c16="http://schemas.microsoft.com/office/drawing/2014/chart" uri="{C3380CC4-5D6E-409C-BE32-E72D297353CC}">
              <c16:uniqueId val="{00000002-4179-4F69-B6FA-6171B7F15C75}"/>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2232B"/>
                </a:solidFill>
                <a:latin typeface="+mn-lt"/>
              </a:defRPr>
            </a:pPr>
            <a:endParaRPr lang="en-US"/>
          </a:p>
        </c:txPr>
        <c:crossAx val="2094734552"/>
        <c:crosses val="autoZero"/>
        <c:auto val="1"/>
        <c:lblAlgn val="ctr"/>
        <c:lblOffset val="100"/>
        <c:noMultiLvlLbl val="1"/>
      </c:catAx>
      <c:valAx>
        <c:axId val="2094734552"/>
        <c:scaling>
          <c:orientation val="minMax"/>
          <c:max val="1.1499999999999999"/>
          <c:min val="0"/>
        </c:scaling>
        <c:delete val="0"/>
        <c:axPos val="l"/>
        <c:majorGridlines>
          <c:spPr>
            <a:ln w="6350" cap="flat">
              <a:solidFill>
                <a:srgbClr val="DDE4E6"/>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66770"/>
                </a:solidFill>
                <a:latin typeface="+mn-lt"/>
              </a:defRPr>
            </a:pPr>
            <a:endParaRPr lang="en-US"/>
          </a:p>
        </c:txPr>
        <c:crossAx val="2094734554"/>
        <c:crosses val="autoZero"/>
        <c:crossBetween val="between"/>
        <c:majorUnit val="0.25"/>
      </c:valAx>
      <c:spPr>
        <a:noFill/>
        <a:ln>
          <a:noFill/>
        </a:ln>
        <a:effectLst/>
      </c:spPr>
    </c:plotArea>
    <c:legend>
      <c:legendPos val="b"/>
      <c:overlay val="0"/>
      <c:txPr>
        <a:bodyPr/>
        <a:lstStyle/>
        <a:p>
          <a:pPr>
            <a:defRPr sz="1300">
              <a:solidFill>
                <a:srgbClr val="12232B"/>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75547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idea in one sentence: instead of one big model reading everything, four cooperating agents each investigate one kind of evidence, and a human approves any fix.</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point that the three evidence sources need different tools and different reasoning, and that independence is a feature.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table by column: what each agent perceives, how it decides, and what tools it acts with. Say clearly that only the Jenkins agent uses an LLM today; the others use deterministic reasoning, which is the baseline an LLM would be measured against.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top to bottom. Lane 1 triggers the work, lane 2 runs the agents in parallel and writes to the Blackboard, lane 3 turns the shared findings into a guarded, human-approved fix that Jenkins re-validates.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reasoning styles under one contract. The Jenkins agent is the only one that loops with an LLM. The rest are deterministic on purpose: they run offline, can be audited line by line, and give an LLM something to be measured against.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Blackboard is the agents' shared memory. RabbitMQ and A2A only say that something happened; findings never travel in a message, so no agent can hand another a conclusion.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Agents never import tool code; they call MCP servers. Tool output is untrusted text, so it is redacted and screened for injection before an LLM sees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patterns coexist: a hierarchy (Coordinator over workers), parallel fan-out for the investigation, and sequential steps inside each agent.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Synthesis is deterministic and explainable so it can be audited. A second fusion method, noisy-OR, is kept as an advisory report for comparison and never decides anything.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 proposes but never applies. Every change passes the policy gate, a named human and the pull-request policy before a draft PR exists, and Jenkins re-validates 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Guardrails sit at three levels: inputs and tool results, outputs, and the system itself. The persona prompts include an adversarial auditor to test behaviour under differently worded instructions.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Callbacks record each step, the audit trail records every decision, and traces connect one incident across services. The heat map shows agent run durations.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Humans stay in control twice: they approve a fix before a PR exists, and they can see exactly why the agents concluded what they did. There are separate roles for viewing, reviewing and administering.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Metrics agent on 14 scenarios against a threshold alert and Gemini 3.5 Flash given the same data. The scenarios were written alongside the detector, so the independent evidence is the severity sweep, where the agent found 14 of 21 faults against 4 for thresholds.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questions the synopsis left open. Answer each from what was built, and say plainly that the agent-count and reasoning-style comparisons are reasoned, not yet measured at scale.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criteria are covered. Criterion 10 (the large end-to-end cost and latency study with a box plot) and criterion 11 (cloud deployment) are the two remaining items and are planned for Week 8.</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Weeks 1 to 7 of the synopsis plan are delivered. Week 8 (evaluation, documentation, demo) is under way. Dates are commit dates from the repository.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specific: the two open criteria are the end-to-end evaluation and cloud deployment. The stretch items turn the deterministic agents into LLM-assisted ones, measured against the baselines already built.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idea that the value is in the structure around the agents: shared memory, tools, guardrails, a human, and evidence you can trace.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2232B"/>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4F7F7"/>
        </a:solidFill>
        <a:effectLst/>
      </p:bgPr>
    </p:bg>
    <p:spTree>
      <p:nvGrpSpPr>
        <p:cNvPr id="1" name=""/>
        <p:cNvGrpSpPr/>
        <p:nvPr/>
      </p:nvGrpSpPr>
      <p:grpSpPr>
        <a:xfrm>
          <a:off x="0" y="0"/>
          <a:ext cx="0" cy="0"/>
          <a:chOff x="0" y="0"/>
          <a:chExt cx="0" cy="0"/>
        </a:xfrm>
      </p:grpSpPr>
      <p:sp>
        <p:nvSpPr>
          <p:cNvPr id="2" name="Text 0"/>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66770"/>
                </a:solidFill>
                <a:latin typeface="Calibri" pitchFamily="34" charset="0"/>
                <a:ea typeface="Calibri" pitchFamily="34" charset="-122"/>
                <a:cs typeface="Calibri" pitchFamily="34" charset="-120"/>
              </a:rPr>
              <a:t>JenkinsGuardian AI  |  Agentic AI project</a:t>
            </a:r>
            <a:endParaRPr lang="en-US" sz="1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66770"/>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12232B"/>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CB3BA"/>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66770"/>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22960" y="1280160"/>
            <a:ext cx="10058400" cy="320040"/>
          </a:xfrm>
          <a:prstGeom prst="rect">
            <a:avLst/>
          </a:prstGeom>
          <a:noFill/>
          <a:ln/>
        </p:spPr>
        <p:txBody>
          <a:bodyPr wrap="square" lIns="0" tIns="0" rIns="0" bIns="0" rtlCol="0" anchor="ctr"/>
          <a:lstStyle/>
          <a:p>
            <a:pPr marL="0" indent="0">
              <a:buNone/>
            </a:pPr>
            <a:r>
              <a:rPr lang="en-US" sz="1400" b="1" kern="0" spc="400" dirty="0">
                <a:solidFill>
                  <a:srgbClr val="E8A33D"/>
                </a:solidFill>
                <a:latin typeface="Calibri" pitchFamily="34" charset="0"/>
                <a:ea typeface="Calibri" pitchFamily="34" charset="-122"/>
                <a:cs typeface="Calibri" pitchFamily="34" charset="-120"/>
              </a:rPr>
              <a:t>AGENTIC AI  |  PROJECT PRESENTATION</a:t>
            </a:r>
            <a:endParaRPr lang="en-US" sz="1400" dirty="0"/>
          </a:p>
        </p:txBody>
      </p:sp>
      <p:sp>
        <p:nvSpPr>
          <p:cNvPr id="3" name="Text 1"/>
          <p:cNvSpPr txBox="1"/>
          <p:nvPr/>
        </p:nvSpPr>
        <p:spPr>
          <a:xfrm>
            <a:off x="822960" y="1737360"/>
            <a:ext cx="10515600" cy="1005840"/>
          </a:xfrm>
          <a:prstGeom prst="rect">
            <a:avLst/>
          </a:prstGeom>
          <a:noFill/>
          <a:ln/>
        </p:spPr>
        <p:txBody>
          <a:bodyPr wrap="square" lIns="0" tIns="0" rIns="0" bIns="0" rtlCol="0" anchor="ctr"/>
          <a:lstStyle/>
          <a:p>
            <a:pPr marL="0" indent="0">
              <a:buNone/>
            </a:pPr>
            <a:r>
              <a:rPr lang="en-US" sz="6000" b="1" dirty="0">
                <a:solidFill>
                  <a:srgbClr val="FFFFFF"/>
                </a:solidFill>
                <a:latin typeface="Cambria" pitchFamily="34" charset="0"/>
                <a:ea typeface="Cambria" pitchFamily="34" charset="-122"/>
                <a:cs typeface="Cambria" pitchFamily="34" charset="-120"/>
              </a:rPr>
              <a:t>JenkinsGuardian AI</a:t>
            </a:r>
            <a:endParaRPr lang="en-US" sz="6000" dirty="0"/>
          </a:p>
        </p:txBody>
      </p:sp>
      <p:sp>
        <p:nvSpPr>
          <p:cNvPr id="4" name="Text 2"/>
          <p:cNvSpPr txBox="1"/>
          <p:nvPr/>
        </p:nvSpPr>
        <p:spPr>
          <a:xfrm>
            <a:off x="822960" y="2880360"/>
            <a:ext cx="10241280" cy="914400"/>
          </a:xfrm>
          <a:prstGeom prst="rect">
            <a:avLst/>
          </a:prstGeom>
          <a:noFill/>
          <a:ln/>
        </p:spPr>
        <p:txBody>
          <a:bodyPr wrap="square" lIns="0" tIns="0" rIns="0" bIns="0" rtlCol="0" anchor="t"/>
          <a:lstStyle/>
          <a:p>
            <a:pPr marL="0" indent="0">
              <a:buNone/>
            </a:pPr>
            <a:r>
              <a:rPr lang="en-US" sz="2400" dirty="0">
                <a:solidFill>
                  <a:srgbClr val="CFE3E1"/>
                </a:solidFill>
                <a:latin typeface="Calibri" pitchFamily="34" charset="0"/>
                <a:ea typeface="Calibri" pitchFamily="34" charset="-122"/>
                <a:cs typeface="Calibri" pitchFamily="34" charset="-120"/>
              </a:rPr>
              <a:t>A team of cooperating AI agents that investigate CI/CD failures and propose fixes a human approves</a:t>
            </a:r>
            <a:endParaRPr lang="en-US" sz="2400" dirty="0"/>
          </a:p>
        </p:txBody>
      </p:sp>
      <p:sp>
        <p:nvSpPr>
          <p:cNvPr id="5" name="team dot"/>
          <p:cNvSpPr/>
          <p:nvPr/>
        </p:nvSpPr>
        <p:spPr>
          <a:xfrm>
            <a:off x="822960" y="4709160"/>
            <a:ext cx="274320" cy="274320"/>
          </a:xfrm>
          <a:prstGeom prst="ellipse">
            <a:avLst/>
          </a:prstGeom>
          <a:solidFill>
            <a:srgbClr val="E8A33D"/>
          </a:solidFill>
          <a:ln w="12700">
            <a:solidFill>
              <a:srgbClr val="E8A33D"/>
            </a:solidFill>
            <a:prstDash val="solid"/>
          </a:ln>
        </p:spPr>
      </p:sp>
      <p:sp>
        <p:nvSpPr>
          <p:cNvPr id="6" name="Text 4"/>
          <p:cNvSpPr txBox="1"/>
          <p:nvPr/>
        </p:nvSpPr>
        <p:spPr>
          <a:xfrm>
            <a:off x="1234440" y="4645152"/>
            <a:ext cx="301752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Shreya Khandelwal</a:t>
            </a:r>
            <a:endParaRPr lang="en-US" sz="1600" dirty="0"/>
          </a:p>
        </p:txBody>
      </p:sp>
      <p:sp>
        <p:nvSpPr>
          <p:cNvPr id="7" name="Text 5"/>
          <p:cNvSpPr txBox="1"/>
          <p:nvPr/>
        </p:nvSpPr>
        <p:spPr>
          <a:xfrm>
            <a:off x="1234440" y="4983480"/>
            <a:ext cx="3063240" cy="457200"/>
          </a:xfrm>
          <a:prstGeom prst="rect">
            <a:avLst/>
          </a:prstGeom>
          <a:noFill/>
          <a:ln/>
        </p:spPr>
        <p:txBody>
          <a:bodyPr wrap="square" lIns="0" tIns="0" rIns="0" bIns="0" rtlCol="0" anchor="t"/>
          <a:lstStyle/>
          <a:p>
            <a:pPr marL="0" indent="0">
              <a:buNone/>
            </a:pPr>
            <a:r>
              <a:rPr lang="en-US" sz="1200" dirty="0">
                <a:solidFill>
                  <a:srgbClr val="9CB3BA"/>
                </a:solidFill>
                <a:latin typeface="Calibri" pitchFamily="34" charset="0"/>
                <a:ea typeface="Calibri" pitchFamily="34" charset="-122"/>
                <a:cs typeface="Calibri" pitchFamily="34" charset="-120"/>
              </a:rPr>
              <a:t>Metrics agent, Coordinator, monitoring</a:t>
            </a:r>
            <a:endParaRPr lang="en-US" sz="1200" dirty="0"/>
          </a:p>
        </p:txBody>
      </p:sp>
      <p:sp>
        <p:nvSpPr>
          <p:cNvPr id="8" name="team dot"/>
          <p:cNvSpPr/>
          <p:nvPr/>
        </p:nvSpPr>
        <p:spPr>
          <a:xfrm>
            <a:off x="4434840" y="4709160"/>
            <a:ext cx="274320" cy="274320"/>
          </a:xfrm>
          <a:prstGeom prst="ellipse">
            <a:avLst/>
          </a:prstGeom>
          <a:solidFill>
            <a:srgbClr val="1F8A8A"/>
          </a:solidFill>
          <a:ln w="12700">
            <a:solidFill>
              <a:srgbClr val="1F8A8A"/>
            </a:solidFill>
            <a:prstDash val="solid"/>
          </a:ln>
        </p:spPr>
      </p:sp>
      <p:sp>
        <p:nvSpPr>
          <p:cNvPr id="9" name="Text 7"/>
          <p:cNvSpPr txBox="1"/>
          <p:nvPr/>
        </p:nvSpPr>
        <p:spPr>
          <a:xfrm>
            <a:off x="4846320" y="4645152"/>
            <a:ext cx="301752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Ishita Verma</a:t>
            </a:r>
            <a:endParaRPr lang="en-US" sz="1600" dirty="0"/>
          </a:p>
        </p:txBody>
      </p:sp>
      <p:sp>
        <p:nvSpPr>
          <p:cNvPr id="10" name="Text 8"/>
          <p:cNvSpPr txBox="1"/>
          <p:nvPr/>
        </p:nvSpPr>
        <p:spPr>
          <a:xfrm>
            <a:off x="4846320" y="4983480"/>
            <a:ext cx="3063240" cy="457200"/>
          </a:xfrm>
          <a:prstGeom prst="rect">
            <a:avLst/>
          </a:prstGeom>
          <a:noFill/>
          <a:ln/>
        </p:spPr>
        <p:txBody>
          <a:bodyPr wrap="square" lIns="0" tIns="0" rIns="0" bIns="0" rtlCol="0" anchor="t"/>
          <a:lstStyle/>
          <a:p>
            <a:pPr marL="0" indent="0">
              <a:buNone/>
            </a:pPr>
            <a:r>
              <a:rPr lang="en-US" sz="1200" dirty="0">
                <a:solidFill>
                  <a:srgbClr val="9CB3BA"/>
                </a:solidFill>
                <a:latin typeface="Calibri" pitchFamily="34" charset="0"/>
                <a:ea typeface="Calibri" pitchFamily="34" charset="-122"/>
                <a:cs typeface="Calibri" pitchFamily="34" charset="-120"/>
              </a:rPr>
              <a:t>Jenkins agent, approvals, validation</a:t>
            </a:r>
            <a:endParaRPr lang="en-US" sz="1200" dirty="0"/>
          </a:p>
        </p:txBody>
      </p:sp>
      <p:sp>
        <p:nvSpPr>
          <p:cNvPr id="12" name="Text 10"/>
          <p:cNvSpPr txBox="1"/>
          <p:nvPr/>
        </p:nvSpPr>
        <p:spPr>
          <a:xfrm>
            <a:off x="8458200" y="4645152"/>
            <a:ext cx="3017520" cy="320040"/>
          </a:xfrm>
          <a:prstGeom prst="rect">
            <a:avLst/>
          </a:prstGeom>
          <a:noFill/>
          <a:ln/>
        </p:spPr>
        <p:txBody>
          <a:bodyPr wrap="square" lIns="0" tIns="0" rIns="0" bIns="0" rtlCol="0" anchor="ctr"/>
          <a:lstStyle/>
          <a:p>
            <a:pPr marL="0" indent="0">
              <a:buNone/>
            </a:pPr>
            <a:endParaRPr lang="en-US" sz="1600" dirty="0"/>
          </a:p>
        </p:txBody>
      </p:sp>
      <p:sp>
        <p:nvSpPr>
          <p:cNvPr id="13" name="Text 11"/>
          <p:cNvSpPr txBox="1"/>
          <p:nvPr/>
        </p:nvSpPr>
        <p:spPr>
          <a:xfrm>
            <a:off x="8458200" y="4983480"/>
            <a:ext cx="3063240" cy="457200"/>
          </a:xfrm>
          <a:prstGeom prst="rect">
            <a:avLst/>
          </a:prstGeom>
          <a:noFill/>
          <a:ln/>
        </p:spPr>
        <p:txBody>
          <a:bodyPr wrap="square" lIns="0" tIns="0" rIns="0" bIns="0" rtlCol="0" anchor="t"/>
          <a:lstStyle/>
          <a:p>
            <a:pPr marL="0" indent="0">
              <a:buNone/>
            </a:pPr>
            <a:endParaRPr lang="en-US" sz="1200" dirty="0"/>
          </a:p>
        </p:txBody>
      </p:sp>
      <p:sp>
        <p:nvSpPr>
          <p:cNvPr id="14" name="Text 12"/>
          <p:cNvSpPr txBox="1"/>
          <p:nvPr/>
        </p:nvSpPr>
        <p:spPr>
          <a:xfrm>
            <a:off x="822960" y="5989320"/>
            <a:ext cx="10515600" cy="274320"/>
          </a:xfrm>
          <a:prstGeom prst="rect">
            <a:avLst/>
          </a:prstGeom>
          <a:noFill/>
          <a:ln/>
        </p:spPr>
        <p:txBody>
          <a:bodyPr wrap="square" lIns="0" tIns="0" rIns="0" bIns="0" rtlCol="0" anchor="ctr"/>
          <a:lstStyle/>
          <a:p>
            <a:pPr marL="0" indent="0">
              <a:buNone/>
            </a:pPr>
            <a:r>
              <a:rPr lang="en-US" sz="1200" dirty="0">
                <a:solidFill>
                  <a:srgbClr val="7E96A0"/>
                </a:solidFill>
                <a:latin typeface="Calibri" pitchFamily="34" charset="0"/>
                <a:ea typeface="Calibri" pitchFamily="34" charset="-122"/>
                <a:cs typeface="Calibri" pitchFamily="34" charset="-120"/>
              </a:rPr>
              <a:t>Department of Computer Science and Engineering, BML Munjal University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47472"/>
            <a:ext cx="11091672" cy="274320"/>
          </a:xfrm>
          <a:prstGeom prst="rect">
            <a:avLst/>
          </a:prstGeom>
          <a:noFill/>
          <a:ln/>
        </p:spPr>
        <p:txBody>
          <a:bodyPr wrap="square" lIns="0" tIns="0" rIns="0" bIns="0" rtlCol="0" anchor="ctr"/>
          <a:lstStyle/>
          <a:p>
            <a:pPr marL="0" indent="0">
              <a:buNone/>
            </a:pPr>
            <a:r>
              <a:rPr lang="en-US" sz="1200" b="1" kern="0" spc="300" dirty="0">
                <a:solidFill>
                  <a:srgbClr val="1F8A8A"/>
                </a:solidFill>
                <a:latin typeface="Calibri" pitchFamily="34" charset="0"/>
                <a:ea typeface="Calibri" pitchFamily="34" charset="-122"/>
                <a:cs typeface="Calibri" pitchFamily="34" charset="-120"/>
              </a:rPr>
              <a:t>THE PROBLEM</a:t>
            </a:r>
            <a:endParaRPr lang="en-US" sz="1200" dirty="0"/>
          </a:p>
        </p:txBody>
      </p:sp>
      <p:sp>
        <p:nvSpPr>
          <p:cNvPr id="3" name="Text 1"/>
          <p:cNvSpPr txBox="1"/>
          <p:nvPr/>
        </p:nvSpPr>
        <p:spPr>
          <a:xfrm>
            <a:off x="548640" y="621792"/>
            <a:ext cx="11091672" cy="731520"/>
          </a:xfrm>
          <a:prstGeom prst="rect">
            <a:avLst/>
          </a:prstGeom>
          <a:noFill/>
          <a:ln/>
        </p:spPr>
        <p:txBody>
          <a:bodyPr wrap="square" lIns="0" tIns="0" rIns="0" bIns="0" rtlCol="0" anchor="t"/>
          <a:lstStyle/>
          <a:p>
            <a:pPr marL="0" indent="0">
              <a:buNone/>
            </a:pPr>
            <a:r>
              <a:rPr lang="en-US" sz="3400" b="1" dirty="0">
                <a:solidFill>
                  <a:srgbClr val="12232B"/>
                </a:solidFill>
                <a:latin typeface="Cambria" pitchFamily="34" charset="0"/>
                <a:ea typeface="Cambria" pitchFamily="34" charset="-122"/>
                <a:cs typeface="Cambria" pitchFamily="34" charset="-120"/>
              </a:rPr>
              <a:t>Why a team of agents, not one big prompt?</a:t>
            </a:r>
            <a:endParaRPr lang="en-US" sz="3400" dirty="0"/>
          </a:p>
        </p:txBody>
      </p:sp>
      <p:sp>
        <p:nvSpPr>
          <p:cNvPr id="5" name="card"/>
          <p:cNvSpPr/>
          <p:nvPr/>
        </p:nvSpPr>
        <p:spPr>
          <a:xfrm>
            <a:off x="548640" y="1645920"/>
            <a:ext cx="5029200" cy="4480560"/>
          </a:xfrm>
          <a:prstGeom prst="rect">
            <a:avLst/>
          </a:prstGeom>
          <a:solidFill>
            <a:srgbClr val="FFFFFF"/>
          </a:solidFill>
          <a:ln w="9525">
            <a:solidFill>
              <a:srgbClr val="C9D3D6"/>
            </a:solidFill>
            <a:prstDash val="solid"/>
          </a:ln>
          <a:effectLst>
            <a:outerShdw blurRad="76200" dist="25400" dir="5400000" algn="bl" rotWithShape="0">
              <a:srgbClr val="000000">
                <a:alpha val="10000"/>
              </a:srgbClr>
            </a:outerShdw>
          </a:effectLst>
        </p:spPr>
      </p:sp>
      <p:sp>
        <p:nvSpPr>
          <p:cNvPr id="6" name="Text 3"/>
          <p:cNvSpPr txBox="1"/>
          <p:nvPr/>
        </p:nvSpPr>
        <p:spPr>
          <a:xfrm>
            <a:off x="822960" y="1783080"/>
            <a:ext cx="4480560" cy="411480"/>
          </a:xfrm>
          <a:prstGeom prst="rect">
            <a:avLst/>
          </a:prstGeom>
          <a:noFill/>
          <a:ln/>
        </p:spPr>
        <p:txBody>
          <a:bodyPr wrap="square" lIns="0" tIns="0" rIns="0" bIns="0" rtlCol="0" anchor="t"/>
          <a:lstStyle/>
          <a:p>
            <a:pPr marL="0" indent="0">
              <a:buNone/>
            </a:pPr>
            <a:r>
              <a:rPr lang="en-US" sz="2200" b="1" dirty="0">
                <a:solidFill>
                  <a:srgbClr val="1F8A8A"/>
                </a:solidFill>
                <a:latin typeface="Cambria" pitchFamily="34" charset="0"/>
                <a:ea typeface="Cambria" pitchFamily="34" charset="-122"/>
                <a:cs typeface="Cambria" pitchFamily="34" charset="-120"/>
              </a:rPr>
              <a:t>The failure</a:t>
            </a:r>
            <a:endParaRPr lang="en-US" sz="2200" dirty="0"/>
          </a:p>
        </p:txBody>
      </p:sp>
      <p:sp>
        <p:nvSpPr>
          <p:cNvPr id="7" name="Text 4"/>
          <p:cNvSpPr txBox="1"/>
          <p:nvPr/>
        </p:nvSpPr>
        <p:spPr>
          <a:xfrm>
            <a:off x="822960" y="2331720"/>
            <a:ext cx="4480560" cy="365760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12232B"/>
                </a:solidFill>
                <a:latin typeface="Calibri" pitchFamily="34" charset="0"/>
                <a:ea typeface="Calibri" pitchFamily="34" charset="-122"/>
                <a:cs typeface="Calibri" pitchFamily="34" charset="-120"/>
              </a:rPr>
              <a:t>A Jenkins build fails and the cause hides in three places: console logs, system metrics and recent code changes</a:t>
            </a:r>
            <a:endParaRPr lang="en-US" sz="1600" dirty="0"/>
          </a:p>
          <a:p>
            <a:pPr marL="203200" indent="-203200">
              <a:spcAft>
                <a:spcPts val="800"/>
              </a:spcAft>
              <a:buSzPct val="100000"/>
              <a:buChar char="•"/>
            </a:pPr>
            <a:r>
              <a:rPr lang="en-US" sz="1600" dirty="0">
                <a:solidFill>
                  <a:srgbClr val="12232B"/>
                </a:solidFill>
                <a:latin typeface="Calibri" pitchFamily="34" charset="0"/>
                <a:ea typeface="Calibri" pitchFamily="34" charset="-122"/>
                <a:cs typeface="Calibri" pitchFamily="34" charset="-120"/>
              </a:rPr>
              <a:t>Engineers open and correlate all three by hand, which takes hours</a:t>
            </a:r>
            <a:endParaRPr lang="en-US" sz="1600" dirty="0"/>
          </a:p>
          <a:p>
            <a:pPr marL="203200" indent="-203200">
              <a:spcAft>
                <a:spcPts val="800"/>
              </a:spcAft>
              <a:buSzPct val="100000"/>
              <a:buChar char="•"/>
            </a:pPr>
            <a:r>
              <a:rPr lang="en-US" sz="1600" dirty="0">
                <a:solidFill>
                  <a:srgbClr val="12232B"/>
                </a:solidFill>
                <a:latin typeface="Calibri" pitchFamily="34" charset="0"/>
                <a:ea typeface="Calibri" pitchFamily="34" charset="-122"/>
                <a:cs typeface="Calibri" pitchFamily="34" charset="-120"/>
              </a:rPr>
              <a:t>Fixing it automatically is risky unless every step is checked and approved</a:t>
            </a:r>
            <a:endParaRPr lang="en-US" sz="1600" dirty="0"/>
          </a:p>
        </p:txBody>
      </p:sp>
      <p:sp>
        <p:nvSpPr>
          <p:cNvPr id="8" name="card"/>
          <p:cNvSpPr/>
          <p:nvPr/>
        </p:nvSpPr>
        <p:spPr>
          <a:xfrm>
            <a:off x="5806440" y="1645920"/>
            <a:ext cx="5833872" cy="1371600"/>
          </a:xfrm>
          <a:prstGeom prst="rect">
            <a:avLst/>
          </a:prstGeom>
          <a:solidFill>
            <a:srgbClr val="FFFFFF"/>
          </a:solidFill>
          <a:ln w="9525">
            <a:solidFill>
              <a:srgbClr val="C9D3D6"/>
            </a:solidFill>
            <a:prstDash val="solid"/>
          </a:ln>
          <a:effectLst>
            <a:outerShdw blurRad="76200" dist="25400" dir="5400000" algn="bl" rotWithShape="0">
              <a:srgbClr val="000000">
                <a:alpha val="10000"/>
              </a:srgbClr>
            </a:outerShdw>
          </a:effectLst>
        </p:spPr>
      </p:sp>
      <p:sp>
        <p:nvSpPr>
          <p:cNvPr id="9" name="badge"/>
          <p:cNvSpPr/>
          <p:nvPr/>
        </p:nvSpPr>
        <p:spPr>
          <a:xfrm>
            <a:off x="6035040" y="1874520"/>
            <a:ext cx="411480" cy="411480"/>
          </a:xfrm>
          <a:prstGeom prst="ellipse">
            <a:avLst/>
          </a:prstGeom>
          <a:solidFill>
            <a:srgbClr val="1F8A8A"/>
          </a:solidFill>
          <a:ln w="12700">
            <a:solidFill>
              <a:srgbClr val="1F8A8A"/>
            </a:solidFill>
            <a:prstDash val="solid"/>
          </a:ln>
        </p:spPr>
      </p:sp>
      <p:sp>
        <p:nvSpPr>
          <p:cNvPr id="10" name="Text 7"/>
          <p:cNvSpPr txBox="1"/>
          <p:nvPr/>
        </p:nvSpPr>
        <p:spPr>
          <a:xfrm>
            <a:off x="6035040" y="187452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1" name="Text 8"/>
          <p:cNvSpPr txBox="1"/>
          <p:nvPr/>
        </p:nvSpPr>
        <p:spPr>
          <a:xfrm>
            <a:off x="6675120" y="1828800"/>
            <a:ext cx="4754880" cy="365760"/>
          </a:xfrm>
          <a:prstGeom prst="rect">
            <a:avLst/>
          </a:prstGeom>
          <a:noFill/>
          <a:ln/>
        </p:spPr>
        <p:txBody>
          <a:bodyPr wrap="square" lIns="0" tIns="0" rIns="0" bIns="0" rtlCol="0" anchor="t"/>
          <a:lstStyle/>
          <a:p>
            <a:pPr marL="0" indent="0">
              <a:buNone/>
            </a:pPr>
            <a:r>
              <a:rPr lang="en-US" sz="1700" b="1" dirty="0">
                <a:solidFill>
                  <a:srgbClr val="12232B"/>
                </a:solidFill>
                <a:latin typeface="Cambria" pitchFamily="34" charset="0"/>
                <a:ea typeface="Cambria" pitchFamily="34" charset="-122"/>
                <a:cs typeface="Cambria" pitchFamily="34" charset="-120"/>
              </a:rPr>
              <a:t>Different evidence needs different tools</a:t>
            </a:r>
            <a:endParaRPr lang="en-US" sz="1700" dirty="0"/>
          </a:p>
        </p:txBody>
      </p:sp>
      <p:sp>
        <p:nvSpPr>
          <p:cNvPr id="12" name="Text 9"/>
          <p:cNvSpPr txBox="1"/>
          <p:nvPr/>
        </p:nvSpPr>
        <p:spPr>
          <a:xfrm>
            <a:off x="6675120" y="2304288"/>
            <a:ext cx="4754880" cy="640080"/>
          </a:xfrm>
          <a:prstGeom prst="rect">
            <a:avLst/>
          </a:prstGeom>
          <a:noFill/>
          <a:ln/>
        </p:spPr>
        <p:txBody>
          <a:bodyPr wrap="square" lIns="0" tIns="0" rIns="0" bIns="0" rtlCol="0" anchor="t"/>
          <a:lstStyle/>
          <a:p>
            <a:pPr marL="0" indent="0">
              <a:buNone/>
            </a:pPr>
            <a:r>
              <a:rPr lang="en-US" sz="1400" dirty="0">
                <a:solidFill>
                  <a:srgbClr val="566770"/>
                </a:solidFill>
                <a:latin typeface="Calibri" pitchFamily="34" charset="0"/>
                <a:ea typeface="Calibri" pitchFamily="34" charset="-122"/>
                <a:cs typeface="Calibri" pitchFamily="34" charset="-120"/>
              </a:rPr>
              <a:t>Logs, PromQL and git diffs are separate skills, each wrapped in its own tools</a:t>
            </a:r>
            <a:endParaRPr lang="en-US" sz="1400" dirty="0"/>
          </a:p>
        </p:txBody>
      </p:sp>
      <p:sp>
        <p:nvSpPr>
          <p:cNvPr id="13" name="card"/>
          <p:cNvSpPr/>
          <p:nvPr/>
        </p:nvSpPr>
        <p:spPr>
          <a:xfrm>
            <a:off x="5806440" y="3163824"/>
            <a:ext cx="5833872" cy="1371600"/>
          </a:xfrm>
          <a:prstGeom prst="rect">
            <a:avLst/>
          </a:prstGeom>
          <a:solidFill>
            <a:srgbClr val="FFFFFF"/>
          </a:solidFill>
          <a:ln w="9525">
            <a:solidFill>
              <a:srgbClr val="C9D3D6"/>
            </a:solidFill>
            <a:prstDash val="solid"/>
          </a:ln>
          <a:effectLst>
            <a:outerShdw blurRad="76200" dist="25400" dir="5400000" algn="bl" rotWithShape="0">
              <a:srgbClr val="000000">
                <a:alpha val="10000"/>
              </a:srgbClr>
            </a:outerShdw>
          </a:effectLst>
        </p:spPr>
      </p:sp>
      <p:sp>
        <p:nvSpPr>
          <p:cNvPr id="14" name="badge"/>
          <p:cNvSpPr/>
          <p:nvPr/>
        </p:nvSpPr>
        <p:spPr>
          <a:xfrm>
            <a:off x="6035040" y="3392424"/>
            <a:ext cx="411480" cy="411480"/>
          </a:xfrm>
          <a:prstGeom prst="ellipse">
            <a:avLst/>
          </a:prstGeom>
          <a:solidFill>
            <a:srgbClr val="1F8A8A"/>
          </a:solidFill>
          <a:ln w="12700">
            <a:solidFill>
              <a:srgbClr val="1F8A8A"/>
            </a:solidFill>
            <a:prstDash val="solid"/>
          </a:ln>
        </p:spPr>
      </p:sp>
      <p:sp>
        <p:nvSpPr>
          <p:cNvPr id="15" name="Text 12"/>
          <p:cNvSpPr txBox="1"/>
          <p:nvPr/>
        </p:nvSpPr>
        <p:spPr>
          <a:xfrm>
            <a:off x="6035040" y="3392424"/>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6" name="Text 13"/>
          <p:cNvSpPr txBox="1"/>
          <p:nvPr/>
        </p:nvSpPr>
        <p:spPr>
          <a:xfrm>
            <a:off x="6675120" y="3346704"/>
            <a:ext cx="4754880" cy="365760"/>
          </a:xfrm>
          <a:prstGeom prst="rect">
            <a:avLst/>
          </a:prstGeom>
          <a:noFill/>
          <a:ln/>
        </p:spPr>
        <p:txBody>
          <a:bodyPr wrap="square" lIns="0" tIns="0" rIns="0" bIns="0" rtlCol="0" anchor="t"/>
          <a:lstStyle/>
          <a:p>
            <a:pPr marL="0" indent="0">
              <a:buNone/>
            </a:pPr>
            <a:r>
              <a:rPr lang="en-US" sz="1700" b="1" dirty="0">
                <a:solidFill>
                  <a:srgbClr val="12232B"/>
                </a:solidFill>
                <a:latin typeface="Cambria" pitchFamily="34" charset="0"/>
                <a:ea typeface="Cambria" pitchFamily="34" charset="-122"/>
                <a:cs typeface="Cambria" pitchFamily="34" charset="-120"/>
              </a:rPr>
              <a:t>Independent views, fewer shared mistakes</a:t>
            </a:r>
            <a:endParaRPr lang="en-US" sz="1700" dirty="0"/>
          </a:p>
        </p:txBody>
      </p:sp>
      <p:sp>
        <p:nvSpPr>
          <p:cNvPr id="17" name="Text 14"/>
          <p:cNvSpPr txBox="1"/>
          <p:nvPr/>
        </p:nvSpPr>
        <p:spPr>
          <a:xfrm>
            <a:off x="6675120" y="3822192"/>
            <a:ext cx="4754880" cy="640080"/>
          </a:xfrm>
          <a:prstGeom prst="rect">
            <a:avLst/>
          </a:prstGeom>
          <a:noFill/>
          <a:ln/>
        </p:spPr>
        <p:txBody>
          <a:bodyPr wrap="square" lIns="0" tIns="0" rIns="0" bIns="0" rtlCol="0" anchor="t"/>
          <a:lstStyle/>
          <a:p>
            <a:pPr marL="0" indent="0">
              <a:buNone/>
            </a:pPr>
            <a:r>
              <a:rPr lang="en-US" sz="1400" dirty="0">
                <a:solidFill>
                  <a:srgbClr val="566770"/>
                </a:solidFill>
                <a:latin typeface="Calibri" pitchFamily="34" charset="0"/>
                <a:ea typeface="Calibri" pitchFamily="34" charset="-122"/>
                <a:cs typeface="Calibri" pitchFamily="34" charset="-120"/>
              </a:rPr>
              <a:t>Three agents reading three sources rarely fail in the same way</a:t>
            </a:r>
            <a:endParaRPr lang="en-US" sz="1400" dirty="0"/>
          </a:p>
        </p:txBody>
      </p:sp>
      <p:sp>
        <p:nvSpPr>
          <p:cNvPr id="18" name="card"/>
          <p:cNvSpPr/>
          <p:nvPr/>
        </p:nvSpPr>
        <p:spPr>
          <a:xfrm>
            <a:off x="5806440" y="4681728"/>
            <a:ext cx="5833872" cy="1371600"/>
          </a:xfrm>
          <a:prstGeom prst="rect">
            <a:avLst/>
          </a:prstGeom>
          <a:solidFill>
            <a:srgbClr val="FFFFFF"/>
          </a:solidFill>
          <a:ln w="9525">
            <a:solidFill>
              <a:srgbClr val="C9D3D6"/>
            </a:solidFill>
            <a:prstDash val="solid"/>
          </a:ln>
          <a:effectLst>
            <a:outerShdw blurRad="76200" dist="25400" dir="5400000" algn="bl" rotWithShape="0">
              <a:srgbClr val="000000">
                <a:alpha val="10000"/>
              </a:srgbClr>
            </a:outerShdw>
          </a:effectLst>
        </p:spPr>
      </p:sp>
      <p:sp>
        <p:nvSpPr>
          <p:cNvPr id="19" name="badge"/>
          <p:cNvSpPr/>
          <p:nvPr/>
        </p:nvSpPr>
        <p:spPr>
          <a:xfrm>
            <a:off x="6035040" y="4910328"/>
            <a:ext cx="411480" cy="411480"/>
          </a:xfrm>
          <a:prstGeom prst="ellipse">
            <a:avLst/>
          </a:prstGeom>
          <a:solidFill>
            <a:srgbClr val="1F8A8A"/>
          </a:solidFill>
          <a:ln w="12700">
            <a:solidFill>
              <a:srgbClr val="1F8A8A"/>
            </a:solidFill>
            <a:prstDash val="solid"/>
          </a:ln>
        </p:spPr>
      </p:sp>
      <p:sp>
        <p:nvSpPr>
          <p:cNvPr id="20" name="Text 17"/>
          <p:cNvSpPr txBox="1"/>
          <p:nvPr/>
        </p:nvSpPr>
        <p:spPr>
          <a:xfrm>
            <a:off x="6035040" y="4910328"/>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1" name="Text 18"/>
          <p:cNvSpPr txBox="1"/>
          <p:nvPr/>
        </p:nvSpPr>
        <p:spPr>
          <a:xfrm>
            <a:off x="6675120" y="4864608"/>
            <a:ext cx="4754880" cy="365760"/>
          </a:xfrm>
          <a:prstGeom prst="rect">
            <a:avLst/>
          </a:prstGeom>
          <a:noFill/>
          <a:ln/>
        </p:spPr>
        <p:txBody>
          <a:bodyPr wrap="square" lIns="0" tIns="0" rIns="0" bIns="0" rtlCol="0" anchor="t"/>
          <a:lstStyle/>
          <a:p>
            <a:pPr marL="0" indent="0">
              <a:buNone/>
            </a:pPr>
            <a:r>
              <a:rPr lang="en-US" sz="1700" b="1" dirty="0">
                <a:solidFill>
                  <a:srgbClr val="12232B"/>
                </a:solidFill>
                <a:latin typeface="Cambria" pitchFamily="34" charset="0"/>
                <a:ea typeface="Cambria" pitchFamily="34" charset="-122"/>
                <a:cs typeface="Cambria" pitchFamily="34" charset="-120"/>
              </a:rPr>
              <a:t>Acting needs authority and limits</a:t>
            </a:r>
            <a:endParaRPr lang="en-US" sz="1700" dirty="0"/>
          </a:p>
        </p:txBody>
      </p:sp>
      <p:sp>
        <p:nvSpPr>
          <p:cNvPr id="22" name="Text 19"/>
          <p:cNvSpPr txBox="1"/>
          <p:nvPr/>
        </p:nvSpPr>
        <p:spPr>
          <a:xfrm>
            <a:off x="6675120" y="5340096"/>
            <a:ext cx="4754880" cy="640080"/>
          </a:xfrm>
          <a:prstGeom prst="rect">
            <a:avLst/>
          </a:prstGeom>
          <a:noFill/>
          <a:ln/>
        </p:spPr>
        <p:txBody>
          <a:bodyPr wrap="square" lIns="0" tIns="0" rIns="0" bIns="0" rtlCol="0" anchor="t"/>
          <a:lstStyle/>
          <a:p>
            <a:pPr marL="0" indent="0">
              <a:buNone/>
            </a:pPr>
            <a:r>
              <a:rPr lang="en-US" sz="1400" dirty="0">
                <a:solidFill>
                  <a:srgbClr val="566770"/>
                </a:solidFill>
                <a:latin typeface="Calibri" pitchFamily="34" charset="0"/>
                <a:ea typeface="Calibri" pitchFamily="34" charset="-122"/>
                <a:cs typeface="Calibri" pitchFamily="34" charset="-120"/>
              </a:rPr>
              <a:t>An agent that can edit code must be gated by policy and a human</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66770"/>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47472"/>
            <a:ext cx="11091672" cy="274320"/>
          </a:xfrm>
          <a:prstGeom prst="rect">
            <a:avLst/>
          </a:prstGeom>
          <a:noFill/>
          <a:ln/>
        </p:spPr>
        <p:txBody>
          <a:bodyPr wrap="square" lIns="0" tIns="0" rIns="0" bIns="0" rtlCol="0" anchor="ctr"/>
          <a:lstStyle/>
          <a:p>
            <a:pPr marL="0" indent="0">
              <a:buNone/>
            </a:pPr>
            <a:r>
              <a:rPr lang="en-US" sz="1200" b="1" kern="0" spc="300" dirty="0">
                <a:solidFill>
                  <a:srgbClr val="1F8A8A"/>
                </a:solidFill>
                <a:latin typeface="Calibri" pitchFamily="34" charset="0"/>
                <a:ea typeface="Calibri" pitchFamily="34" charset="-122"/>
                <a:cs typeface="Calibri" pitchFamily="34" charset="-120"/>
              </a:rPr>
              <a:t>THE AGENTIC LENS</a:t>
            </a:r>
            <a:endParaRPr lang="en-US" sz="1200" dirty="0"/>
          </a:p>
        </p:txBody>
      </p:sp>
      <p:sp>
        <p:nvSpPr>
          <p:cNvPr id="3" name="Text 1"/>
          <p:cNvSpPr txBox="1"/>
          <p:nvPr/>
        </p:nvSpPr>
        <p:spPr>
          <a:xfrm>
            <a:off x="548640" y="621792"/>
            <a:ext cx="11091672" cy="731520"/>
          </a:xfrm>
          <a:prstGeom prst="rect">
            <a:avLst/>
          </a:prstGeom>
          <a:noFill/>
          <a:ln/>
        </p:spPr>
        <p:txBody>
          <a:bodyPr wrap="square" lIns="0" tIns="0" rIns="0" bIns="0" rtlCol="0" anchor="t"/>
          <a:lstStyle/>
          <a:p>
            <a:pPr marL="0" indent="0">
              <a:buNone/>
            </a:pPr>
            <a:r>
              <a:rPr lang="en-US" sz="3400" b="1" dirty="0">
                <a:solidFill>
                  <a:srgbClr val="12232B"/>
                </a:solidFill>
                <a:latin typeface="Cambria" pitchFamily="34" charset="0"/>
                <a:ea typeface="Cambria" pitchFamily="34" charset="-122"/>
                <a:cs typeface="Cambria" pitchFamily="34" charset="-120"/>
              </a:rPr>
              <a:t>Four agents, each perceiving, reasoning and acting</a:t>
            </a:r>
            <a:endParaRPr lang="en-US" sz="3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3886200"/>
        </p:xfrm>
        <a:graphic>
          <a:graphicData uri="http://schemas.openxmlformats.org/drawingml/2006/table">
            <a:tbl>
              <a:tblPr/>
              <a:tblGrid>
                <a:gridCol w="155448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gridCol w="24688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tblGrid>
              <a:tr h="41148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Agent</a:t>
                      </a:r>
                      <a:endParaRPr lang="en-US" sz="13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12232B"/>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Perceives</a:t>
                      </a:r>
                      <a:endParaRPr lang="en-US" sz="13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12232B"/>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Reasons</a:t>
                      </a:r>
                      <a:endParaRPr lang="en-US" sz="13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12232B"/>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Acts with</a:t>
                      </a:r>
                      <a:endParaRPr lang="en-US" sz="13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12232B"/>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Framework</a:t>
                      </a:r>
                      <a:endParaRPr lang="en-US" sz="13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12232B"/>
                    </a:solidFill>
                  </a:tcPr>
                </a:tc>
                <a:extLst>
                  <a:ext uri="{0D108BD9-81ED-4DB2-BD59-A6C34878D82A}">
                    <a16:rowId xmlns:a16="http://schemas.microsoft.com/office/drawing/2014/main" val="10000"/>
                  </a:ext>
                </a:extLst>
              </a:tr>
              <a:tr h="868680">
                <a:tc>
                  <a:txBody>
                    <a:bodyPr/>
                    <a:lstStyle/>
                    <a:p>
                      <a:pPr marL="0" indent="0">
                        <a:buNone/>
                      </a:pPr>
                      <a:r>
                        <a:rPr lang="en-US" sz="1300" b="1" dirty="0">
                          <a:solidFill>
                            <a:srgbClr val="12232B"/>
                          </a:solidFill>
                          <a:latin typeface="Calibri" pitchFamily="34" charset="0"/>
                          <a:ea typeface="Calibri" pitchFamily="34" charset="-122"/>
                          <a:cs typeface="Calibri" pitchFamily="34" charset="-120"/>
                        </a:rPr>
                        <a:t>Jenkins agent</a:t>
                      </a:r>
                      <a:endParaRPr lang="en-US" sz="13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marL="0" indent="0">
                        <a:buNone/>
                      </a:pPr>
                      <a:r>
                        <a:rPr lang="en-US" sz="1300" dirty="0">
                          <a:solidFill>
                            <a:srgbClr val="12232B"/>
                          </a:solidFill>
                          <a:latin typeface="Calibri" pitchFamily="34" charset="0"/>
                          <a:ea typeface="Calibri" pitchFamily="34" charset="-122"/>
                          <a:cs typeface="Calibri" pitchFamily="34" charset="-120"/>
                        </a:rPr>
                        <a:t>Console log, stages, test report, build history</a:t>
                      </a:r>
                      <a:endParaRPr lang="en-US" sz="13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marL="0" indent="0">
                        <a:buNone/>
                      </a:pPr>
                      <a:r>
                        <a:rPr lang="en-US" sz="1300" dirty="0">
                          <a:solidFill>
                            <a:srgbClr val="12232B"/>
                          </a:solidFill>
                          <a:latin typeface="Calibri" pitchFamily="34" charset="0"/>
                          <a:ea typeface="Calibri" pitchFamily="34" charset="-122"/>
                          <a:cs typeface="Calibri" pitchFamily="34" charset="-120"/>
                        </a:rPr>
                        <a:t>LLM (Gemini) ReAct loop on a step budget; rules as fallback; cites evidence IDs</a:t>
                      </a:r>
                      <a:endParaRPr lang="en-US" sz="13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marL="0" indent="0">
                        <a:buNone/>
                      </a:pPr>
                      <a:r>
                        <a:rPr lang="en-US" sz="1300" dirty="0">
                          <a:solidFill>
                            <a:srgbClr val="12232B"/>
                          </a:solidFill>
                          <a:latin typeface="Calibri" pitchFamily="34" charset="0"/>
                          <a:ea typeface="Calibri" pitchFamily="34" charset="-122"/>
                          <a:cs typeface="Calibri" pitchFamily="34" charset="-120"/>
                        </a:rPr>
                        <a:t>7 Jenkins MCP tools, 3 analytics MCP tools</a:t>
                      </a:r>
                      <a:endParaRPr lang="en-US" sz="13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marL="0" indent="0">
                        <a:buNone/>
                      </a:pPr>
                      <a:r>
                        <a:rPr lang="en-US" sz="1300" dirty="0">
                          <a:solidFill>
                            <a:srgbClr val="12232B"/>
                          </a:solidFill>
                          <a:latin typeface="Calibri" pitchFamily="34" charset="0"/>
                          <a:ea typeface="Calibri" pitchFamily="34" charset="-122"/>
                          <a:cs typeface="Calibri" pitchFamily="34" charset="-120"/>
                        </a:rPr>
                        <a:t>CrewAI Crew</a:t>
                      </a:r>
                      <a:endParaRPr lang="en-US" sz="13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68680">
                <a:tc>
                  <a:txBody>
                    <a:bodyPr/>
                    <a:lstStyle/>
                    <a:p>
                      <a:pPr marL="0" indent="0">
                        <a:buNone/>
                      </a:pPr>
                      <a:r>
                        <a:rPr lang="en-US" sz="1300" b="1" dirty="0">
                          <a:solidFill>
                            <a:srgbClr val="12232B"/>
                          </a:solidFill>
                          <a:latin typeface="Calibri" pitchFamily="34" charset="0"/>
                          <a:ea typeface="Calibri" pitchFamily="34" charset="-122"/>
                          <a:cs typeface="Calibri" pitchFamily="34" charset="-120"/>
                        </a:rPr>
                        <a:t>Metrics agent</a:t>
                      </a:r>
                      <a:endParaRPr lang="en-US" sz="13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marL="0" indent="0">
                        <a:buNone/>
                      </a:pPr>
                      <a:r>
                        <a:rPr lang="en-US" sz="1300" dirty="0">
                          <a:solidFill>
                            <a:srgbClr val="12232B"/>
                          </a:solidFill>
                          <a:latin typeface="Calibri" pitchFamily="34" charset="0"/>
                          <a:ea typeface="Calibri" pitchFamily="34" charset="-122"/>
                          <a:cs typeface="Calibri" pitchFamily="34" charset="-120"/>
                        </a:rPr>
                        <a:t>Prometheus time series around the failure</a:t>
                      </a:r>
                      <a:endParaRPr lang="en-US" sz="13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marL="0" indent="0">
                        <a:buNone/>
                      </a:pPr>
                      <a:r>
                        <a:rPr lang="en-US" sz="1300" dirty="0">
                          <a:solidFill>
                            <a:srgbClr val="12232B"/>
                          </a:solidFill>
                          <a:latin typeface="Calibri" pitchFamily="34" charset="0"/>
                          <a:ea typeface="Calibri" pitchFamily="34" charset="-122"/>
                          <a:cs typeface="Calibri" pitchFamily="34" charset="-120"/>
                        </a:rPr>
                        <a:t>Plans queries, robust z-score anomaly detection, correlates metrics, scores confidence</a:t>
                      </a:r>
                      <a:endParaRPr lang="en-US" sz="13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marL="0" indent="0">
                        <a:buNone/>
                      </a:pPr>
                      <a:r>
                        <a:rPr lang="en-US" sz="1300" dirty="0">
                          <a:solidFill>
                            <a:srgbClr val="12232B"/>
                          </a:solidFill>
                          <a:latin typeface="Calibri" pitchFamily="34" charset="0"/>
                          <a:ea typeface="Calibri" pitchFamily="34" charset="-122"/>
                          <a:cs typeface="Calibri" pitchFamily="34" charset="-120"/>
                        </a:rPr>
                        <a:t>PromQL range queries with retry and timeout</a:t>
                      </a:r>
                      <a:endParaRPr lang="en-US" sz="13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marL="0" indent="0">
                        <a:buNone/>
                      </a:pPr>
                      <a:r>
                        <a:rPr lang="en-US" sz="1300" dirty="0">
                          <a:solidFill>
                            <a:srgbClr val="12232B"/>
                          </a:solidFill>
                          <a:latin typeface="Calibri" pitchFamily="34" charset="0"/>
                          <a:ea typeface="Calibri" pitchFamily="34" charset="-122"/>
                          <a:cs typeface="Calibri" pitchFamily="34" charset="-120"/>
                        </a:rPr>
                        <a:t>CrewAI Flow</a:t>
                      </a:r>
                      <a:endParaRPr lang="en-US" sz="13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68680">
                <a:tc>
                  <a:txBody>
                    <a:bodyPr/>
                    <a:lstStyle/>
                    <a:p>
                      <a:pPr marL="0" indent="0">
                        <a:buNone/>
                      </a:pPr>
                      <a:r>
                        <a:rPr lang="en-US" sz="1300" b="1" dirty="0">
                          <a:solidFill>
                            <a:srgbClr val="12232B"/>
                          </a:solidFill>
                          <a:latin typeface="Calibri" pitchFamily="34" charset="0"/>
                          <a:ea typeface="Calibri" pitchFamily="34" charset="-122"/>
                          <a:cs typeface="Calibri" pitchFamily="34" charset="-120"/>
                        </a:rPr>
                        <a:t>Code agent</a:t>
                      </a:r>
                      <a:endParaRPr lang="en-US" sz="13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marL="0" indent="0">
                        <a:buNone/>
                      </a:pPr>
                      <a:r>
                        <a:rPr lang="en-US" sz="1300" dirty="0">
                          <a:solidFill>
                            <a:srgbClr val="12232B"/>
                          </a:solidFill>
                          <a:latin typeface="Calibri" pitchFamily="34" charset="0"/>
                          <a:ea typeface="Calibri" pitchFamily="34" charset="-122"/>
                          <a:cs typeface="Calibri" pitchFamily="34" charset="-120"/>
                        </a:rPr>
                        <a:t>Failing commit, pull requests, branch history</a:t>
                      </a:r>
                      <a:endParaRPr lang="en-US" sz="13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marL="0" indent="0">
                        <a:buNone/>
                      </a:pPr>
                      <a:r>
                        <a:rPr lang="en-US" sz="1300" dirty="0">
                          <a:solidFill>
                            <a:srgbClr val="12232B"/>
                          </a:solidFill>
                          <a:latin typeface="Calibri" pitchFamily="34" charset="0"/>
                          <a:ea typeface="Calibri" pitchFamily="34" charset="-122"/>
                          <a:cs typeface="Calibri" pitchFamily="34" charset="-120"/>
                        </a:rPr>
                        <a:t>Classifies changed files, ranks causes, abstains below 0.5 confidence</a:t>
                      </a:r>
                      <a:endParaRPr lang="en-US" sz="13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marL="0" indent="0">
                        <a:buNone/>
                      </a:pPr>
                      <a:r>
                        <a:rPr lang="en-US" sz="1300" dirty="0">
                          <a:solidFill>
                            <a:srgbClr val="12232B"/>
                          </a:solidFill>
                          <a:latin typeface="Calibri" pitchFamily="34" charset="0"/>
                          <a:ea typeface="Calibri" pitchFamily="34" charset="-122"/>
                          <a:cs typeface="Calibri" pitchFamily="34" charset="-120"/>
                        </a:rPr>
                        <a:t>GitHub reads; patch engine; draft PR behind gates</a:t>
                      </a:r>
                      <a:endParaRPr lang="en-US" sz="13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marL="0" indent="0">
                        <a:buNone/>
                      </a:pPr>
                      <a:r>
                        <a:rPr lang="en-US" sz="1300" dirty="0">
                          <a:solidFill>
                            <a:srgbClr val="12232B"/>
                          </a:solidFill>
                          <a:latin typeface="Calibri" pitchFamily="34" charset="0"/>
                          <a:ea typeface="Calibri" pitchFamily="34" charset="-122"/>
                          <a:cs typeface="Calibri" pitchFamily="34" charset="-120"/>
                        </a:rPr>
                        <a:t>CrewAI Flow</a:t>
                      </a:r>
                      <a:endParaRPr lang="en-US" sz="13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68680">
                <a:tc>
                  <a:txBody>
                    <a:bodyPr/>
                    <a:lstStyle/>
                    <a:p>
                      <a:pPr marL="0" indent="0">
                        <a:buNone/>
                      </a:pPr>
                      <a:r>
                        <a:rPr lang="en-US" sz="1300" b="1" dirty="0">
                          <a:solidFill>
                            <a:srgbClr val="12232B"/>
                          </a:solidFill>
                          <a:latin typeface="Calibri" pitchFamily="34" charset="0"/>
                          <a:ea typeface="Calibri" pitchFamily="34" charset="-122"/>
                          <a:cs typeface="Calibri" pitchFamily="34" charset="-120"/>
                        </a:rPr>
                        <a:t>Coordinator</a:t>
                      </a:r>
                      <a:endParaRPr lang="en-US" sz="13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marL="0" indent="0">
                        <a:buNone/>
                      </a:pPr>
                      <a:r>
                        <a:rPr lang="en-US" sz="1300" dirty="0">
                          <a:solidFill>
                            <a:srgbClr val="12232B"/>
                          </a:solidFill>
                          <a:latin typeface="Calibri" pitchFamily="34" charset="0"/>
                          <a:ea typeface="Calibri" pitchFamily="34" charset="-122"/>
                          <a:cs typeface="Calibri" pitchFamily="34" charset="-120"/>
                        </a:rPr>
                        <a:t>The three evidence documents</a:t>
                      </a:r>
                      <a:endParaRPr lang="en-US" sz="13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marL="0" indent="0">
                        <a:buNone/>
                      </a:pPr>
                      <a:r>
                        <a:rPr lang="en-US" sz="1300" dirty="0">
                          <a:solidFill>
                            <a:srgbClr val="12232B"/>
                          </a:solidFill>
                          <a:latin typeface="Calibri" pitchFamily="34" charset="0"/>
                          <a:ea typeface="Calibri" pitchFamily="34" charset="-122"/>
                          <a:cs typeface="Calibri" pitchFamily="34" charset="-120"/>
                        </a:rPr>
                        <a:t>Weighs agreement and conflict, checks completeness, names the verdict</a:t>
                      </a:r>
                      <a:endParaRPr lang="en-US" sz="13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marL="0" indent="0">
                        <a:buNone/>
                      </a:pPr>
                      <a:r>
                        <a:rPr lang="en-US" sz="1300" dirty="0">
                          <a:solidFill>
                            <a:srgbClr val="12232B"/>
                          </a:solidFill>
                          <a:latin typeface="Calibri" pitchFamily="34" charset="0"/>
                          <a:ea typeface="Calibri" pitchFamily="34" charset="-122"/>
                          <a:cs typeface="Calibri" pitchFamily="34" charset="-120"/>
                        </a:rPr>
                        <a:t>A2A dispatch, OPA checks, approval requests</a:t>
                      </a:r>
                      <a:endParaRPr lang="en-US" sz="13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marL="0" indent="0">
                        <a:buNone/>
                      </a:pPr>
                      <a:r>
                        <a:rPr lang="en-US" sz="1300" dirty="0">
                          <a:solidFill>
                            <a:srgbClr val="12232B"/>
                          </a:solidFill>
                          <a:latin typeface="Calibri" pitchFamily="34" charset="0"/>
                          <a:ea typeface="Calibri" pitchFamily="34" charset="-122"/>
                          <a:cs typeface="Calibri" pitchFamily="34" charset="-120"/>
                        </a:rPr>
                        <a:t>Google ADK</a:t>
                      </a:r>
                      <a:endParaRPr lang="en-US" sz="13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card"/>
          <p:cNvSpPr/>
          <p:nvPr/>
        </p:nvSpPr>
        <p:spPr>
          <a:xfrm>
            <a:off x="548640" y="5623560"/>
            <a:ext cx="11091672" cy="594360"/>
          </a:xfrm>
          <a:prstGeom prst="rect">
            <a:avLst/>
          </a:prstGeom>
          <a:solidFill>
            <a:srgbClr val="DCEEEC"/>
          </a:solidFill>
          <a:ln w="9525">
            <a:solidFill>
              <a:srgbClr val="DCEEEC"/>
            </a:solidFill>
            <a:prstDash val="solid"/>
          </a:ln>
        </p:spPr>
      </p:sp>
      <p:sp>
        <p:nvSpPr>
          <p:cNvPr id="7" name="Text 3"/>
          <p:cNvSpPr txBox="1"/>
          <p:nvPr/>
        </p:nvSpPr>
        <p:spPr>
          <a:xfrm>
            <a:off x="822960" y="5623560"/>
            <a:ext cx="10543032" cy="594360"/>
          </a:xfrm>
          <a:prstGeom prst="rect">
            <a:avLst/>
          </a:prstGeom>
          <a:noFill/>
          <a:ln/>
        </p:spPr>
        <p:txBody>
          <a:bodyPr wrap="square" lIns="0" tIns="0" rIns="0" bIns="0" rtlCol="0" anchor="ctr"/>
          <a:lstStyle/>
          <a:p>
            <a:pPr marL="0" indent="0">
              <a:buNone/>
            </a:pPr>
            <a:r>
              <a:rPr lang="en-US" sz="1500" b="1" dirty="0">
                <a:solidFill>
                  <a:srgbClr val="12232B"/>
                </a:solidFill>
                <a:latin typeface="Calibri" pitchFamily="34" charset="0"/>
                <a:ea typeface="Calibri" pitchFamily="34" charset="-122"/>
                <a:cs typeface="Calibri" pitchFamily="34" charset="-120"/>
              </a:rPr>
              <a:t>Autonomy inside limits: step budgets, a confidence floor, a policy gate and human approval bound every agent.</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66770"/>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47472"/>
            <a:ext cx="11091672" cy="274320"/>
          </a:xfrm>
          <a:prstGeom prst="rect">
            <a:avLst/>
          </a:prstGeom>
          <a:noFill/>
          <a:ln/>
        </p:spPr>
        <p:txBody>
          <a:bodyPr wrap="square" lIns="0" tIns="0" rIns="0" bIns="0" rtlCol="0" anchor="ctr"/>
          <a:lstStyle/>
          <a:p>
            <a:pPr marL="0" indent="0">
              <a:buNone/>
            </a:pPr>
            <a:r>
              <a:rPr lang="en-US" sz="1200" b="1" kern="0" spc="300" dirty="0">
                <a:solidFill>
                  <a:srgbClr val="1F8A8A"/>
                </a:solidFill>
                <a:latin typeface="Calibri" pitchFamily="34" charset="0"/>
                <a:ea typeface="Calibri" pitchFamily="34" charset="-122"/>
                <a:cs typeface="Calibri" pitchFamily="34" charset="-120"/>
              </a:rPr>
              <a:t>ARCHITECTURE</a:t>
            </a:r>
            <a:endParaRPr lang="en-US" sz="1200" dirty="0"/>
          </a:p>
        </p:txBody>
      </p:sp>
      <p:sp>
        <p:nvSpPr>
          <p:cNvPr id="3" name="Text 1"/>
          <p:cNvSpPr txBox="1"/>
          <p:nvPr/>
        </p:nvSpPr>
        <p:spPr>
          <a:xfrm>
            <a:off x="548640" y="621792"/>
            <a:ext cx="11091672" cy="731520"/>
          </a:xfrm>
          <a:prstGeom prst="rect">
            <a:avLst/>
          </a:prstGeom>
          <a:noFill/>
          <a:ln/>
        </p:spPr>
        <p:txBody>
          <a:bodyPr wrap="square" lIns="0" tIns="0" rIns="0" bIns="0" rtlCol="0" anchor="t"/>
          <a:lstStyle/>
          <a:p>
            <a:pPr marL="0" indent="0">
              <a:buNone/>
            </a:pPr>
            <a:r>
              <a:rPr lang="en-US" sz="3400" b="1" dirty="0">
                <a:solidFill>
                  <a:srgbClr val="12232B"/>
                </a:solidFill>
                <a:latin typeface="Cambria" pitchFamily="34" charset="0"/>
                <a:ea typeface="Cambria" pitchFamily="34" charset="-122"/>
                <a:cs typeface="Cambria" pitchFamily="34" charset="-120"/>
              </a:rPr>
              <a:t>System architecture: investigate, decide, act, validate</a:t>
            </a:r>
            <a:endParaRPr lang="en-US" sz="3400" dirty="0"/>
          </a:p>
        </p:txBody>
      </p:sp>
      <p:sp>
        <p:nvSpPr>
          <p:cNvPr id="5" name="Text 2"/>
          <p:cNvSpPr txBox="1"/>
          <p:nvPr/>
        </p:nvSpPr>
        <p:spPr>
          <a:xfrm>
            <a:off x="548640" y="1371600"/>
            <a:ext cx="11091672" cy="256032"/>
          </a:xfrm>
          <a:prstGeom prst="rect">
            <a:avLst/>
          </a:prstGeom>
          <a:noFill/>
          <a:ln/>
        </p:spPr>
        <p:txBody>
          <a:bodyPr wrap="square" lIns="0" tIns="0" rIns="0" bIns="0" rtlCol="0" anchor="t"/>
          <a:lstStyle/>
          <a:p>
            <a:pPr marL="0" indent="0">
              <a:buNone/>
            </a:pPr>
            <a:r>
              <a:rPr lang="en-US" sz="1200" b="1" kern="0" spc="200" dirty="0">
                <a:solidFill>
                  <a:srgbClr val="1F8A8A"/>
                </a:solidFill>
                <a:latin typeface="Calibri" pitchFamily="34" charset="0"/>
                <a:ea typeface="Calibri" pitchFamily="34" charset="-122"/>
                <a:cs typeface="Calibri" pitchFamily="34" charset="-120"/>
              </a:rPr>
              <a:t>1  TRIGGER</a:t>
            </a:r>
            <a:endParaRPr lang="en-US" sz="1200" dirty="0"/>
          </a:p>
        </p:txBody>
      </p:sp>
      <p:sp>
        <p:nvSpPr>
          <p:cNvPr id="6" name="node"/>
          <p:cNvSpPr/>
          <p:nvPr/>
        </p:nvSpPr>
        <p:spPr>
          <a:xfrm>
            <a:off x="548640" y="1664208"/>
            <a:ext cx="2468880" cy="640080"/>
          </a:xfrm>
          <a:prstGeom prst="rect">
            <a:avLst/>
          </a:prstGeom>
          <a:solidFill>
            <a:srgbClr val="12232B"/>
          </a:solidFill>
          <a:ln w="9525">
            <a:solidFill>
              <a:srgbClr val="12232B"/>
            </a:solidFill>
            <a:prstDash val="solid"/>
          </a:ln>
        </p:spPr>
      </p:sp>
      <p:sp>
        <p:nvSpPr>
          <p:cNvPr id="7" name="Text 4"/>
          <p:cNvSpPr txBox="1"/>
          <p:nvPr/>
        </p:nvSpPr>
        <p:spPr>
          <a:xfrm>
            <a:off x="548640" y="1664208"/>
            <a:ext cx="2468880" cy="640080"/>
          </a:xfrm>
          <a:prstGeom prst="rect">
            <a:avLst/>
          </a:prstGeom>
          <a:noFill/>
          <a:ln/>
        </p:spPr>
        <p:txBody>
          <a:bodyPr wrap="square" lIns="76200" tIns="76200" rIns="76200" bIns="7620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Jenkins build fails</a:t>
            </a:r>
            <a:endParaRPr lang="en-US" sz="1400" dirty="0"/>
          </a:p>
        </p:txBody>
      </p:sp>
      <p:sp>
        <p:nvSpPr>
          <p:cNvPr id="8" name="arrow"/>
          <p:cNvSpPr/>
          <p:nvPr/>
        </p:nvSpPr>
        <p:spPr>
          <a:xfrm>
            <a:off x="3017520" y="1984248"/>
            <a:ext cx="405384" cy="0"/>
          </a:xfrm>
          <a:prstGeom prst="line">
            <a:avLst/>
          </a:prstGeom>
          <a:noFill/>
          <a:ln w="19050">
            <a:solidFill>
              <a:srgbClr val="566770"/>
            </a:solidFill>
            <a:prstDash val="solid"/>
            <a:tailEnd type="triangle"/>
          </a:ln>
        </p:spPr>
      </p:sp>
      <p:sp>
        <p:nvSpPr>
          <p:cNvPr id="9" name="node"/>
          <p:cNvSpPr/>
          <p:nvPr/>
        </p:nvSpPr>
        <p:spPr>
          <a:xfrm>
            <a:off x="3422904" y="1664208"/>
            <a:ext cx="2468880" cy="640080"/>
          </a:xfrm>
          <a:prstGeom prst="rect">
            <a:avLst/>
          </a:prstGeom>
          <a:solidFill>
            <a:srgbClr val="12232B"/>
          </a:solidFill>
          <a:ln w="9525">
            <a:solidFill>
              <a:srgbClr val="12232B"/>
            </a:solidFill>
            <a:prstDash val="solid"/>
          </a:ln>
        </p:spPr>
      </p:sp>
      <p:sp>
        <p:nvSpPr>
          <p:cNvPr id="10" name="Text 7"/>
          <p:cNvSpPr txBox="1"/>
          <p:nvPr/>
        </p:nvSpPr>
        <p:spPr>
          <a:xfrm>
            <a:off x="3422904" y="1664208"/>
            <a:ext cx="2468880" cy="640080"/>
          </a:xfrm>
          <a:prstGeom prst="rect">
            <a:avLst/>
          </a:prstGeom>
          <a:noFill/>
          <a:ln/>
        </p:spPr>
        <p:txBody>
          <a:bodyPr wrap="square" lIns="76200" tIns="76200" rIns="76200" bIns="7620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FastAPI webhook</a:t>
            </a:r>
            <a:endParaRPr lang="en-US" sz="1400" dirty="0"/>
          </a:p>
        </p:txBody>
      </p:sp>
      <p:sp>
        <p:nvSpPr>
          <p:cNvPr id="11" name="arrow"/>
          <p:cNvSpPr/>
          <p:nvPr/>
        </p:nvSpPr>
        <p:spPr>
          <a:xfrm>
            <a:off x="5891784" y="1984248"/>
            <a:ext cx="405384" cy="0"/>
          </a:xfrm>
          <a:prstGeom prst="line">
            <a:avLst/>
          </a:prstGeom>
          <a:noFill/>
          <a:ln w="19050">
            <a:solidFill>
              <a:srgbClr val="566770"/>
            </a:solidFill>
            <a:prstDash val="solid"/>
            <a:tailEnd type="triangle"/>
          </a:ln>
        </p:spPr>
      </p:sp>
      <p:sp>
        <p:nvSpPr>
          <p:cNvPr id="12" name="node"/>
          <p:cNvSpPr/>
          <p:nvPr/>
        </p:nvSpPr>
        <p:spPr>
          <a:xfrm>
            <a:off x="6297168" y="1664208"/>
            <a:ext cx="2468880" cy="640080"/>
          </a:xfrm>
          <a:prstGeom prst="rect">
            <a:avLst/>
          </a:prstGeom>
          <a:solidFill>
            <a:srgbClr val="12232B"/>
          </a:solidFill>
          <a:ln w="9525">
            <a:solidFill>
              <a:srgbClr val="12232B"/>
            </a:solidFill>
            <a:prstDash val="solid"/>
          </a:ln>
        </p:spPr>
      </p:sp>
      <p:sp>
        <p:nvSpPr>
          <p:cNvPr id="13" name="Text 10"/>
          <p:cNvSpPr txBox="1"/>
          <p:nvPr/>
        </p:nvSpPr>
        <p:spPr>
          <a:xfrm>
            <a:off x="6297168" y="1664208"/>
            <a:ext cx="2468880" cy="640080"/>
          </a:xfrm>
          <a:prstGeom prst="rect">
            <a:avLst/>
          </a:prstGeom>
          <a:noFill/>
          <a:ln/>
        </p:spPr>
        <p:txBody>
          <a:bodyPr wrap="square" lIns="76200" tIns="76200" rIns="76200" bIns="7620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RabbitMQ  (incidents exchange)</a:t>
            </a:r>
            <a:endParaRPr lang="en-US" sz="1400" dirty="0"/>
          </a:p>
        </p:txBody>
      </p:sp>
      <p:sp>
        <p:nvSpPr>
          <p:cNvPr id="14" name="arrow"/>
          <p:cNvSpPr/>
          <p:nvPr/>
        </p:nvSpPr>
        <p:spPr>
          <a:xfrm>
            <a:off x="8766048" y="1984248"/>
            <a:ext cx="405384" cy="0"/>
          </a:xfrm>
          <a:prstGeom prst="line">
            <a:avLst/>
          </a:prstGeom>
          <a:noFill/>
          <a:ln w="19050">
            <a:solidFill>
              <a:srgbClr val="566770"/>
            </a:solidFill>
            <a:prstDash val="solid"/>
            <a:tailEnd type="triangle"/>
          </a:ln>
        </p:spPr>
      </p:sp>
      <p:sp>
        <p:nvSpPr>
          <p:cNvPr id="15" name="node"/>
          <p:cNvSpPr/>
          <p:nvPr/>
        </p:nvSpPr>
        <p:spPr>
          <a:xfrm>
            <a:off x="9171432" y="1664208"/>
            <a:ext cx="2468880" cy="640080"/>
          </a:xfrm>
          <a:prstGeom prst="rect">
            <a:avLst/>
          </a:prstGeom>
          <a:solidFill>
            <a:srgbClr val="12232B"/>
          </a:solidFill>
          <a:ln w="9525">
            <a:solidFill>
              <a:srgbClr val="12232B"/>
            </a:solidFill>
            <a:prstDash val="solid"/>
          </a:ln>
        </p:spPr>
      </p:sp>
      <p:sp>
        <p:nvSpPr>
          <p:cNvPr id="16" name="Text 13"/>
          <p:cNvSpPr txBox="1"/>
          <p:nvPr/>
        </p:nvSpPr>
        <p:spPr>
          <a:xfrm>
            <a:off x="9171432" y="1664208"/>
            <a:ext cx="2468880" cy="640080"/>
          </a:xfrm>
          <a:prstGeom prst="rect">
            <a:avLst/>
          </a:prstGeom>
          <a:noFill/>
          <a:ln/>
        </p:spPr>
        <p:txBody>
          <a:bodyPr wrap="square" lIns="76200" tIns="76200" rIns="76200" bIns="7620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Coordinator  (Google ADK)</a:t>
            </a:r>
            <a:endParaRPr lang="en-US" sz="1400" dirty="0"/>
          </a:p>
        </p:txBody>
      </p:sp>
      <p:sp>
        <p:nvSpPr>
          <p:cNvPr id="17" name="Text 14"/>
          <p:cNvSpPr txBox="1"/>
          <p:nvPr/>
        </p:nvSpPr>
        <p:spPr>
          <a:xfrm>
            <a:off x="548640" y="2487168"/>
            <a:ext cx="11091672" cy="256032"/>
          </a:xfrm>
          <a:prstGeom prst="rect">
            <a:avLst/>
          </a:prstGeom>
          <a:noFill/>
          <a:ln/>
        </p:spPr>
        <p:txBody>
          <a:bodyPr wrap="square" lIns="0" tIns="0" rIns="0" bIns="0" rtlCol="0" anchor="t"/>
          <a:lstStyle/>
          <a:p>
            <a:pPr marL="0" indent="0">
              <a:buNone/>
            </a:pPr>
            <a:r>
              <a:rPr lang="en-US" sz="1200" b="1" kern="0" spc="200" dirty="0">
                <a:solidFill>
                  <a:srgbClr val="1F8A8A"/>
                </a:solidFill>
                <a:latin typeface="Calibri" pitchFamily="34" charset="0"/>
                <a:ea typeface="Calibri" pitchFamily="34" charset="-122"/>
                <a:cs typeface="Calibri" pitchFamily="34" charset="-120"/>
              </a:rPr>
              <a:t>2  INVESTIGATE IN PARALLEL  (A2A task, MCP tools)</a:t>
            </a:r>
            <a:endParaRPr lang="en-US" sz="1200" dirty="0"/>
          </a:p>
        </p:txBody>
      </p:sp>
      <p:sp>
        <p:nvSpPr>
          <p:cNvPr id="18" name="node"/>
          <p:cNvSpPr/>
          <p:nvPr/>
        </p:nvSpPr>
        <p:spPr>
          <a:xfrm>
            <a:off x="548640" y="2779776"/>
            <a:ext cx="3200400" cy="777240"/>
          </a:xfrm>
          <a:prstGeom prst="rect">
            <a:avLst/>
          </a:prstGeom>
          <a:solidFill>
            <a:srgbClr val="1F8A8A"/>
          </a:solidFill>
          <a:ln w="9525">
            <a:solidFill>
              <a:srgbClr val="1F8A8A"/>
            </a:solidFill>
            <a:prstDash val="solid"/>
          </a:ln>
        </p:spPr>
      </p:sp>
      <p:sp>
        <p:nvSpPr>
          <p:cNvPr id="19" name="Text 16"/>
          <p:cNvSpPr txBox="1"/>
          <p:nvPr/>
        </p:nvSpPr>
        <p:spPr>
          <a:xfrm>
            <a:off x="548640" y="2779776"/>
            <a:ext cx="3200400" cy="777240"/>
          </a:xfrm>
          <a:prstGeom prst="rect">
            <a:avLst/>
          </a:prstGeom>
          <a:noFill/>
          <a:ln/>
        </p:spPr>
        <p:txBody>
          <a:bodyPr wrap="square" lIns="76200" tIns="76200" rIns="76200" bIns="7620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Jenkins agent</a:t>
            </a:r>
            <a:endParaRPr lang="en-US" sz="1400" dirty="0"/>
          </a:p>
          <a:p>
            <a:pPr marL="0" indent="0" algn="ctr">
              <a:buNone/>
            </a:pPr>
            <a:r>
              <a:rPr lang="en-US" sz="1400" b="1" dirty="0">
                <a:solidFill>
                  <a:srgbClr val="FFFFFF"/>
                </a:solidFill>
                <a:latin typeface="Calibri" pitchFamily="34" charset="0"/>
                <a:ea typeface="Calibri" pitchFamily="34" charset="-122"/>
                <a:cs typeface="Calibri" pitchFamily="34" charset="-120"/>
              </a:rPr>
              <a:t>CrewAI Crew + MCP tools</a:t>
            </a:r>
            <a:endParaRPr lang="en-US" sz="1400" dirty="0"/>
          </a:p>
        </p:txBody>
      </p:sp>
      <p:sp>
        <p:nvSpPr>
          <p:cNvPr id="20" name="arrow"/>
          <p:cNvSpPr/>
          <p:nvPr/>
        </p:nvSpPr>
        <p:spPr>
          <a:xfrm>
            <a:off x="2148840" y="3557016"/>
            <a:ext cx="0" cy="210312"/>
          </a:xfrm>
          <a:prstGeom prst="line">
            <a:avLst/>
          </a:prstGeom>
          <a:noFill/>
          <a:ln w="19050">
            <a:solidFill>
              <a:srgbClr val="566770"/>
            </a:solidFill>
            <a:prstDash val="solid"/>
            <a:tailEnd type="triangle"/>
          </a:ln>
        </p:spPr>
      </p:sp>
      <p:sp>
        <p:nvSpPr>
          <p:cNvPr id="21" name="node"/>
          <p:cNvSpPr/>
          <p:nvPr/>
        </p:nvSpPr>
        <p:spPr>
          <a:xfrm>
            <a:off x="4494276" y="2779776"/>
            <a:ext cx="3200400" cy="777240"/>
          </a:xfrm>
          <a:prstGeom prst="rect">
            <a:avLst/>
          </a:prstGeom>
          <a:solidFill>
            <a:srgbClr val="1F8A8A"/>
          </a:solidFill>
          <a:ln w="9525">
            <a:solidFill>
              <a:srgbClr val="1F8A8A"/>
            </a:solidFill>
            <a:prstDash val="solid"/>
          </a:ln>
        </p:spPr>
      </p:sp>
      <p:sp>
        <p:nvSpPr>
          <p:cNvPr id="22" name="Text 19"/>
          <p:cNvSpPr txBox="1"/>
          <p:nvPr/>
        </p:nvSpPr>
        <p:spPr>
          <a:xfrm>
            <a:off x="4494276" y="2779776"/>
            <a:ext cx="3200400" cy="777240"/>
          </a:xfrm>
          <a:prstGeom prst="rect">
            <a:avLst/>
          </a:prstGeom>
          <a:noFill/>
          <a:ln/>
        </p:spPr>
        <p:txBody>
          <a:bodyPr wrap="square" lIns="76200" tIns="76200" rIns="76200" bIns="7620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Metrics agent</a:t>
            </a:r>
            <a:endParaRPr lang="en-US" sz="1400" dirty="0"/>
          </a:p>
          <a:p>
            <a:pPr marL="0" indent="0" algn="ctr">
              <a:buNone/>
            </a:pPr>
            <a:r>
              <a:rPr lang="en-US" sz="1400" b="1" dirty="0">
                <a:solidFill>
                  <a:srgbClr val="FFFFFF"/>
                </a:solidFill>
                <a:latin typeface="Calibri" pitchFamily="34" charset="0"/>
                <a:ea typeface="Calibri" pitchFamily="34" charset="-122"/>
                <a:cs typeface="Calibri" pitchFamily="34" charset="-120"/>
              </a:rPr>
              <a:t>CrewAI Flow + Prometheus</a:t>
            </a:r>
            <a:endParaRPr lang="en-US" sz="1400" dirty="0"/>
          </a:p>
        </p:txBody>
      </p:sp>
      <p:sp>
        <p:nvSpPr>
          <p:cNvPr id="23" name="arrow"/>
          <p:cNvSpPr/>
          <p:nvPr/>
        </p:nvSpPr>
        <p:spPr>
          <a:xfrm>
            <a:off x="6094476" y="3557016"/>
            <a:ext cx="0" cy="210312"/>
          </a:xfrm>
          <a:prstGeom prst="line">
            <a:avLst/>
          </a:prstGeom>
          <a:noFill/>
          <a:ln w="19050">
            <a:solidFill>
              <a:srgbClr val="566770"/>
            </a:solidFill>
            <a:prstDash val="solid"/>
            <a:tailEnd type="triangle"/>
          </a:ln>
        </p:spPr>
      </p:sp>
      <p:sp>
        <p:nvSpPr>
          <p:cNvPr id="24" name="node"/>
          <p:cNvSpPr/>
          <p:nvPr/>
        </p:nvSpPr>
        <p:spPr>
          <a:xfrm>
            <a:off x="8439912" y="2779776"/>
            <a:ext cx="3200400" cy="777240"/>
          </a:xfrm>
          <a:prstGeom prst="rect">
            <a:avLst/>
          </a:prstGeom>
          <a:solidFill>
            <a:srgbClr val="1F8A8A"/>
          </a:solidFill>
          <a:ln w="9525">
            <a:solidFill>
              <a:srgbClr val="1F8A8A"/>
            </a:solidFill>
            <a:prstDash val="solid"/>
          </a:ln>
        </p:spPr>
      </p:sp>
      <p:sp>
        <p:nvSpPr>
          <p:cNvPr id="25" name="Text 22"/>
          <p:cNvSpPr txBox="1"/>
          <p:nvPr/>
        </p:nvSpPr>
        <p:spPr>
          <a:xfrm>
            <a:off x="8439912" y="2779776"/>
            <a:ext cx="3200400" cy="777240"/>
          </a:xfrm>
          <a:prstGeom prst="rect">
            <a:avLst/>
          </a:prstGeom>
          <a:noFill/>
          <a:ln/>
        </p:spPr>
        <p:txBody>
          <a:bodyPr wrap="square" lIns="76200" tIns="76200" rIns="76200" bIns="7620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Code agent</a:t>
            </a:r>
            <a:endParaRPr lang="en-US" sz="1400" dirty="0"/>
          </a:p>
          <a:p>
            <a:pPr marL="0" indent="0" algn="ctr">
              <a:buNone/>
            </a:pPr>
            <a:r>
              <a:rPr lang="en-US" sz="1400" b="1" dirty="0">
                <a:solidFill>
                  <a:srgbClr val="FFFFFF"/>
                </a:solidFill>
                <a:latin typeface="Calibri" pitchFamily="34" charset="0"/>
                <a:ea typeface="Calibri" pitchFamily="34" charset="-122"/>
                <a:cs typeface="Calibri" pitchFamily="34" charset="-120"/>
              </a:rPr>
              <a:t>CrewAI Flow + GitHub</a:t>
            </a:r>
            <a:endParaRPr lang="en-US" sz="1400" dirty="0"/>
          </a:p>
        </p:txBody>
      </p:sp>
      <p:sp>
        <p:nvSpPr>
          <p:cNvPr id="26" name="arrow"/>
          <p:cNvSpPr/>
          <p:nvPr/>
        </p:nvSpPr>
        <p:spPr>
          <a:xfrm>
            <a:off x="10040112" y="3557016"/>
            <a:ext cx="0" cy="210312"/>
          </a:xfrm>
          <a:prstGeom prst="line">
            <a:avLst/>
          </a:prstGeom>
          <a:noFill/>
          <a:ln w="19050">
            <a:solidFill>
              <a:srgbClr val="566770"/>
            </a:solidFill>
            <a:prstDash val="solid"/>
            <a:tailEnd type="triangle"/>
          </a:ln>
        </p:spPr>
      </p:sp>
      <p:sp>
        <p:nvSpPr>
          <p:cNvPr id="27" name="arrow"/>
          <p:cNvSpPr/>
          <p:nvPr/>
        </p:nvSpPr>
        <p:spPr>
          <a:xfrm>
            <a:off x="10405872" y="2304288"/>
            <a:ext cx="0" cy="475488"/>
          </a:xfrm>
          <a:prstGeom prst="line">
            <a:avLst/>
          </a:prstGeom>
          <a:noFill/>
          <a:ln w="19050">
            <a:solidFill>
              <a:srgbClr val="566770"/>
            </a:solidFill>
            <a:prstDash val="solid"/>
            <a:tailEnd type="triangle"/>
          </a:ln>
        </p:spPr>
      </p:sp>
      <p:sp>
        <p:nvSpPr>
          <p:cNvPr id="28" name="Text 25"/>
          <p:cNvSpPr txBox="1"/>
          <p:nvPr/>
        </p:nvSpPr>
        <p:spPr>
          <a:xfrm>
            <a:off x="7863840" y="2395728"/>
            <a:ext cx="2468880" cy="274320"/>
          </a:xfrm>
          <a:prstGeom prst="rect">
            <a:avLst/>
          </a:prstGeom>
          <a:noFill/>
          <a:ln/>
        </p:spPr>
        <p:txBody>
          <a:bodyPr wrap="square" lIns="0" tIns="0" rIns="0" bIns="0" rtlCol="0" anchor="t"/>
          <a:lstStyle/>
          <a:p>
            <a:pPr marL="0" indent="0" algn="r">
              <a:buNone/>
            </a:pPr>
            <a:r>
              <a:rPr lang="en-US" sz="1100" i="1" dirty="0">
                <a:solidFill>
                  <a:srgbClr val="566770"/>
                </a:solidFill>
                <a:latin typeface="Calibri" pitchFamily="34" charset="0"/>
                <a:ea typeface="Calibri" pitchFamily="34" charset="-122"/>
                <a:cs typeface="Calibri" pitchFamily="34" charset="-120"/>
              </a:rPr>
              <a:t>A2A tasks to all three</a:t>
            </a:r>
            <a:endParaRPr lang="en-US" sz="1100" dirty="0"/>
          </a:p>
        </p:txBody>
      </p:sp>
      <p:sp>
        <p:nvSpPr>
          <p:cNvPr id="29" name="blackboard"/>
          <p:cNvSpPr/>
          <p:nvPr/>
        </p:nvSpPr>
        <p:spPr>
          <a:xfrm>
            <a:off x="548640" y="3767328"/>
            <a:ext cx="11091672" cy="411480"/>
          </a:xfrm>
          <a:prstGeom prst="rect">
            <a:avLst/>
          </a:prstGeom>
          <a:solidFill>
            <a:srgbClr val="FBEFD9"/>
          </a:solidFill>
          <a:ln w="15875">
            <a:solidFill>
              <a:srgbClr val="E8A33D"/>
            </a:solidFill>
            <a:prstDash val="solid"/>
          </a:ln>
        </p:spPr>
      </p:sp>
      <p:sp>
        <p:nvSpPr>
          <p:cNvPr id="30" name="Text 27"/>
          <p:cNvSpPr txBox="1"/>
          <p:nvPr/>
        </p:nvSpPr>
        <p:spPr>
          <a:xfrm>
            <a:off x="548640" y="3767328"/>
            <a:ext cx="11091672" cy="411480"/>
          </a:xfrm>
          <a:prstGeom prst="rect">
            <a:avLst/>
          </a:prstGeom>
          <a:noFill/>
          <a:ln/>
        </p:spPr>
        <p:txBody>
          <a:bodyPr wrap="square" lIns="50800" tIns="50800" rIns="50800" bIns="50800" rtlCol="0" anchor="ctr"/>
          <a:lstStyle/>
          <a:p>
            <a:pPr marL="0" indent="0" algn="ctr">
              <a:buNone/>
            </a:pPr>
            <a:r>
              <a:rPr lang="en-US" sz="1400" b="1" dirty="0">
                <a:solidFill>
                  <a:srgbClr val="12232B"/>
                </a:solidFill>
                <a:latin typeface="Calibri" pitchFamily="34" charset="0"/>
                <a:ea typeface="Calibri" pitchFamily="34" charset="-122"/>
                <a:cs typeface="Calibri" pitchFamily="34" charset="-120"/>
              </a:rPr>
              <a:t>Blackboard: append-only, versioned shared state (context, hints, evidence, synthesis, policy, approval, validation)</a:t>
            </a:r>
            <a:endParaRPr lang="en-US" sz="1400" dirty="0"/>
          </a:p>
        </p:txBody>
      </p:sp>
      <p:sp>
        <p:nvSpPr>
          <p:cNvPr id="31" name="Text 28"/>
          <p:cNvSpPr txBox="1"/>
          <p:nvPr/>
        </p:nvSpPr>
        <p:spPr>
          <a:xfrm>
            <a:off x="548640" y="4315968"/>
            <a:ext cx="11091672" cy="256032"/>
          </a:xfrm>
          <a:prstGeom prst="rect">
            <a:avLst/>
          </a:prstGeom>
          <a:noFill/>
          <a:ln/>
        </p:spPr>
        <p:txBody>
          <a:bodyPr wrap="square" lIns="0" tIns="0" rIns="0" bIns="0" rtlCol="0" anchor="t"/>
          <a:lstStyle/>
          <a:p>
            <a:pPr marL="0" indent="0">
              <a:buNone/>
            </a:pPr>
            <a:r>
              <a:rPr lang="en-US" sz="1200" b="1" kern="0" spc="200" dirty="0">
                <a:solidFill>
                  <a:srgbClr val="1F8A8A"/>
                </a:solidFill>
                <a:latin typeface="Calibri" pitchFamily="34" charset="0"/>
                <a:ea typeface="Calibri" pitchFamily="34" charset="-122"/>
                <a:cs typeface="Calibri" pitchFamily="34" charset="-120"/>
              </a:rPr>
              <a:t>3  DECIDE, ACT, VALIDATE</a:t>
            </a:r>
            <a:endParaRPr lang="en-US" sz="1200" dirty="0"/>
          </a:p>
        </p:txBody>
      </p:sp>
      <p:sp>
        <p:nvSpPr>
          <p:cNvPr id="32" name="node"/>
          <p:cNvSpPr/>
          <p:nvPr/>
        </p:nvSpPr>
        <p:spPr>
          <a:xfrm>
            <a:off x="548640" y="4608576"/>
            <a:ext cx="1691640" cy="685800"/>
          </a:xfrm>
          <a:prstGeom prst="rect">
            <a:avLst/>
          </a:prstGeom>
          <a:solidFill>
            <a:srgbClr val="12232B"/>
          </a:solidFill>
          <a:ln w="9525">
            <a:solidFill>
              <a:srgbClr val="12232B"/>
            </a:solidFill>
            <a:prstDash val="solid"/>
          </a:ln>
        </p:spPr>
      </p:sp>
      <p:sp>
        <p:nvSpPr>
          <p:cNvPr id="33" name="Text 30"/>
          <p:cNvSpPr txBox="1"/>
          <p:nvPr/>
        </p:nvSpPr>
        <p:spPr>
          <a:xfrm>
            <a:off x="548640" y="4608576"/>
            <a:ext cx="1691640" cy="685800"/>
          </a:xfrm>
          <a:prstGeom prst="rect">
            <a:avLst/>
          </a:prstGeom>
          <a:noFill/>
          <a:ln/>
        </p:spPr>
        <p:txBody>
          <a:bodyPr wrap="square" lIns="76200" tIns="76200" rIns="76200" bIns="7620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Synthesis report</a:t>
            </a:r>
            <a:endParaRPr lang="en-US" sz="1300" dirty="0"/>
          </a:p>
        </p:txBody>
      </p:sp>
      <p:sp>
        <p:nvSpPr>
          <p:cNvPr id="34" name="arrow"/>
          <p:cNvSpPr/>
          <p:nvPr/>
        </p:nvSpPr>
        <p:spPr>
          <a:xfrm>
            <a:off x="2240280" y="4951476"/>
            <a:ext cx="188366" cy="0"/>
          </a:xfrm>
          <a:prstGeom prst="line">
            <a:avLst/>
          </a:prstGeom>
          <a:noFill/>
          <a:ln w="19050">
            <a:solidFill>
              <a:srgbClr val="566770"/>
            </a:solidFill>
            <a:prstDash val="solid"/>
            <a:tailEnd type="triangle"/>
          </a:ln>
        </p:spPr>
      </p:sp>
      <p:sp>
        <p:nvSpPr>
          <p:cNvPr id="35" name="node"/>
          <p:cNvSpPr/>
          <p:nvPr/>
        </p:nvSpPr>
        <p:spPr>
          <a:xfrm>
            <a:off x="2428646" y="4608576"/>
            <a:ext cx="1691640" cy="685800"/>
          </a:xfrm>
          <a:prstGeom prst="rect">
            <a:avLst/>
          </a:prstGeom>
          <a:solidFill>
            <a:srgbClr val="12232B"/>
          </a:solidFill>
          <a:ln w="9525">
            <a:solidFill>
              <a:srgbClr val="12232B"/>
            </a:solidFill>
            <a:prstDash val="solid"/>
          </a:ln>
        </p:spPr>
      </p:sp>
      <p:sp>
        <p:nvSpPr>
          <p:cNvPr id="36" name="Text 33"/>
          <p:cNvSpPr txBox="1"/>
          <p:nvPr/>
        </p:nvSpPr>
        <p:spPr>
          <a:xfrm>
            <a:off x="2428646" y="4608576"/>
            <a:ext cx="1691640" cy="685800"/>
          </a:xfrm>
          <a:prstGeom prst="rect">
            <a:avLst/>
          </a:prstGeom>
          <a:noFill/>
          <a:ln/>
        </p:spPr>
        <p:txBody>
          <a:bodyPr wrap="square" lIns="76200" tIns="76200" rIns="76200" bIns="7620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Fix proposal</a:t>
            </a:r>
            <a:endParaRPr lang="en-US" sz="1300" dirty="0"/>
          </a:p>
        </p:txBody>
      </p:sp>
      <p:sp>
        <p:nvSpPr>
          <p:cNvPr id="37" name="arrow"/>
          <p:cNvSpPr/>
          <p:nvPr/>
        </p:nvSpPr>
        <p:spPr>
          <a:xfrm>
            <a:off x="4120286" y="4951476"/>
            <a:ext cx="188366" cy="0"/>
          </a:xfrm>
          <a:prstGeom prst="line">
            <a:avLst/>
          </a:prstGeom>
          <a:noFill/>
          <a:ln w="19050">
            <a:solidFill>
              <a:srgbClr val="566770"/>
            </a:solidFill>
            <a:prstDash val="solid"/>
            <a:tailEnd type="triangle"/>
          </a:ln>
        </p:spPr>
      </p:sp>
      <p:sp>
        <p:nvSpPr>
          <p:cNvPr id="38" name="node"/>
          <p:cNvSpPr/>
          <p:nvPr/>
        </p:nvSpPr>
        <p:spPr>
          <a:xfrm>
            <a:off x="4308653" y="4608576"/>
            <a:ext cx="1691640" cy="685800"/>
          </a:xfrm>
          <a:prstGeom prst="rect">
            <a:avLst/>
          </a:prstGeom>
          <a:solidFill>
            <a:srgbClr val="6B4C86"/>
          </a:solidFill>
          <a:ln w="9525">
            <a:solidFill>
              <a:srgbClr val="6B4C86"/>
            </a:solidFill>
            <a:prstDash val="solid"/>
          </a:ln>
        </p:spPr>
      </p:sp>
      <p:sp>
        <p:nvSpPr>
          <p:cNvPr id="39" name="Text 36"/>
          <p:cNvSpPr txBox="1"/>
          <p:nvPr/>
        </p:nvSpPr>
        <p:spPr>
          <a:xfrm>
            <a:off x="4308653" y="4608576"/>
            <a:ext cx="1691640" cy="685800"/>
          </a:xfrm>
          <a:prstGeom prst="rect">
            <a:avLst/>
          </a:prstGeom>
          <a:noFill/>
          <a:ln/>
        </p:spPr>
        <p:txBody>
          <a:bodyPr wrap="square" lIns="76200" tIns="76200" rIns="76200" bIns="7620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OPA policy gate</a:t>
            </a:r>
            <a:endParaRPr lang="en-US" sz="1300" dirty="0"/>
          </a:p>
        </p:txBody>
      </p:sp>
      <p:sp>
        <p:nvSpPr>
          <p:cNvPr id="40" name="arrow"/>
          <p:cNvSpPr/>
          <p:nvPr/>
        </p:nvSpPr>
        <p:spPr>
          <a:xfrm>
            <a:off x="6000293" y="4951476"/>
            <a:ext cx="188366" cy="0"/>
          </a:xfrm>
          <a:prstGeom prst="line">
            <a:avLst/>
          </a:prstGeom>
          <a:noFill/>
          <a:ln w="19050">
            <a:solidFill>
              <a:srgbClr val="566770"/>
            </a:solidFill>
            <a:prstDash val="solid"/>
            <a:tailEnd type="triangle"/>
          </a:ln>
        </p:spPr>
      </p:sp>
      <p:sp>
        <p:nvSpPr>
          <p:cNvPr id="41" name="node"/>
          <p:cNvSpPr/>
          <p:nvPr/>
        </p:nvSpPr>
        <p:spPr>
          <a:xfrm>
            <a:off x="6188659" y="4608576"/>
            <a:ext cx="1691640" cy="685800"/>
          </a:xfrm>
          <a:prstGeom prst="rect">
            <a:avLst/>
          </a:prstGeom>
          <a:solidFill>
            <a:srgbClr val="E8A33D"/>
          </a:solidFill>
          <a:ln w="9525">
            <a:solidFill>
              <a:srgbClr val="E8A33D"/>
            </a:solidFill>
            <a:prstDash val="solid"/>
          </a:ln>
        </p:spPr>
      </p:sp>
      <p:sp>
        <p:nvSpPr>
          <p:cNvPr id="42" name="Text 39"/>
          <p:cNvSpPr txBox="1"/>
          <p:nvPr/>
        </p:nvSpPr>
        <p:spPr>
          <a:xfrm>
            <a:off x="6188659" y="4608576"/>
            <a:ext cx="1691640" cy="685800"/>
          </a:xfrm>
          <a:prstGeom prst="rect">
            <a:avLst/>
          </a:prstGeom>
          <a:noFill/>
          <a:ln/>
        </p:spPr>
        <p:txBody>
          <a:bodyPr wrap="square" lIns="76200" tIns="76200" rIns="76200" bIns="76200" rtlCol="0" anchor="ctr"/>
          <a:lstStyle/>
          <a:p>
            <a:pPr marL="0" indent="0" algn="ctr">
              <a:buNone/>
            </a:pPr>
            <a:r>
              <a:rPr lang="en-US" sz="1300" b="1" dirty="0">
                <a:solidFill>
                  <a:srgbClr val="12232B"/>
                </a:solidFill>
                <a:latin typeface="Calibri" pitchFamily="34" charset="0"/>
                <a:ea typeface="Calibri" pitchFamily="34" charset="-122"/>
                <a:cs typeface="Calibri" pitchFamily="34" charset="-120"/>
              </a:rPr>
              <a:t>Human approval</a:t>
            </a:r>
            <a:endParaRPr lang="en-US" sz="1300" dirty="0"/>
          </a:p>
        </p:txBody>
      </p:sp>
      <p:sp>
        <p:nvSpPr>
          <p:cNvPr id="43" name="arrow"/>
          <p:cNvSpPr/>
          <p:nvPr/>
        </p:nvSpPr>
        <p:spPr>
          <a:xfrm>
            <a:off x="7880299" y="4951476"/>
            <a:ext cx="188366" cy="0"/>
          </a:xfrm>
          <a:prstGeom prst="line">
            <a:avLst/>
          </a:prstGeom>
          <a:noFill/>
          <a:ln w="19050">
            <a:solidFill>
              <a:srgbClr val="566770"/>
            </a:solidFill>
            <a:prstDash val="solid"/>
            <a:tailEnd type="triangle"/>
          </a:ln>
        </p:spPr>
      </p:sp>
      <p:sp>
        <p:nvSpPr>
          <p:cNvPr id="44" name="node"/>
          <p:cNvSpPr/>
          <p:nvPr/>
        </p:nvSpPr>
        <p:spPr>
          <a:xfrm>
            <a:off x="8068666" y="4608576"/>
            <a:ext cx="1691640" cy="685800"/>
          </a:xfrm>
          <a:prstGeom prst="rect">
            <a:avLst/>
          </a:prstGeom>
          <a:solidFill>
            <a:srgbClr val="12232B"/>
          </a:solidFill>
          <a:ln w="9525">
            <a:solidFill>
              <a:srgbClr val="12232B"/>
            </a:solidFill>
            <a:prstDash val="solid"/>
          </a:ln>
        </p:spPr>
      </p:sp>
      <p:sp>
        <p:nvSpPr>
          <p:cNvPr id="45" name="Text 42"/>
          <p:cNvSpPr txBox="1"/>
          <p:nvPr/>
        </p:nvSpPr>
        <p:spPr>
          <a:xfrm>
            <a:off x="8068666" y="4608576"/>
            <a:ext cx="1691640" cy="685800"/>
          </a:xfrm>
          <a:prstGeom prst="rect">
            <a:avLst/>
          </a:prstGeom>
          <a:noFill/>
          <a:ln/>
        </p:spPr>
        <p:txBody>
          <a:bodyPr wrap="square" lIns="76200" tIns="76200" rIns="76200" bIns="7620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Draft PR</a:t>
            </a:r>
            <a:endParaRPr lang="en-US" sz="1300" dirty="0"/>
          </a:p>
        </p:txBody>
      </p:sp>
      <p:sp>
        <p:nvSpPr>
          <p:cNvPr id="46" name="arrow"/>
          <p:cNvSpPr/>
          <p:nvPr/>
        </p:nvSpPr>
        <p:spPr>
          <a:xfrm>
            <a:off x="9760306" y="4951476"/>
            <a:ext cx="188366" cy="0"/>
          </a:xfrm>
          <a:prstGeom prst="line">
            <a:avLst/>
          </a:prstGeom>
          <a:noFill/>
          <a:ln w="19050">
            <a:solidFill>
              <a:srgbClr val="566770"/>
            </a:solidFill>
            <a:prstDash val="solid"/>
            <a:tailEnd type="triangle"/>
          </a:ln>
        </p:spPr>
      </p:sp>
      <p:sp>
        <p:nvSpPr>
          <p:cNvPr id="47" name="node"/>
          <p:cNvSpPr/>
          <p:nvPr/>
        </p:nvSpPr>
        <p:spPr>
          <a:xfrm>
            <a:off x="9948672" y="4608576"/>
            <a:ext cx="1691640" cy="685800"/>
          </a:xfrm>
          <a:prstGeom prst="rect">
            <a:avLst/>
          </a:prstGeom>
          <a:solidFill>
            <a:srgbClr val="12232B"/>
          </a:solidFill>
          <a:ln w="9525">
            <a:solidFill>
              <a:srgbClr val="12232B"/>
            </a:solidFill>
            <a:prstDash val="solid"/>
          </a:ln>
        </p:spPr>
      </p:sp>
      <p:sp>
        <p:nvSpPr>
          <p:cNvPr id="48" name="Text 45"/>
          <p:cNvSpPr txBox="1"/>
          <p:nvPr/>
        </p:nvSpPr>
        <p:spPr>
          <a:xfrm>
            <a:off x="9948672" y="4608576"/>
            <a:ext cx="1691640" cy="685800"/>
          </a:xfrm>
          <a:prstGeom prst="rect">
            <a:avLst/>
          </a:prstGeom>
          <a:noFill/>
          <a:ln/>
        </p:spPr>
        <p:txBody>
          <a:bodyPr wrap="square" lIns="76200" tIns="76200" rIns="76200" bIns="7620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Jenkins re-validation</a:t>
            </a:r>
            <a:endParaRPr lang="en-US" sz="1300" dirty="0"/>
          </a:p>
        </p:txBody>
      </p:sp>
      <p:sp>
        <p:nvSpPr>
          <p:cNvPr id="49" name="Text 46"/>
          <p:cNvSpPr txBox="1"/>
          <p:nvPr/>
        </p:nvSpPr>
        <p:spPr>
          <a:xfrm>
            <a:off x="548640" y="5532120"/>
            <a:ext cx="11091672" cy="548640"/>
          </a:xfrm>
          <a:prstGeom prst="rect">
            <a:avLst/>
          </a:prstGeom>
          <a:noFill/>
          <a:ln/>
        </p:spPr>
        <p:txBody>
          <a:bodyPr wrap="square" lIns="0" tIns="0" rIns="0" bIns="0" rtlCol="0" anchor="t"/>
          <a:lstStyle/>
          <a:p>
            <a:pPr marL="0" indent="0">
              <a:buNone/>
            </a:pPr>
            <a:r>
              <a:rPr lang="en-US" sz="1500" i="1" dirty="0">
                <a:solidFill>
                  <a:srgbClr val="1F8A8A"/>
                </a:solidFill>
                <a:latin typeface="Calibri" pitchFamily="34" charset="0"/>
                <a:ea typeface="Calibri" pitchFamily="34" charset="-122"/>
                <a:cs typeface="Calibri" pitchFamily="34" charset="-120"/>
              </a:rPr>
              <a:t>If validation fails, the incident is re-investigated with the failure as new evidence, rather than declared fixed.</a:t>
            </a:r>
            <a:endParaRPr lang="en-US" sz="1500" dirty="0"/>
          </a:p>
        </p:txBody>
      </p:sp>
      <p:sp>
        <p:nvSpPr>
          <p:cNvPr id="4"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66770"/>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47472"/>
            <a:ext cx="11091672" cy="274320"/>
          </a:xfrm>
          <a:prstGeom prst="rect">
            <a:avLst/>
          </a:prstGeom>
          <a:noFill/>
          <a:ln/>
        </p:spPr>
        <p:txBody>
          <a:bodyPr wrap="square" lIns="0" tIns="0" rIns="0" bIns="0" rtlCol="0" anchor="ctr"/>
          <a:lstStyle/>
          <a:p>
            <a:pPr marL="0" indent="0">
              <a:buNone/>
            </a:pPr>
            <a:r>
              <a:rPr lang="en-US" sz="1200" b="1" kern="0" spc="300" dirty="0">
                <a:solidFill>
                  <a:srgbClr val="1F8A8A"/>
                </a:solidFill>
                <a:latin typeface="Calibri" pitchFamily="34" charset="0"/>
                <a:ea typeface="Calibri" pitchFamily="34" charset="-122"/>
                <a:cs typeface="Calibri" pitchFamily="34" charset="-120"/>
              </a:rPr>
              <a:t>REASONING AND PLANNING</a:t>
            </a:r>
            <a:endParaRPr lang="en-US" sz="1200" dirty="0"/>
          </a:p>
        </p:txBody>
      </p:sp>
      <p:sp>
        <p:nvSpPr>
          <p:cNvPr id="3" name="Text 1"/>
          <p:cNvSpPr txBox="1"/>
          <p:nvPr/>
        </p:nvSpPr>
        <p:spPr>
          <a:xfrm>
            <a:off x="548640" y="621792"/>
            <a:ext cx="11091672" cy="731520"/>
          </a:xfrm>
          <a:prstGeom prst="rect">
            <a:avLst/>
          </a:prstGeom>
          <a:noFill/>
          <a:ln/>
        </p:spPr>
        <p:txBody>
          <a:bodyPr wrap="square" lIns="0" tIns="0" rIns="0" bIns="0" rtlCol="0" anchor="t"/>
          <a:lstStyle/>
          <a:p>
            <a:pPr marL="0" indent="0">
              <a:buNone/>
            </a:pPr>
            <a:r>
              <a:rPr lang="en-US" sz="3400" b="1" dirty="0">
                <a:solidFill>
                  <a:srgbClr val="12232B"/>
                </a:solidFill>
                <a:latin typeface="Cambria" pitchFamily="34" charset="0"/>
                <a:ea typeface="Cambria" pitchFamily="34" charset="-122"/>
                <a:cs typeface="Cambria" pitchFamily="34" charset="-120"/>
              </a:rPr>
              <a:t>How each agent reasons and plans</a:t>
            </a:r>
            <a:endParaRPr lang="en-US" sz="3400" dirty="0"/>
          </a:p>
        </p:txBody>
      </p:sp>
      <p:sp>
        <p:nvSpPr>
          <p:cNvPr id="5" name="card"/>
          <p:cNvSpPr/>
          <p:nvPr/>
        </p:nvSpPr>
        <p:spPr>
          <a:xfrm>
            <a:off x="548640" y="1645920"/>
            <a:ext cx="5440680" cy="2103120"/>
          </a:xfrm>
          <a:prstGeom prst="rect">
            <a:avLst/>
          </a:prstGeom>
          <a:solidFill>
            <a:srgbClr val="FFFFFF"/>
          </a:solidFill>
          <a:ln w="9525">
            <a:solidFill>
              <a:srgbClr val="C9D3D6"/>
            </a:solidFill>
            <a:prstDash val="solid"/>
          </a:ln>
          <a:effectLst>
            <a:outerShdw blurRad="76200" dist="25400" dir="5400000" algn="bl" rotWithShape="0">
              <a:srgbClr val="000000">
                <a:alpha val="10000"/>
              </a:srgbClr>
            </a:outerShdw>
          </a:effectLst>
        </p:spPr>
      </p:sp>
      <p:sp>
        <p:nvSpPr>
          <p:cNvPr id="6" name="key"/>
          <p:cNvSpPr/>
          <p:nvPr/>
        </p:nvSpPr>
        <p:spPr>
          <a:xfrm>
            <a:off x="731520" y="1847088"/>
            <a:ext cx="201168" cy="201168"/>
          </a:xfrm>
          <a:prstGeom prst="rect">
            <a:avLst/>
          </a:prstGeom>
          <a:solidFill>
            <a:srgbClr val="1F8A8A"/>
          </a:solidFill>
          <a:ln w="12700">
            <a:solidFill>
              <a:srgbClr val="1F8A8A"/>
            </a:solidFill>
            <a:prstDash val="solid"/>
          </a:ln>
        </p:spPr>
      </p:sp>
      <p:sp>
        <p:nvSpPr>
          <p:cNvPr id="7" name="Text 4"/>
          <p:cNvSpPr txBox="1"/>
          <p:nvPr/>
        </p:nvSpPr>
        <p:spPr>
          <a:xfrm>
            <a:off x="1051560" y="1783080"/>
            <a:ext cx="4754880" cy="365760"/>
          </a:xfrm>
          <a:prstGeom prst="rect">
            <a:avLst/>
          </a:prstGeom>
          <a:noFill/>
          <a:ln/>
        </p:spPr>
        <p:txBody>
          <a:bodyPr wrap="square" lIns="0" tIns="0" rIns="0" bIns="0" rtlCol="0" anchor="t"/>
          <a:lstStyle/>
          <a:p>
            <a:pPr marL="0" indent="0">
              <a:buNone/>
            </a:pPr>
            <a:r>
              <a:rPr lang="en-US" sz="1800" b="1" dirty="0">
                <a:solidFill>
                  <a:srgbClr val="12232B"/>
                </a:solidFill>
                <a:latin typeface="Cambria" pitchFamily="34" charset="0"/>
                <a:ea typeface="Cambria" pitchFamily="34" charset="-122"/>
                <a:cs typeface="Cambria" pitchFamily="34" charset="-120"/>
              </a:rPr>
              <a:t>Jenkins agent: ReAct with a budget</a:t>
            </a:r>
            <a:endParaRPr lang="en-US" sz="1800" dirty="0"/>
          </a:p>
        </p:txBody>
      </p:sp>
      <p:sp>
        <p:nvSpPr>
          <p:cNvPr id="8" name="Text 5"/>
          <p:cNvSpPr txBox="1"/>
          <p:nvPr/>
        </p:nvSpPr>
        <p:spPr>
          <a:xfrm>
            <a:off x="822960" y="2286000"/>
            <a:ext cx="4937760" cy="1417320"/>
          </a:xfrm>
          <a:prstGeom prst="rect">
            <a:avLst/>
          </a:prstGeom>
          <a:noFill/>
          <a:ln/>
        </p:spPr>
        <p:txBody>
          <a:bodyPr wrap="square" lIns="0" tIns="0" rIns="0" bIns="0" rtlCol="0" anchor="t"/>
          <a:lstStyle/>
          <a:p>
            <a:pPr marL="203200" indent="-203200">
              <a:spcAft>
                <a:spcPts val="300"/>
              </a:spcAft>
              <a:buSzPct val="100000"/>
              <a:buChar char="•"/>
            </a:pPr>
            <a:r>
              <a:rPr lang="en-US" sz="1400" dirty="0">
                <a:solidFill>
                  <a:srgbClr val="12232B"/>
                </a:solidFill>
                <a:latin typeface="Calibri" pitchFamily="34" charset="0"/>
                <a:ea typeface="Calibri" pitchFamily="34" charset="-122"/>
                <a:cs typeface="Calibri" pitchFamily="34" charset="-120"/>
              </a:rPr>
              <a:t>Thinks, calls a read-only tool, observes, repeats</a:t>
            </a:r>
            <a:endParaRPr lang="en-US" sz="1400" dirty="0"/>
          </a:p>
          <a:p>
            <a:pPr marL="203200" indent="-203200">
              <a:spcAft>
                <a:spcPts val="300"/>
              </a:spcAft>
              <a:buSzPct val="100000"/>
              <a:buChar char="•"/>
            </a:pPr>
            <a:r>
              <a:rPr lang="en-US" sz="1400" dirty="0">
                <a:solidFill>
                  <a:srgbClr val="12232B"/>
                </a:solidFill>
                <a:latin typeface="Calibri" pitchFamily="34" charset="0"/>
                <a:ea typeface="Calibri" pitchFamily="34" charset="-122"/>
                <a:cs typeface="Calibri" pitchFamily="34" charset="-120"/>
              </a:rPr>
              <a:t>At most 8 steps and 3 calls per tool</a:t>
            </a:r>
            <a:endParaRPr lang="en-US" sz="1400" dirty="0"/>
          </a:p>
          <a:p>
            <a:pPr marL="203200" indent="-203200">
              <a:spcAft>
                <a:spcPts val="300"/>
              </a:spcAft>
              <a:buSzPct val="100000"/>
              <a:buChar char="•"/>
            </a:pPr>
            <a:r>
              <a:rPr lang="en-US" sz="1400" dirty="0">
                <a:solidFill>
                  <a:srgbClr val="12232B"/>
                </a:solidFill>
                <a:latin typeface="Calibri" pitchFamily="34" charset="0"/>
                <a:ea typeface="Calibri" pitchFamily="34" charset="-122"/>
                <a:cs typeface="Calibri" pitchFamily="34" charset="-120"/>
              </a:rPr>
              <a:t>Answers in a strict schema and must cite evidence IDs</a:t>
            </a:r>
            <a:endParaRPr lang="en-US" sz="1400" dirty="0"/>
          </a:p>
          <a:p>
            <a:pPr marL="203200" indent="-203200">
              <a:spcAft>
                <a:spcPts val="300"/>
              </a:spcAft>
              <a:buSzPct val="100000"/>
              <a:buChar char="•"/>
            </a:pPr>
            <a:r>
              <a:rPr lang="en-US" sz="1400" dirty="0">
                <a:solidFill>
                  <a:srgbClr val="12232B"/>
                </a:solidFill>
                <a:latin typeface="Calibri" pitchFamily="34" charset="0"/>
                <a:ea typeface="Calibri" pitchFamily="34" charset="-122"/>
                <a:cs typeface="Calibri" pitchFamily="34" charset="-120"/>
              </a:rPr>
              <a:t>Five prompt variants: ReAct, plan-and-execute, three personas</a:t>
            </a:r>
            <a:endParaRPr lang="en-US" sz="1400" dirty="0"/>
          </a:p>
        </p:txBody>
      </p:sp>
      <p:sp>
        <p:nvSpPr>
          <p:cNvPr id="9" name="card"/>
          <p:cNvSpPr/>
          <p:nvPr/>
        </p:nvSpPr>
        <p:spPr>
          <a:xfrm>
            <a:off x="6172200" y="1645920"/>
            <a:ext cx="5440680" cy="2103120"/>
          </a:xfrm>
          <a:prstGeom prst="rect">
            <a:avLst/>
          </a:prstGeom>
          <a:solidFill>
            <a:srgbClr val="FFFFFF"/>
          </a:solidFill>
          <a:ln w="9525">
            <a:solidFill>
              <a:srgbClr val="C9D3D6"/>
            </a:solidFill>
            <a:prstDash val="solid"/>
          </a:ln>
          <a:effectLst>
            <a:outerShdw blurRad="76200" dist="25400" dir="5400000" algn="bl" rotWithShape="0">
              <a:srgbClr val="000000">
                <a:alpha val="10000"/>
              </a:srgbClr>
            </a:outerShdw>
          </a:effectLst>
        </p:spPr>
      </p:sp>
      <p:sp>
        <p:nvSpPr>
          <p:cNvPr id="10" name="key"/>
          <p:cNvSpPr/>
          <p:nvPr/>
        </p:nvSpPr>
        <p:spPr>
          <a:xfrm>
            <a:off x="6355080" y="1847088"/>
            <a:ext cx="201168" cy="201168"/>
          </a:xfrm>
          <a:prstGeom prst="rect">
            <a:avLst/>
          </a:prstGeom>
          <a:solidFill>
            <a:srgbClr val="E8A33D"/>
          </a:solidFill>
          <a:ln w="12700">
            <a:solidFill>
              <a:srgbClr val="E8A33D"/>
            </a:solidFill>
            <a:prstDash val="solid"/>
          </a:ln>
        </p:spPr>
      </p:sp>
      <p:sp>
        <p:nvSpPr>
          <p:cNvPr id="11" name="Text 8"/>
          <p:cNvSpPr txBox="1"/>
          <p:nvPr/>
        </p:nvSpPr>
        <p:spPr>
          <a:xfrm>
            <a:off x="6675120" y="1783080"/>
            <a:ext cx="4754880" cy="365760"/>
          </a:xfrm>
          <a:prstGeom prst="rect">
            <a:avLst/>
          </a:prstGeom>
          <a:noFill/>
          <a:ln/>
        </p:spPr>
        <p:txBody>
          <a:bodyPr wrap="square" lIns="0" tIns="0" rIns="0" bIns="0" rtlCol="0" anchor="t"/>
          <a:lstStyle/>
          <a:p>
            <a:pPr marL="0" indent="0">
              <a:buNone/>
            </a:pPr>
            <a:r>
              <a:rPr lang="en-US" sz="1800" b="1" dirty="0">
                <a:solidFill>
                  <a:srgbClr val="12232B"/>
                </a:solidFill>
                <a:latin typeface="Cambria" pitchFamily="34" charset="0"/>
                <a:ea typeface="Cambria" pitchFamily="34" charset="-122"/>
                <a:cs typeface="Cambria" pitchFamily="34" charset="-120"/>
              </a:rPr>
              <a:t>Metrics agent: plan, measure, correlate</a:t>
            </a:r>
            <a:endParaRPr lang="en-US" sz="1800" dirty="0"/>
          </a:p>
        </p:txBody>
      </p:sp>
      <p:sp>
        <p:nvSpPr>
          <p:cNvPr id="12" name="Text 9"/>
          <p:cNvSpPr txBox="1"/>
          <p:nvPr/>
        </p:nvSpPr>
        <p:spPr>
          <a:xfrm>
            <a:off x="6446520" y="2286000"/>
            <a:ext cx="4937760" cy="1417320"/>
          </a:xfrm>
          <a:prstGeom prst="rect">
            <a:avLst/>
          </a:prstGeom>
          <a:noFill/>
          <a:ln/>
        </p:spPr>
        <p:txBody>
          <a:bodyPr wrap="square" lIns="0" tIns="0" rIns="0" bIns="0" rtlCol="0" anchor="t"/>
          <a:lstStyle/>
          <a:p>
            <a:pPr marL="203200" indent="-203200">
              <a:spcAft>
                <a:spcPts val="300"/>
              </a:spcAft>
              <a:buSzPct val="100000"/>
              <a:buChar char="•"/>
            </a:pPr>
            <a:r>
              <a:rPr lang="en-US" sz="1400" dirty="0">
                <a:solidFill>
                  <a:srgbClr val="12232B"/>
                </a:solidFill>
                <a:latin typeface="Calibri" pitchFamily="34" charset="0"/>
                <a:ea typeface="Calibri" pitchFamily="34" charset="-122"/>
                <a:cs typeface="Calibri" pitchFamily="34" charset="-120"/>
              </a:rPr>
              <a:t>Plans queries from a catalog of four metrics</a:t>
            </a:r>
            <a:endParaRPr lang="en-US" sz="1400" dirty="0"/>
          </a:p>
          <a:p>
            <a:pPr marL="203200" indent="-203200">
              <a:spcAft>
                <a:spcPts val="300"/>
              </a:spcAft>
              <a:buSzPct val="100000"/>
              <a:buChar char="•"/>
            </a:pPr>
            <a:r>
              <a:rPr lang="en-US" sz="1400" dirty="0">
                <a:solidFill>
                  <a:srgbClr val="12232B"/>
                </a:solidFill>
                <a:latin typeface="Calibri" pitchFamily="34" charset="0"/>
                <a:ea typeface="Calibri" pitchFamily="34" charset="-122"/>
                <a:cs typeface="Calibri" pitchFamily="34" charset="-120"/>
              </a:rPr>
              <a:t>Baseline-relative anomaly detection with persistence</a:t>
            </a:r>
            <a:endParaRPr lang="en-US" sz="1400" dirty="0"/>
          </a:p>
          <a:p>
            <a:pPr marL="203200" indent="-203200">
              <a:spcAft>
                <a:spcPts val="300"/>
              </a:spcAft>
              <a:buSzPct val="100000"/>
              <a:buChar char="•"/>
            </a:pPr>
            <a:r>
              <a:rPr lang="en-US" sz="1400" dirty="0">
                <a:solidFill>
                  <a:srgbClr val="12232B"/>
                </a:solidFill>
                <a:latin typeface="Calibri" pitchFamily="34" charset="0"/>
                <a:ea typeface="Calibri" pitchFamily="34" charset="-122"/>
                <a:cs typeface="Calibri" pitchFamily="34" charset="-120"/>
              </a:rPr>
              <a:t>Correlates metrics: latency alongside CPU is a symptom</a:t>
            </a:r>
            <a:endParaRPr lang="en-US" sz="1400" dirty="0"/>
          </a:p>
          <a:p>
            <a:pPr marL="203200" indent="-203200">
              <a:spcAft>
                <a:spcPts val="300"/>
              </a:spcAft>
              <a:buSzPct val="100000"/>
              <a:buChar char="•"/>
            </a:pPr>
            <a:r>
              <a:rPr lang="en-US" sz="1400" dirty="0">
                <a:solidFill>
                  <a:srgbClr val="12232B"/>
                </a:solidFill>
                <a:latin typeface="Calibri" pitchFamily="34" charset="0"/>
                <a:ea typeface="Calibri" pitchFamily="34" charset="-122"/>
                <a:cs typeface="Calibri" pitchFamily="34" charset="-120"/>
              </a:rPr>
              <a:t>Confidence from evidence quality, never a fixed number</a:t>
            </a:r>
            <a:endParaRPr lang="en-US" sz="1400" dirty="0"/>
          </a:p>
        </p:txBody>
      </p:sp>
      <p:sp>
        <p:nvSpPr>
          <p:cNvPr id="13" name="card"/>
          <p:cNvSpPr/>
          <p:nvPr/>
        </p:nvSpPr>
        <p:spPr>
          <a:xfrm>
            <a:off x="548640" y="3931920"/>
            <a:ext cx="5440680" cy="2103120"/>
          </a:xfrm>
          <a:prstGeom prst="rect">
            <a:avLst/>
          </a:prstGeom>
          <a:solidFill>
            <a:srgbClr val="FFFFFF"/>
          </a:solidFill>
          <a:ln w="9525">
            <a:solidFill>
              <a:srgbClr val="C9D3D6"/>
            </a:solidFill>
            <a:prstDash val="solid"/>
          </a:ln>
          <a:effectLst>
            <a:outerShdw blurRad="76200" dist="25400" dir="5400000" algn="bl" rotWithShape="0">
              <a:srgbClr val="000000">
                <a:alpha val="10000"/>
              </a:srgbClr>
            </a:outerShdw>
          </a:effectLst>
        </p:spPr>
      </p:sp>
      <p:sp>
        <p:nvSpPr>
          <p:cNvPr id="14" name="key"/>
          <p:cNvSpPr/>
          <p:nvPr/>
        </p:nvSpPr>
        <p:spPr>
          <a:xfrm>
            <a:off x="731520" y="4133088"/>
            <a:ext cx="201168" cy="201168"/>
          </a:xfrm>
          <a:prstGeom prst="rect">
            <a:avLst/>
          </a:prstGeom>
          <a:solidFill>
            <a:srgbClr val="6B4C86"/>
          </a:solidFill>
          <a:ln w="12700">
            <a:solidFill>
              <a:srgbClr val="6B4C86"/>
            </a:solidFill>
            <a:prstDash val="solid"/>
          </a:ln>
        </p:spPr>
      </p:sp>
      <p:sp>
        <p:nvSpPr>
          <p:cNvPr id="15" name="Text 12"/>
          <p:cNvSpPr txBox="1"/>
          <p:nvPr/>
        </p:nvSpPr>
        <p:spPr>
          <a:xfrm>
            <a:off x="1051560" y="4069080"/>
            <a:ext cx="4754880" cy="365760"/>
          </a:xfrm>
          <a:prstGeom prst="rect">
            <a:avLst/>
          </a:prstGeom>
          <a:noFill/>
          <a:ln/>
        </p:spPr>
        <p:txBody>
          <a:bodyPr wrap="square" lIns="0" tIns="0" rIns="0" bIns="0" rtlCol="0" anchor="t"/>
          <a:lstStyle/>
          <a:p>
            <a:pPr marL="0" indent="0">
              <a:buNone/>
            </a:pPr>
            <a:r>
              <a:rPr lang="en-US" sz="1800" b="1" dirty="0">
                <a:solidFill>
                  <a:srgbClr val="12232B"/>
                </a:solidFill>
                <a:latin typeface="Cambria" pitchFamily="34" charset="0"/>
                <a:ea typeface="Cambria" pitchFamily="34" charset="-122"/>
                <a:cs typeface="Cambria" pitchFamily="34" charset="-120"/>
              </a:rPr>
              <a:t>Code agent: rank, abstain, repair</a:t>
            </a:r>
            <a:endParaRPr lang="en-US" sz="1800" dirty="0"/>
          </a:p>
        </p:txBody>
      </p:sp>
      <p:sp>
        <p:nvSpPr>
          <p:cNvPr id="16" name="Text 13"/>
          <p:cNvSpPr txBox="1"/>
          <p:nvPr/>
        </p:nvSpPr>
        <p:spPr>
          <a:xfrm>
            <a:off x="822960" y="4572000"/>
            <a:ext cx="4937760" cy="1417320"/>
          </a:xfrm>
          <a:prstGeom prst="rect">
            <a:avLst/>
          </a:prstGeom>
          <a:noFill/>
          <a:ln/>
        </p:spPr>
        <p:txBody>
          <a:bodyPr wrap="square" lIns="0" tIns="0" rIns="0" bIns="0" rtlCol="0" anchor="t"/>
          <a:lstStyle/>
          <a:p>
            <a:pPr marL="203200" indent="-203200">
              <a:spcAft>
                <a:spcPts val="300"/>
              </a:spcAft>
              <a:buSzPct val="100000"/>
              <a:buChar char="•"/>
            </a:pPr>
            <a:r>
              <a:rPr lang="en-US" sz="1400" dirty="0">
                <a:solidFill>
                  <a:srgbClr val="12232B"/>
                </a:solidFill>
                <a:latin typeface="Calibri" pitchFamily="34" charset="0"/>
                <a:ea typeface="Calibri" pitchFamily="34" charset="-122"/>
                <a:cs typeface="Calibri" pitchFamily="34" charset="-120"/>
              </a:rPr>
              <a:t>Ranks causes from file roles, pins and config changes</a:t>
            </a:r>
            <a:endParaRPr lang="en-US" sz="1400" dirty="0"/>
          </a:p>
          <a:p>
            <a:pPr marL="203200" indent="-203200">
              <a:spcAft>
                <a:spcPts val="300"/>
              </a:spcAft>
              <a:buSzPct val="100000"/>
              <a:buChar char="•"/>
            </a:pPr>
            <a:r>
              <a:rPr lang="en-US" sz="1400" dirty="0">
                <a:solidFill>
                  <a:srgbClr val="12232B"/>
                </a:solidFill>
                <a:latin typeface="Calibri" pitchFamily="34" charset="0"/>
                <a:ea typeface="Calibri" pitchFamily="34" charset="-122"/>
                <a:cs typeface="Calibri" pitchFamily="34" charset="-120"/>
              </a:rPr>
              <a:t>Absence of code evidence lowers confidence</a:t>
            </a:r>
            <a:endParaRPr lang="en-US" sz="1400" dirty="0"/>
          </a:p>
          <a:p>
            <a:pPr marL="203200" indent="-203200">
              <a:spcAft>
                <a:spcPts val="300"/>
              </a:spcAft>
              <a:buSzPct val="100000"/>
              <a:buChar char="•"/>
            </a:pPr>
            <a:r>
              <a:rPr lang="en-US" sz="1400" dirty="0">
                <a:solidFill>
                  <a:srgbClr val="12232B"/>
                </a:solidFill>
                <a:latin typeface="Calibri" pitchFamily="34" charset="0"/>
                <a:ea typeface="Calibri" pitchFamily="34" charset="-122"/>
                <a:cs typeface="Calibri" pitchFamily="34" charset="-120"/>
              </a:rPr>
              <a:t>Below 0.5 it says insufficient evidence</a:t>
            </a:r>
            <a:endParaRPr lang="en-US" sz="1400" dirty="0"/>
          </a:p>
          <a:p>
            <a:pPr marL="203200" indent="-203200">
              <a:spcAft>
                <a:spcPts val="300"/>
              </a:spcAft>
              <a:buSzPct val="100000"/>
              <a:buChar char="•"/>
            </a:pPr>
            <a:r>
              <a:rPr lang="en-US" sz="1400" dirty="0">
                <a:solidFill>
                  <a:srgbClr val="12232B"/>
                </a:solidFill>
                <a:latin typeface="Calibri" pitchFamily="34" charset="0"/>
                <a:ea typeface="Calibri" pitchFamily="34" charset="-122"/>
                <a:cs typeface="Calibri" pitchFamily="34" charset="-120"/>
              </a:rPr>
              <a:t>Proposes the exact inverse of the breaking lines</a:t>
            </a:r>
            <a:endParaRPr lang="en-US" sz="1400" dirty="0"/>
          </a:p>
        </p:txBody>
      </p:sp>
      <p:sp>
        <p:nvSpPr>
          <p:cNvPr id="17" name="card"/>
          <p:cNvSpPr/>
          <p:nvPr/>
        </p:nvSpPr>
        <p:spPr>
          <a:xfrm>
            <a:off x="6172200" y="3931920"/>
            <a:ext cx="5440680" cy="2103120"/>
          </a:xfrm>
          <a:prstGeom prst="rect">
            <a:avLst/>
          </a:prstGeom>
          <a:solidFill>
            <a:srgbClr val="FFFFFF"/>
          </a:solidFill>
          <a:ln w="9525">
            <a:solidFill>
              <a:srgbClr val="C9D3D6"/>
            </a:solidFill>
            <a:prstDash val="solid"/>
          </a:ln>
          <a:effectLst>
            <a:outerShdw blurRad="76200" dist="25400" dir="5400000" algn="bl" rotWithShape="0">
              <a:srgbClr val="000000">
                <a:alpha val="10000"/>
              </a:srgbClr>
            </a:outerShdw>
          </a:effectLst>
        </p:spPr>
      </p:sp>
      <p:sp>
        <p:nvSpPr>
          <p:cNvPr id="18" name="key"/>
          <p:cNvSpPr/>
          <p:nvPr/>
        </p:nvSpPr>
        <p:spPr>
          <a:xfrm>
            <a:off x="6355080" y="4133088"/>
            <a:ext cx="201168" cy="201168"/>
          </a:xfrm>
          <a:prstGeom prst="rect">
            <a:avLst/>
          </a:prstGeom>
          <a:solidFill>
            <a:srgbClr val="12232B"/>
          </a:solidFill>
          <a:ln w="12700">
            <a:solidFill>
              <a:srgbClr val="12232B"/>
            </a:solidFill>
            <a:prstDash val="solid"/>
          </a:ln>
        </p:spPr>
      </p:sp>
      <p:sp>
        <p:nvSpPr>
          <p:cNvPr id="19" name="Text 16"/>
          <p:cNvSpPr txBox="1"/>
          <p:nvPr/>
        </p:nvSpPr>
        <p:spPr>
          <a:xfrm>
            <a:off x="6675120" y="4069080"/>
            <a:ext cx="4754880" cy="365760"/>
          </a:xfrm>
          <a:prstGeom prst="rect">
            <a:avLst/>
          </a:prstGeom>
          <a:noFill/>
          <a:ln/>
        </p:spPr>
        <p:txBody>
          <a:bodyPr wrap="square" lIns="0" tIns="0" rIns="0" bIns="0" rtlCol="0" anchor="t"/>
          <a:lstStyle/>
          <a:p>
            <a:pPr marL="0" indent="0">
              <a:buNone/>
            </a:pPr>
            <a:r>
              <a:rPr lang="en-US" sz="1800" b="1" dirty="0">
                <a:solidFill>
                  <a:srgbClr val="12232B"/>
                </a:solidFill>
                <a:latin typeface="Cambria" pitchFamily="34" charset="0"/>
                <a:ea typeface="Cambria" pitchFamily="34" charset="-122"/>
                <a:cs typeface="Cambria" pitchFamily="34" charset="-120"/>
              </a:rPr>
              <a:t>Coordinator: weigh and decide</a:t>
            </a:r>
            <a:endParaRPr lang="en-US" sz="1800" dirty="0"/>
          </a:p>
        </p:txBody>
      </p:sp>
      <p:sp>
        <p:nvSpPr>
          <p:cNvPr id="20" name="Text 17"/>
          <p:cNvSpPr txBox="1"/>
          <p:nvPr/>
        </p:nvSpPr>
        <p:spPr>
          <a:xfrm>
            <a:off x="6446520" y="4572000"/>
            <a:ext cx="4937760" cy="1417320"/>
          </a:xfrm>
          <a:prstGeom prst="rect">
            <a:avLst/>
          </a:prstGeom>
          <a:noFill/>
          <a:ln/>
        </p:spPr>
        <p:txBody>
          <a:bodyPr wrap="square" lIns="0" tIns="0" rIns="0" bIns="0" rtlCol="0" anchor="t"/>
          <a:lstStyle/>
          <a:p>
            <a:pPr marL="203200" indent="-203200">
              <a:spcAft>
                <a:spcPts val="300"/>
              </a:spcAft>
              <a:buSzPct val="100000"/>
              <a:buChar char="•"/>
            </a:pPr>
            <a:r>
              <a:rPr lang="en-US" sz="1400" dirty="0">
                <a:solidFill>
                  <a:srgbClr val="12232B"/>
                </a:solidFill>
                <a:latin typeface="Calibri" pitchFamily="34" charset="0"/>
                <a:ea typeface="Calibri" pitchFamily="34" charset="-122"/>
                <a:cs typeface="Calibri" pitchFamily="34" charset="-120"/>
              </a:rPr>
              <a:t>Agreement adds confidence, conflict subtracts more</a:t>
            </a:r>
            <a:endParaRPr lang="en-US" sz="1400" dirty="0"/>
          </a:p>
          <a:p>
            <a:pPr marL="203200" indent="-203200">
              <a:spcAft>
                <a:spcPts val="300"/>
              </a:spcAft>
              <a:buSzPct val="100000"/>
              <a:buChar char="•"/>
            </a:pPr>
            <a:r>
              <a:rPr lang="en-US" sz="1400" dirty="0">
                <a:solidFill>
                  <a:srgbClr val="12232B"/>
                </a:solidFill>
                <a:latin typeface="Calibri" pitchFamily="34" charset="0"/>
                <a:ea typeface="Calibri" pitchFamily="34" charset="-122"/>
                <a:cs typeface="Calibri" pitchFamily="34" charset="-120"/>
              </a:rPr>
              <a:t>Missing or failed agents make a report incomplete</a:t>
            </a:r>
            <a:endParaRPr lang="en-US" sz="1400" dirty="0"/>
          </a:p>
          <a:p>
            <a:pPr marL="203200" indent="-203200">
              <a:spcAft>
                <a:spcPts val="300"/>
              </a:spcAft>
              <a:buSzPct val="100000"/>
              <a:buChar char="•"/>
            </a:pPr>
            <a:r>
              <a:rPr lang="en-US" sz="1400" dirty="0">
                <a:solidFill>
                  <a:srgbClr val="12232B"/>
                </a:solidFill>
                <a:latin typeface="Calibri" pitchFamily="34" charset="0"/>
                <a:ea typeface="Calibri" pitchFamily="34" charset="-122"/>
                <a:cs typeface="Calibri" pitchFamily="34" charset="-120"/>
              </a:rPr>
              <a:t>Names conflicts instead of picking a winner</a:t>
            </a:r>
            <a:endParaRPr lang="en-US" sz="1400" dirty="0"/>
          </a:p>
          <a:p>
            <a:pPr marL="203200" indent="-203200">
              <a:spcAft>
                <a:spcPts val="300"/>
              </a:spcAft>
              <a:buSzPct val="100000"/>
              <a:buChar char="•"/>
            </a:pPr>
            <a:r>
              <a:rPr lang="en-US" sz="1400" dirty="0">
                <a:solidFill>
                  <a:srgbClr val="12232B"/>
                </a:solidFill>
                <a:latin typeface="Calibri" pitchFamily="34" charset="0"/>
                <a:ea typeface="Calibri" pitchFamily="34" charset="-122"/>
                <a:cs typeface="Calibri" pitchFamily="34" charset="-120"/>
              </a:rPr>
              <a:t>Actionable only if complete and at least 0.5</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66770"/>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47472"/>
            <a:ext cx="11091672" cy="274320"/>
          </a:xfrm>
          <a:prstGeom prst="rect">
            <a:avLst/>
          </a:prstGeom>
          <a:noFill/>
          <a:ln/>
        </p:spPr>
        <p:txBody>
          <a:bodyPr wrap="square" lIns="0" tIns="0" rIns="0" bIns="0" rtlCol="0" anchor="ctr"/>
          <a:lstStyle/>
          <a:p>
            <a:pPr marL="0" indent="0">
              <a:buNone/>
            </a:pPr>
            <a:r>
              <a:rPr lang="en-US" sz="1200" b="1" kern="0" spc="300" dirty="0">
                <a:solidFill>
                  <a:srgbClr val="1F8A8A"/>
                </a:solidFill>
                <a:latin typeface="Calibri" pitchFamily="34" charset="0"/>
                <a:ea typeface="Calibri" pitchFamily="34" charset="-122"/>
                <a:cs typeface="Calibri" pitchFamily="34" charset="-120"/>
              </a:rPr>
              <a:t>MEMORY AND MESSAGING</a:t>
            </a:r>
            <a:endParaRPr lang="en-US" sz="1200" dirty="0"/>
          </a:p>
        </p:txBody>
      </p:sp>
      <p:sp>
        <p:nvSpPr>
          <p:cNvPr id="3" name="Text 1"/>
          <p:cNvSpPr txBox="1"/>
          <p:nvPr/>
        </p:nvSpPr>
        <p:spPr>
          <a:xfrm>
            <a:off x="548640" y="621792"/>
            <a:ext cx="11091672" cy="731520"/>
          </a:xfrm>
          <a:prstGeom prst="rect">
            <a:avLst/>
          </a:prstGeom>
          <a:noFill/>
          <a:ln/>
        </p:spPr>
        <p:txBody>
          <a:bodyPr wrap="square" lIns="0" tIns="0" rIns="0" bIns="0" rtlCol="0" anchor="t"/>
          <a:lstStyle/>
          <a:p>
            <a:pPr marL="0" indent="0">
              <a:buNone/>
            </a:pPr>
            <a:r>
              <a:rPr lang="en-US" sz="3400" b="1" dirty="0">
                <a:solidFill>
                  <a:srgbClr val="12232B"/>
                </a:solidFill>
                <a:latin typeface="Cambria" pitchFamily="34" charset="0"/>
                <a:ea typeface="Cambria" pitchFamily="34" charset="-122"/>
                <a:cs typeface="Cambria" pitchFamily="34" charset="-120"/>
              </a:rPr>
              <a:t>Blackboard: shared context without agent-to-agent calls</a:t>
            </a:r>
            <a:endParaRPr lang="en-US" sz="3400" dirty="0"/>
          </a:p>
        </p:txBody>
      </p:sp>
      <p:sp>
        <p:nvSpPr>
          <p:cNvPr id="5" name="card"/>
          <p:cNvSpPr/>
          <p:nvPr/>
        </p:nvSpPr>
        <p:spPr>
          <a:xfrm>
            <a:off x="548640" y="1645920"/>
            <a:ext cx="5486400" cy="4480560"/>
          </a:xfrm>
          <a:prstGeom prst="rect">
            <a:avLst/>
          </a:prstGeom>
          <a:solidFill>
            <a:srgbClr val="FFFFFF"/>
          </a:solidFill>
          <a:ln w="9525">
            <a:solidFill>
              <a:srgbClr val="C9D3D6"/>
            </a:solidFill>
            <a:prstDash val="solid"/>
          </a:ln>
          <a:effectLst>
            <a:outerShdw blurRad="76200" dist="25400" dir="5400000" algn="bl" rotWithShape="0">
              <a:srgbClr val="000000">
                <a:alpha val="10000"/>
              </a:srgbClr>
            </a:outerShdw>
          </a:effectLst>
        </p:spPr>
      </p:sp>
      <p:sp>
        <p:nvSpPr>
          <p:cNvPr id="6" name="Text 3"/>
          <p:cNvSpPr txBox="1"/>
          <p:nvPr/>
        </p:nvSpPr>
        <p:spPr>
          <a:xfrm>
            <a:off x="822960" y="1783080"/>
            <a:ext cx="4937760" cy="365760"/>
          </a:xfrm>
          <a:prstGeom prst="rect">
            <a:avLst/>
          </a:prstGeom>
          <a:noFill/>
          <a:ln/>
        </p:spPr>
        <p:txBody>
          <a:bodyPr wrap="square" lIns="0" tIns="0" rIns="0" bIns="0" rtlCol="0" anchor="t"/>
          <a:lstStyle/>
          <a:p>
            <a:pPr marL="0" indent="0">
              <a:buNone/>
            </a:pPr>
            <a:r>
              <a:rPr lang="en-US" sz="1800" b="1" dirty="0">
                <a:solidFill>
                  <a:srgbClr val="1F8A8A"/>
                </a:solidFill>
                <a:latin typeface="Cambria" pitchFamily="34" charset="0"/>
                <a:ea typeface="Cambria" pitchFamily="34" charset="-122"/>
                <a:cs typeface="Cambria" pitchFamily="34" charset="-120"/>
              </a:rPr>
              <a:t>Blackboard sections (append-only, versioned)</a:t>
            </a:r>
            <a:endParaRPr lang="en-US" sz="1800" dirty="0"/>
          </a:p>
        </p:txBody>
      </p:sp>
      <p:sp>
        <p:nvSpPr>
          <p:cNvPr id="7" name="chip"/>
          <p:cNvSpPr/>
          <p:nvPr/>
        </p:nvSpPr>
        <p:spPr>
          <a:xfrm>
            <a:off x="822960" y="2286000"/>
            <a:ext cx="1143000" cy="329184"/>
          </a:xfrm>
          <a:prstGeom prst="roundRect">
            <a:avLst>
              <a:gd name="adj" fmla="val 50000"/>
            </a:avLst>
          </a:prstGeom>
          <a:solidFill>
            <a:srgbClr val="E8A33D"/>
          </a:solidFill>
          <a:ln w="12700">
            <a:solidFill>
              <a:srgbClr val="E8A33D"/>
            </a:solidFill>
            <a:prstDash val="solid"/>
          </a:ln>
        </p:spPr>
      </p:sp>
      <p:sp>
        <p:nvSpPr>
          <p:cNvPr id="8" name="Text 5"/>
          <p:cNvSpPr txBox="1"/>
          <p:nvPr/>
        </p:nvSpPr>
        <p:spPr>
          <a:xfrm>
            <a:off x="822960" y="2286000"/>
            <a:ext cx="1143000" cy="329184"/>
          </a:xfrm>
          <a:prstGeom prst="rect">
            <a:avLst/>
          </a:prstGeom>
          <a:noFill/>
          <a:ln/>
        </p:spPr>
        <p:txBody>
          <a:bodyPr wrap="square" lIns="0" tIns="0" rIns="0" bIns="0" rtlCol="0" anchor="ctr"/>
          <a:lstStyle/>
          <a:p>
            <a:pPr marL="0" indent="0" algn="ctr">
              <a:buNone/>
            </a:pPr>
            <a:r>
              <a:rPr lang="en-US" sz="1200" b="1" dirty="0">
                <a:solidFill>
                  <a:srgbClr val="12232B"/>
                </a:solidFill>
                <a:latin typeface="Calibri" pitchFamily="34" charset="0"/>
                <a:ea typeface="Calibri" pitchFamily="34" charset="-122"/>
                <a:cs typeface="Calibri" pitchFamily="34" charset="-120"/>
              </a:rPr>
              <a:t>context</a:t>
            </a:r>
            <a:endParaRPr lang="en-US" sz="1200" dirty="0"/>
          </a:p>
        </p:txBody>
      </p:sp>
      <p:sp>
        <p:nvSpPr>
          <p:cNvPr id="9" name="Text 6"/>
          <p:cNvSpPr txBox="1"/>
          <p:nvPr/>
        </p:nvSpPr>
        <p:spPr>
          <a:xfrm>
            <a:off x="2148840" y="2286000"/>
            <a:ext cx="3657600" cy="329184"/>
          </a:xfrm>
          <a:prstGeom prst="rect">
            <a:avLst/>
          </a:prstGeom>
          <a:noFill/>
          <a:ln/>
        </p:spPr>
        <p:txBody>
          <a:bodyPr wrap="square" lIns="0" tIns="0" rIns="0" bIns="0" rtlCol="0" anchor="ctr"/>
          <a:lstStyle/>
          <a:p>
            <a:pPr marL="0" indent="0">
              <a:buNone/>
            </a:pPr>
            <a:r>
              <a:rPr lang="en-US" sz="1400" dirty="0">
                <a:solidFill>
                  <a:srgbClr val="12232B"/>
                </a:solidFill>
                <a:latin typeface="Calibri" pitchFamily="34" charset="0"/>
                <a:ea typeface="Calibri" pitchFamily="34" charset="-122"/>
                <a:cs typeface="Calibri" pitchFamily="34" charset="-120"/>
              </a:rPr>
              <a:t>incident event from the backend</a:t>
            </a:r>
            <a:endParaRPr lang="en-US" sz="1400" dirty="0"/>
          </a:p>
        </p:txBody>
      </p:sp>
      <p:sp>
        <p:nvSpPr>
          <p:cNvPr id="10" name="chip"/>
          <p:cNvSpPr/>
          <p:nvPr/>
        </p:nvSpPr>
        <p:spPr>
          <a:xfrm>
            <a:off x="822960" y="2816352"/>
            <a:ext cx="1143000" cy="329184"/>
          </a:xfrm>
          <a:prstGeom prst="roundRect">
            <a:avLst>
              <a:gd name="adj" fmla="val 50000"/>
            </a:avLst>
          </a:prstGeom>
          <a:solidFill>
            <a:srgbClr val="E8A33D"/>
          </a:solidFill>
          <a:ln w="12700">
            <a:solidFill>
              <a:srgbClr val="E8A33D"/>
            </a:solidFill>
            <a:prstDash val="solid"/>
          </a:ln>
        </p:spPr>
      </p:sp>
      <p:sp>
        <p:nvSpPr>
          <p:cNvPr id="11" name="Text 8"/>
          <p:cNvSpPr txBox="1"/>
          <p:nvPr/>
        </p:nvSpPr>
        <p:spPr>
          <a:xfrm>
            <a:off x="822960" y="2816352"/>
            <a:ext cx="1143000" cy="329184"/>
          </a:xfrm>
          <a:prstGeom prst="rect">
            <a:avLst/>
          </a:prstGeom>
          <a:noFill/>
          <a:ln/>
        </p:spPr>
        <p:txBody>
          <a:bodyPr wrap="square" lIns="0" tIns="0" rIns="0" bIns="0" rtlCol="0" anchor="ctr"/>
          <a:lstStyle/>
          <a:p>
            <a:pPr marL="0" indent="0" algn="ctr">
              <a:buNone/>
            </a:pPr>
            <a:r>
              <a:rPr lang="en-US" sz="1200" b="1" dirty="0">
                <a:solidFill>
                  <a:srgbClr val="12232B"/>
                </a:solidFill>
                <a:latin typeface="Calibri" pitchFamily="34" charset="0"/>
                <a:ea typeface="Calibri" pitchFamily="34" charset="-122"/>
                <a:cs typeface="Calibri" pitchFamily="34" charset="-120"/>
              </a:rPr>
              <a:t>hints</a:t>
            </a:r>
            <a:endParaRPr lang="en-US" sz="1200" dirty="0"/>
          </a:p>
        </p:txBody>
      </p:sp>
      <p:sp>
        <p:nvSpPr>
          <p:cNvPr id="12" name="Text 9"/>
          <p:cNvSpPr txBox="1"/>
          <p:nvPr/>
        </p:nvSpPr>
        <p:spPr>
          <a:xfrm>
            <a:off x="2148840" y="2816352"/>
            <a:ext cx="3657600" cy="329184"/>
          </a:xfrm>
          <a:prstGeom prst="rect">
            <a:avLst/>
          </a:prstGeom>
          <a:noFill/>
          <a:ln/>
        </p:spPr>
        <p:txBody>
          <a:bodyPr wrap="square" lIns="0" tIns="0" rIns="0" bIns="0" rtlCol="0" anchor="ctr"/>
          <a:lstStyle/>
          <a:p>
            <a:pPr marL="0" indent="0">
              <a:buNone/>
            </a:pPr>
            <a:r>
              <a:rPr lang="en-US" sz="1400" dirty="0">
                <a:solidFill>
                  <a:srgbClr val="12232B"/>
                </a:solidFill>
                <a:latin typeface="Calibri" pitchFamily="34" charset="0"/>
                <a:ea typeface="Calibri" pitchFamily="34" charset="-122"/>
                <a:cs typeface="Calibri" pitchFamily="34" charset="-120"/>
              </a:rPr>
              <a:t>early signals from agents</a:t>
            </a:r>
            <a:endParaRPr lang="en-US" sz="1400" dirty="0"/>
          </a:p>
        </p:txBody>
      </p:sp>
      <p:sp>
        <p:nvSpPr>
          <p:cNvPr id="13" name="chip"/>
          <p:cNvSpPr/>
          <p:nvPr/>
        </p:nvSpPr>
        <p:spPr>
          <a:xfrm>
            <a:off x="822960" y="3346704"/>
            <a:ext cx="1143000" cy="329184"/>
          </a:xfrm>
          <a:prstGeom prst="roundRect">
            <a:avLst>
              <a:gd name="adj" fmla="val 50000"/>
            </a:avLst>
          </a:prstGeom>
          <a:solidFill>
            <a:srgbClr val="E8A33D"/>
          </a:solidFill>
          <a:ln w="12700">
            <a:solidFill>
              <a:srgbClr val="E8A33D"/>
            </a:solidFill>
            <a:prstDash val="solid"/>
          </a:ln>
        </p:spPr>
      </p:sp>
      <p:sp>
        <p:nvSpPr>
          <p:cNvPr id="14" name="Text 11"/>
          <p:cNvSpPr txBox="1"/>
          <p:nvPr/>
        </p:nvSpPr>
        <p:spPr>
          <a:xfrm>
            <a:off x="822960" y="3346704"/>
            <a:ext cx="1143000" cy="329184"/>
          </a:xfrm>
          <a:prstGeom prst="rect">
            <a:avLst/>
          </a:prstGeom>
          <a:noFill/>
          <a:ln/>
        </p:spPr>
        <p:txBody>
          <a:bodyPr wrap="square" lIns="0" tIns="0" rIns="0" bIns="0" rtlCol="0" anchor="ctr"/>
          <a:lstStyle/>
          <a:p>
            <a:pPr marL="0" indent="0" algn="ctr">
              <a:buNone/>
            </a:pPr>
            <a:r>
              <a:rPr lang="en-US" sz="1200" b="1" dirty="0">
                <a:solidFill>
                  <a:srgbClr val="12232B"/>
                </a:solidFill>
                <a:latin typeface="Calibri" pitchFamily="34" charset="0"/>
                <a:ea typeface="Calibri" pitchFamily="34" charset="-122"/>
                <a:cs typeface="Calibri" pitchFamily="34" charset="-120"/>
              </a:rPr>
              <a:t>evidence</a:t>
            </a:r>
            <a:endParaRPr lang="en-US" sz="1200" dirty="0"/>
          </a:p>
        </p:txBody>
      </p:sp>
      <p:sp>
        <p:nvSpPr>
          <p:cNvPr id="15" name="Text 12"/>
          <p:cNvSpPr txBox="1"/>
          <p:nvPr/>
        </p:nvSpPr>
        <p:spPr>
          <a:xfrm>
            <a:off x="2148840" y="3346704"/>
            <a:ext cx="3657600" cy="329184"/>
          </a:xfrm>
          <a:prstGeom prst="rect">
            <a:avLst/>
          </a:prstGeom>
          <a:noFill/>
          <a:ln/>
        </p:spPr>
        <p:txBody>
          <a:bodyPr wrap="square" lIns="0" tIns="0" rIns="0" bIns="0" rtlCol="0" anchor="ctr"/>
          <a:lstStyle/>
          <a:p>
            <a:pPr marL="0" indent="0">
              <a:buNone/>
            </a:pPr>
            <a:r>
              <a:rPr lang="en-US" sz="1400" dirty="0">
                <a:solidFill>
                  <a:srgbClr val="12232B"/>
                </a:solidFill>
                <a:latin typeface="Calibri" pitchFamily="34" charset="0"/>
                <a:ea typeface="Calibri" pitchFamily="34" charset="-122"/>
                <a:cs typeface="Calibri" pitchFamily="34" charset="-120"/>
              </a:rPr>
              <a:t>each agent's findings and confidence</a:t>
            </a:r>
            <a:endParaRPr lang="en-US" sz="1400" dirty="0"/>
          </a:p>
        </p:txBody>
      </p:sp>
      <p:sp>
        <p:nvSpPr>
          <p:cNvPr id="16" name="chip"/>
          <p:cNvSpPr/>
          <p:nvPr/>
        </p:nvSpPr>
        <p:spPr>
          <a:xfrm>
            <a:off x="822960" y="3877056"/>
            <a:ext cx="1143000" cy="329184"/>
          </a:xfrm>
          <a:prstGeom prst="roundRect">
            <a:avLst>
              <a:gd name="adj" fmla="val 50000"/>
            </a:avLst>
          </a:prstGeom>
          <a:solidFill>
            <a:srgbClr val="E8A33D"/>
          </a:solidFill>
          <a:ln w="12700">
            <a:solidFill>
              <a:srgbClr val="E8A33D"/>
            </a:solidFill>
            <a:prstDash val="solid"/>
          </a:ln>
        </p:spPr>
      </p:sp>
      <p:sp>
        <p:nvSpPr>
          <p:cNvPr id="17" name="Text 14"/>
          <p:cNvSpPr txBox="1"/>
          <p:nvPr/>
        </p:nvSpPr>
        <p:spPr>
          <a:xfrm>
            <a:off x="822960" y="3877056"/>
            <a:ext cx="1143000" cy="329184"/>
          </a:xfrm>
          <a:prstGeom prst="rect">
            <a:avLst/>
          </a:prstGeom>
          <a:noFill/>
          <a:ln/>
        </p:spPr>
        <p:txBody>
          <a:bodyPr wrap="square" lIns="0" tIns="0" rIns="0" bIns="0" rtlCol="0" anchor="ctr"/>
          <a:lstStyle/>
          <a:p>
            <a:pPr marL="0" indent="0" algn="ctr">
              <a:buNone/>
            </a:pPr>
            <a:r>
              <a:rPr lang="en-US" sz="1200" b="1" dirty="0">
                <a:solidFill>
                  <a:srgbClr val="12232B"/>
                </a:solidFill>
                <a:latin typeface="Calibri" pitchFamily="34" charset="0"/>
                <a:ea typeface="Calibri" pitchFamily="34" charset="-122"/>
                <a:cs typeface="Calibri" pitchFamily="34" charset="-120"/>
              </a:rPr>
              <a:t>synthesis</a:t>
            </a:r>
            <a:endParaRPr lang="en-US" sz="1200" dirty="0"/>
          </a:p>
        </p:txBody>
      </p:sp>
      <p:sp>
        <p:nvSpPr>
          <p:cNvPr id="18" name="Text 15"/>
          <p:cNvSpPr txBox="1"/>
          <p:nvPr/>
        </p:nvSpPr>
        <p:spPr>
          <a:xfrm>
            <a:off x="2148840" y="3877056"/>
            <a:ext cx="3657600" cy="329184"/>
          </a:xfrm>
          <a:prstGeom prst="rect">
            <a:avLst/>
          </a:prstGeom>
          <a:noFill/>
          <a:ln/>
        </p:spPr>
        <p:txBody>
          <a:bodyPr wrap="square" lIns="0" tIns="0" rIns="0" bIns="0" rtlCol="0" anchor="ctr"/>
          <a:lstStyle/>
          <a:p>
            <a:pPr marL="0" indent="0">
              <a:buNone/>
            </a:pPr>
            <a:r>
              <a:rPr lang="en-US" sz="1400" dirty="0">
                <a:solidFill>
                  <a:srgbClr val="12232B"/>
                </a:solidFill>
                <a:latin typeface="Calibri" pitchFamily="34" charset="0"/>
                <a:ea typeface="Calibri" pitchFamily="34" charset="-122"/>
                <a:cs typeface="Calibri" pitchFamily="34" charset="-120"/>
              </a:rPr>
              <a:t>the Coordinator's unified report</a:t>
            </a:r>
            <a:endParaRPr lang="en-US" sz="1400" dirty="0"/>
          </a:p>
        </p:txBody>
      </p:sp>
      <p:sp>
        <p:nvSpPr>
          <p:cNvPr id="19" name="chip"/>
          <p:cNvSpPr/>
          <p:nvPr/>
        </p:nvSpPr>
        <p:spPr>
          <a:xfrm>
            <a:off x="822960" y="4407408"/>
            <a:ext cx="1143000" cy="329184"/>
          </a:xfrm>
          <a:prstGeom prst="roundRect">
            <a:avLst>
              <a:gd name="adj" fmla="val 50000"/>
            </a:avLst>
          </a:prstGeom>
          <a:solidFill>
            <a:srgbClr val="E8A33D"/>
          </a:solidFill>
          <a:ln w="12700">
            <a:solidFill>
              <a:srgbClr val="E8A33D"/>
            </a:solidFill>
            <a:prstDash val="solid"/>
          </a:ln>
        </p:spPr>
      </p:sp>
      <p:sp>
        <p:nvSpPr>
          <p:cNvPr id="20" name="Text 17"/>
          <p:cNvSpPr txBox="1"/>
          <p:nvPr/>
        </p:nvSpPr>
        <p:spPr>
          <a:xfrm>
            <a:off x="822960" y="4407408"/>
            <a:ext cx="1143000" cy="329184"/>
          </a:xfrm>
          <a:prstGeom prst="rect">
            <a:avLst/>
          </a:prstGeom>
          <a:noFill/>
          <a:ln/>
        </p:spPr>
        <p:txBody>
          <a:bodyPr wrap="square" lIns="0" tIns="0" rIns="0" bIns="0" rtlCol="0" anchor="ctr"/>
          <a:lstStyle/>
          <a:p>
            <a:pPr marL="0" indent="0" algn="ctr">
              <a:buNone/>
            </a:pPr>
            <a:r>
              <a:rPr lang="en-US" sz="1200" b="1" dirty="0">
                <a:solidFill>
                  <a:srgbClr val="12232B"/>
                </a:solidFill>
                <a:latin typeface="Calibri" pitchFamily="34" charset="0"/>
                <a:ea typeface="Calibri" pitchFamily="34" charset="-122"/>
                <a:cs typeface="Calibri" pitchFamily="34" charset="-120"/>
              </a:rPr>
              <a:t>policy</a:t>
            </a:r>
            <a:endParaRPr lang="en-US" sz="1200" dirty="0"/>
          </a:p>
        </p:txBody>
      </p:sp>
      <p:sp>
        <p:nvSpPr>
          <p:cNvPr id="21" name="Text 18"/>
          <p:cNvSpPr txBox="1"/>
          <p:nvPr/>
        </p:nvSpPr>
        <p:spPr>
          <a:xfrm>
            <a:off x="2148840" y="4407408"/>
            <a:ext cx="3657600" cy="329184"/>
          </a:xfrm>
          <a:prstGeom prst="rect">
            <a:avLst/>
          </a:prstGeom>
          <a:noFill/>
          <a:ln/>
        </p:spPr>
        <p:txBody>
          <a:bodyPr wrap="square" lIns="0" tIns="0" rIns="0" bIns="0" rtlCol="0" anchor="ctr"/>
          <a:lstStyle/>
          <a:p>
            <a:pPr marL="0" indent="0">
              <a:buNone/>
            </a:pPr>
            <a:r>
              <a:rPr lang="en-US" sz="1400" dirty="0">
                <a:solidFill>
                  <a:srgbClr val="12232B"/>
                </a:solidFill>
                <a:latin typeface="Calibri" pitchFamily="34" charset="0"/>
                <a:ea typeface="Calibri" pitchFamily="34" charset="-122"/>
                <a:cs typeface="Calibri" pitchFamily="34" charset="-120"/>
              </a:rPr>
              <a:t>OPA verdicts</a:t>
            </a:r>
            <a:endParaRPr lang="en-US" sz="1400" dirty="0"/>
          </a:p>
        </p:txBody>
      </p:sp>
      <p:sp>
        <p:nvSpPr>
          <p:cNvPr id="22" name="chip"/>
          <p:cNvSpPr/>
          <p:nvPr/>
        </p:nvSpPr>
        <p:spPr>
          <a:xfrm>
            <a:off x="822960" y="4937760"/>
            <a:ext cx="1143000" cy="329184"/>
          </a:xfrm>
          <a:prstGeom prst="roundRect">
            <a:avLst>
              <a:gd name="adj" fmla="val 50000"/>
            </a:avLst>
          </a:prstGeom>
          <a:solidFill>
            <a:srgbClr val="E8A33D"/>
          </a:solidFill>
          <a:ln w="12700">
            <a:solidFill>
              <a:srgbClr val="E8A33D"/>
            </a:solidFill>
            <a:prstDash val="solid"/>
          </a:ln>
        </p:spPr>
      </p:sp>
      <p:sp>
        <p:nvSpPr>
          <p:cNvPr id="23" name="Text 20"/>
          <p:cNvSpPr txBox="1"/>
          <p:nvPr/>
        </p:nvSpPr>
        <p:spPr>
          <a:xfrm>
            <a:off x="822960" y="4937760"/>
            <a:ext cx="1143000" cy="329184"/>
          </a:xfrm>
          <a:prstGeom prst="rect">
            <a:avLst/>
          </a:prstGeom>
          <a:noFill/>
          <a:ln/>
        </p:spPr>
        <p:txBody>
          <a:bodyPr wrap="square" lIns="0" tIns="0" rIns="0" bIns="0" rtlCol="0" anchor="ctr"/>
          <a:lstStyle/>
          <a:p>
            <a:pPr marL="0" indent="0" algn="ctr">
              <a:buNone/>
            </a:pPr>
            <a:r>
              <a:rPr lang="en-US" sz="1200" b="1" dirty="0">
                <a:solidFill>
                  <a:srgbClr val="12232B"/>
                </a:solidFill>
                <a:latin typeface="Calibri" pitchFamily="34" charset="0"/>
                <a:ea typeface="Calibri" pitchFamily="34" charset="-122"/>
                <a:cs typeface="Calibri" pitchFamily="34" charset="-120"/>
              </a:rPr>
              <a:t>approval</a:t>
            </a:r>
            <a:endParaRPr lang="en-US" sz="1200" dirty="0"/>
          </a:p>
        </p:txBody>
      </p:sp>
      <p:sp>
        <p:nvSpPr>
          <p:cNvPr id="24" name="Text 21"/>
          <p:cNvSpPr txBox="1"/>
          <p:nvPr/>
        </p:nvSpPr>
        <p:spPr>
          <a:xfrm>
            <a:off x="2148840" y="4937760"/>
            <a:ext cx="3657600" cy="329184"/>
          </a:xfrm>
          <a:prstGeom prst="rect">
            <a:avLst/>
          </a:prstGeom>
          <a:noFill/>
          <a:ln/>
        </p:spPr>
        <p:txBody>
          <a:bodyPr wrap="square" lIns="0" tIns="0" rIns="0" bIns="0" rtlCol="0" anchor="ctr"/>
          <a:lstStyle/>
          <a:p>
            <a:pPr marL="0" indent="0">
              <a:buNone/>
            </a:pPr>
            <a:r>
              <a:rPr lang="en-US" sz="1400" dirty="0">
                <a:solidFill>
                  <a:srgbClr val="12232B"/>
                </a:solidFill>
                <a:latin typeface="Calibri" pitchFamily="34" charset="0"/>
                <a:ea typeface="Calibri" pitchFamily="34" charset="-122"/>
                <a:cs typeface="Calibri" pitchFamily="34" charset="-120"/>
              </a:rPr>
              <a:t>human decisions</a:t>
            </a:r>
            <a:endParaRPr lang="en-US" sz="1400" dirty="0"/>
          </a:p>
        </p:txBody>
      </p:sp>
      <p:sp>
        <p:nvSpPr>
          <p:cNvPr id="25" name="chip"/>
          <p:cNvSpPr/>
          <p:nvPr/>
        </p:nvSpPr>
        <p:spPr>
          <a:xfrm>
            <a:off x="822960" y="5468112"/>
            <a:ext cx="1143000" cy="329184"/>
          </a:xfrm>
          <a:prstGeom prst="roundRect">
            <a:avLst>
              <a:gd name="adj" fmla="val 50000"/>
            </a:avLst>
          </a:prstGeom>
          <a:solidFill>
            <a:srgbClr val="E8A33D"/>
          </a:solidFill>
          <a:ln w="12700">
            <a:solidFill>
              <a:srgbClr val="E8A33D"/>
            </a:solidFill>
            <a:prstDash val="solid"/>
          </a:ln>
        </p:spPr>
      </p:sp>
      <p:sp>
        <p:nvSpPr>
          <p:cNvPr id="26" name="Text 23"/>
          <p:cNvSpPr txBox="1"/>
          <p:nvPr/>
        </p:nvSpPr>
        <p:spPr>
          <a:xfrm>
            <a:off x="822960" y="5468112"/>
            <a:ext cx="1143000" cy="329184"/>
          </a:xfrm>
          <a:prstGeom prst="rect">
            <a:avLst/>
          </a:prstGeom>
          <a:noFill/>
          <a:ln/>
        </p:spPr>
        <p:txBody>
          <a:bodyPr wrap="square" lIns="0" tIns="0" rIns="0" bIns="0" rtlCol="0" anchor="ctr"/>
          <a:lstStyle/>
          <a:p>
            <a:pPr marL="0" indent="0" algn="ctr">
              <a:buNone/>
            </a:pPr>
            <a:r>
              <a:rPr lang="en-US" sz="1200" b="1" dirty="0">
                <a:solidFill>
                  <a:srgbClr val="12232B"/>
                </a:solidFill>
                <a:latin typeface="Calibri" pitchFamily="34" charset="0"/>
                <a:ea typeface="Calibri" pitchFamily="34" charset="-122"/>
                <a:cs typeface="Calibri" pitchFamily="34" charset="-120"/>
              </a:rPr>
              <a:t>validation</a:t>
            </a:r>
            <a:endParaRPr lang="en-US" sz="1200" dirty="0"/>
          </a:p>
        </p:txBody>
      </p:sp>
      <p:sp>
        <p:nvSpPr>
          <p:cNvPr id="27" name="Text 24"/>
          <p:cNvSpPr txBox="1"/>
          <p:nvPr/>
        </p:nvSpPr>
        <p:spPr>
          <a:xfrm>
            <a:off x="2148840" y="5468112"/>
            <a:ext cx="3657600" cy="329184"/>
          </a:xfrm>
          <a:prstGeom prst="rect">
            <a:avLst/>
          </a:prstGeom>
          <a:noFill/>
          <a:ln/>
        </p:spPr>
        <p:txBody>
          <a:bodyPr wrap="square" lIns="0" tIns="0" rIns="0" bIns="0" rtlCol="0" anchor="ctr"/>
          <a:lstStyle/>
          <a:p>
            <a:pPr marL="0" indent="0">
              <a:buNone/>
            </a:pPr>
            <a:r>
              <a:rPr lang="en-US" sz="1400" dirty="0">
                <a:solidFill>
                  <a:srgbClr val="12232B"/>
                </a:solidFill>
                <a:latin typeface="Calibri" pitchFamily="34" charset="0"/>
                <a:ea typeface="Calibri" pitchFamily="34" charset="-122"/>
                <a:cs typeface="Calibri" pitchFamily="34" charset="-120"/>
              </a:rPr>
              <a:t>Jenkins re-run results</a:t>
            </a:r>
            <a:endParaRPr lang="en-US" sz="1400" dirty="0"/>
          </a:p>
        </p:txBody>
      </p:sp>
      <p:sp>
        <p:nvSpPr>
          <p:cNvPr id="28" name="card"/>
          <p:cNvSpPr/>
          <p:nvPr/>
        </p:nvSpPr>
        <p:spPr>
          <a:xfrm>
            <a:off x="6263640" y="1645920"/>
            <a:ext cx="5376672" cy="1371600"/>
          </a:xfrm>
          <a:prstGeom prst="rect">
            <a:avLst/>
          </a:prstGeom>
          <a:solidFill>
            <a:srgbClr val="FFFFFF"/>
          </a:solidFill>
          <a:ln w="9525">
            <a:solidFill>
              <a:srgbClr val="C9D3D6"/>
            </a:solidFill>
            <a:prstDash val="solid"/>
          </a:ln>
          <a:effectLst>
            <a:outerShdw blurRad="76200" dist="25400" dir="5400000" algn="bl" rotWithShape="0">
              <a:srgbClr val="000000">
                <a:alpha val="10000"/>
              </a:srgbClr>
            </a:outerShdw>
          </a:effectLst>
        </p:spPr>
      </p:sp>
      <p:sp>
        <p:nvSpPr>
          <p:cNvPr id="29" name="Text 26"/>
          <p:cNvSpPr txBox="1"/>
          <p:nvPr/>
        </p:nvSpPr>
        <p:spPr>
          <a:xfrm>
            <a:off x="6492240" y="1783080"/>
            <a:ext cx="4937760" cy="365760"/>
          </a:xfrm>
          <a:prstGeom prst="rect">
            <a:avLst/>
          </a:prstGeom>
          <a:noFill/>
          <a:ln/>
        </p:spPr>
        <p:txBody>
          <a:bodyPr wrap="square" lIns="0" tIns="0" rIns="0" bIns="0" rtlCol="0" anchor="t"/>
          <a:lstStyle/>
          <a:p>
            <a:pPr marL="0" indent="0">
              <a:buNone/>
            </a:pPr>
            <a:r>
              <a:rPr lang="en-US" sz="1700" b="1" dirty="0">
                <a:solidFill>
                  <a:srgbClr val="1F8A8A"/>
                </a:solidFill>
                <a:latin typeface="Cambria" pitchFamily="34" charset="0"/>
                <a:ea typeface="Cambria" pitchFamily="34" charset="-122"/>
                <a:cs typeface="Cambria" pitchFamily="34" charset="-120"/>
              </a:rPr>
              <a:t>RabbitMQ events</a:t>
            </a:r>
            <a:endParaRPr lang="en-US" sz="1700" dirty="0"/>
          </a:p>
        </p:txBody>
      </p:sp>
      <p:sp>
        <p:nvSpPr>
          <p:cNvPr id="30" name="Text 27"/>
          <p:cNvSpPr txBox="1"/>
          <p:nvPr/>
        </p:nvSpPr>
        <p:spPr>
          <a:xfrm>
            <a:off x="6492240" y="2212848"/>
            <a:ext cx="4937760" cy="777240"/>
          </a:xfrm>
          <a:prstGeom prst="rect">
            <a:avLst/>
          </a:prstGeom>
          <a:noFill/>
          <a:ln/>
        </p:spPr>
        <p:txBody>
          <a:bodyPr wrap="square" lIns="0" tIns="0" rIns="0" bIns="0" rtlCol="0" anchor="t"/>
          <a:lstStyle/>
          <a:p>
            <a:pPr marL="0" indent="0">
              <a:buNone/>
            </a:pPr>
            <a:r>
              <a:rPr lang="en-US" sz="1400" dirty="0">
                <a:solidFill>
                  <a:srgbClr val="566770"/>
                </a:solidFill>
                <a:latin typeface="Calibri" pitchFamily="34" charset="0"/>
                <a:ea typeface="Calibri" pitchFamily="34" charset="-122"/>
                <a:cs typeface="Calibri" pitchFamily="34" charset="-120"/>
              </a:rPr>
              <a:t>Durable topic exchange. incident.created, incident.reinvestigate, approval.decided. Each agent has its own queue</a:t>
            </a:r>
            <a:endParaRPr lang="en-US" sz="1400" dirty="0"/>
          </a:p>
        </p:txBody>
      </p:sp>
      <p:sp>
        <p:nvSpPr>
          <p:cNvPr id="31" name="card"/>
          <p:cNvSpPr/>
          <p:nvPr/>
        </p:nvSpPr>
        <p:spPr>
          <a:xfrm>
            <a:off x="6263640" y="3163824"/>
            <a:ext cx="5376672" cy="1371600"/>
          </a:xfrm>
          <a:prstGeom prst="rect">
            <a:avLst/>
          </a:prstGeom>
          <a:solidFill>
            <a:srgbClr val="FFFFFF"/>
          </a:solidFill>
          <a:ln w="9525">
            <a:solidFill>
              <a:srgbClr val="C9D3D6"/>
            </a:solidFill>
            <a:prstDash val="solid"/>
          </a:ln>
          <a:effectLst>
            <a:outerShdw blurRad="76200" dist="25400" dir="5400000" algn="bl" rotWithShape="0">
              <a:srgbClr val="000000">
                <a:alpha val="10000"/>
              </a:srgbClr>
            </a:outerShdw>
          </a:effectLst>
        </p:spPr>
      </p:sp>
      <p:sp>
        <p:nvSpPr>
          <p:cNvPr id="32" name="Text 29"/>
          <p:cNvSpPr txBox="1"/>
          <p:nvPr/>
        </p:nvSpPr>
        <p:spPr>
          <a:xfrm>
            <a:off x="6492240" y="3300984"/>
            <a:ext cx="4937760" cy="365760"/>
          </a:xfrm>
          <a:prstGeom prst="rect">
            <a:avLst/>
          </a:prstGeom>
          <a:noFill/>
          <a:ln/>
        </p:spPr>
        <p:txBody>
          <a:bodyPr wrap="square" lIns="0" tIns="0" rIns="0" bIns="0" rtlCol="0" anchor="t"/>
          <a:lstStyle/>
          <a:p>
            <a:pPr marL="0" indent="0">
              <a:buNone/>
            </a:pPr>
            <a:r>
              <a:rPr lang="en-US" sz="1700" b="1" dirty="0">
                <a:solidFill>
                  <a:srgbClr val="1F8A8A"/>
                </a:solidFill>
                <a:latin typeface="Cambria" pitchFamily="34" charset="0"/>
                <a:ea typeface="Cambria" pitchFamily="34" charset="-122"/>
                <a:cs typeface="Cambria" pitchFamily="34" charset="-120"/>
              </a:rPr>
              <a:t>A2A notifications</a:t>
            </a:r>
            <a:endParaRPr lang="en-US" sz="1700" dirty="0"/>
          </a:p>
        </p:txBody>
      </p:sp>
      <p:sp>
        <p:nvSpPr>
          <p:cNvPr id="33" name="Text 30"/>
          <p:cNvSpPr txBox="1"/>
          <p:nvPr/>
        </p:nvSpPr>
        <p:spPr>
          <a:xfrm>
            <a:off x="6492240" y="3730752"/>
            <a:ext cx="4937760" cy="777240"/>
          </a:xfrm>
          <a:prstGeom prst="rect">
            <a:avLst/>
          </a:prstGeom>
          <a:noFill/>
          <a:ln/>
        </p:spPr>
        <p:txBody>
          <a:bodyPr wrap="square" lIns="0" tIns="0" rIns="0" bIns="0" rtlCol="0" anchor="t"/>
          <a:lstStyle/>
          <a:p>
            <a:pPr marL="0" indent="0">
              <a:buNone/>
            </a:pPr>
            <a:r>
              <a:rPr lang="en-US" sz="1400" dirty="0">
                <a:solidFill>
                  <a:srgbClr val="566770"/>
                </a:solidFill>
                <a:latin typeface="Calibri" pitchFamily="34" charset="0"/>
                <a:ea typeface="Calibri" pitchFamily="34" charset="-122"/>
                <a:cs typeface="Calibri" pitchFamily="34" charset="-120"/>
              </a:rPr>
              <a:t>Coordinator dispatches tasks; agents answer evidence.ready with the incident ID only</a:t>
            </a:r>
            <a:endParaRPr lang="en-US" sz="1400" dirty="0"/>
          </a:p>
        </p:txBody>
      </p:sp>
      <p:sp>
        <p:nvSpPr>
          <p:cNvPr id="34" name="card"/>
          <p:cNvSpPr/>
          <p:nvPr/>
        </p:nvSpPr>
        <p:spPr>
          <a:xfrm>
            <a:off x="6263640" y="4681728"/>
            <a:ext cx="5376672" cy="1371600"/>
          </a:xfrm>
          <a:prstGeom prst="rect">
            <a:avLst/>
          </a:prstGeom>
          <a:solidFill>
            <a:srgbClr val="FFFFFF"/>
          </a:solidFill>
          <a:ln w="9525">
            <a:solidFill>
              <a:srgbClr val="C9D3D6"/>
            </a:solidFill>
            <a:prstDash val="solid"/>
          </a:ln>
          <a:effectLst>
            <a:outerShdw blurRad="76200" dist="25400" dir="5400000" algn="bl" rotWithShape="0">
              <a:srgbClr val="000000">
                <a:alpha val="10000"/>
              </a:srgbClr>
            </a:outerShdw>
          </a:effectLst>
        </p:spPr>
      </p:sp>
      <p:sp>
        <p:nvSpPr>
          <p:cNvPr id="35" name="Text 32"/>
          <p:cNvSpPr txBox="1"/>
          <p:nvPr/>
        </p:nvSpPr>
        <p:spPr>
          <a:xfrm>
            <a:off x="6492240" y="4818888"/>
            <a:ext cx="4937760" cy="365760"/>
          </a:xfrm>
          <a:prstGeom prst="rect">
            <a:avLst/>
          </a:prstGeom>
          <a:noFill/>
          <a:ln/>
        </p:spPr>
        <p:txBody>
          <a:bodyPr wrap="square" lIns="0" tIns="0" rIns="0" bIns="0" rtlCol="0" anchor="t"/>
          <a:lstStyle/>
          <a:p>
            <a:pPr marL="0" indent="0">
              <a:buNone/>
            </a:pPr>
            <a:r>
              <a:rPr lang="en-US" sz="1700" b="1" dirty="0">
                <a:solidFill>
                  <a:srgbClr val="1F8A8A"/>
                </a:solidFill>
                <a:latin typeface="Cambria" pitchFamily="34" charset="0"/>
                <a:ea typeface="Cambria" pitchFamily="34" charset="-122"/>
                <a:cs typeface="Cambria" pitchFamily="34" charset="-120"/>
              </a:rPr>
              <a:t>Blackboard reads</a:t>
            </a:r>
            <a:endParaRPr lang="en-US" sz="1700" dirty="0"/>
          </a:p>
        </p:txBody>
      </p:sp>
      <p:sp>
        <p:nvSpPr>
          <p:cNvPr id="36" name="Text 33"/>
          <p:cNvSpPr txBox="1"/>
          <p:nvPr/>
        </p:nvSpPr>
        <p:spPr>
          <a:xfrm>
            <a:off x="6492240" y="5248656"/>
            <a:ext cx="4937760" cy="777240"/>
          </a:xfrm>
          <a:prstGeom prst="rect">
            <a:avLst/>
          </a:prstGeom>
          <a:noFill/>
          <a:ln/>
        </p:spPr>
        <p:txBody>
          <a:bodyPr wrap="square" lIns="0" tIns="0" rIns="0" bIns="0" rtlCol="0" anchor="t"/>
          <a:lstStyle/>
          <a:p>
            <a:pPr marL="0" indent="0">
              <a:buNone/>
            </a:pPr>
            <a:r>
              <a:rPr lang="en-US" sz="1400" dirty="0">
                <a:solidFill>
                  <a:srgbClr val="566770"/>
                </a:solidFill>
                <a:latin typeface="Calibri" pitchFamily="34" charset="0"/>
                <a:ea typeface="Calibri" pitchFamily="34" charset="-122"/>
                <a:cs typeface="Calibri" pitchFamily="34" charset="-120"/>
              </a:rPr>
              <a:t>Anything that needs the actual findings reads them from the Blackboard</a:t>
            </a:r>
            <a:endParaRPr lang="en-US" sz="1400" dirty="0"/>
          </a:p>
        </p:txBody>
      </p:sp>
      <p:sp>
        <p:nvSpPr>
          <p:cNvPr id="4"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66770"/>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47472"/>
            <a:ext cx="11091672" cy="274320"/>
          </a:xfrm>
          <a:prstGeom prst="rect">
            <a:avLst/>
          </a:prstGeom>
          <a:noFill/>
          <a:ln/>
        </p:spPr>
        <p:txBody>
          <a:bodyPr wrap="square" lIns="0" tIns="0" rIns="0" bIns="0" rtlCol="0" anchor="ctr"/>
          <a:lstStyle/>
          <a:p>
            <a:pPr marL="0" indent="0">
              <a:buNone/>
            </a:pPr>
            <a:r>
              <a:rPr lang="en-US" sz="1200" b="1" kern="0" spc="300" dirty="0">
                <a:solidFill>
                  <a:srgbClr val="1F8A8A"/>
                </a:solidFill>
                <a:latin typeface="Calibri" pitchFamily="34" charset="0"/>
                <a:ea typeface="Calibri" pitchFamily="34" charset="-122"/>
                <a:cs typeface="Calibri" pitchFamily="34" charset="-120"/>
              </a:rPr>
              <a:t>TOOL USE</a:t>
            </a:r>
            <a:endParaRPr lang="en-US" sz="1200" dirty="0"/>
          </a:p>
        </p:txBody>
      </p:sp>
      <p:sp>
        <p:nvSpPr>
          <p:cNvPr id="3" name="Text 1"/>
          <p:cNvSpPr txBox="1"/>
          <p:nvPr/>
        </p:nvSpPr>
        <p:spPr>
          <a:xfrm>
            <a:off x="548640" y="621792"/>
            <a:ext cx="11091672" cy="731520"/>
          </a:xfrm>
          <a:prstGeom prst="rect">
            <a:avLst/>
          </a:prstGeom>
          <a:noFill/>
          <a:ln/>
        </p:spPr>
        <p:txBody>
          <a:bodyPr wrap="square" lIns="0" tIns="0" rIns="0" bIns="0" rtlCol="0" anchor="t"/>
          <a:lstStyle/>
          <a:p>
            <a:pPr marL="0" indent="0">
              <a:buNone/>
            </a:pPr>
            <a:r>
              <a:rPr lang="en-US" sz="3400" b="1" dirty="0">
                <a:solidFill>
                  <a:srgbClr val="12232B"/>
                </a:solidFill>
                <a:latin typeface="Cambria" pitchFamily="34" charset="0"/>
                <a:ea typeface="Cambria" pitchFamily="34" charset="-122"/>
                <a:cs typeface="Cambria" pitchFamily="34" charset="-120"/>
              </a:rPr>
              <a:t>Tools through the Model Context Protocol</a:t>
            </a:r>
            <a:endParaRPr lang="en-US" sz="3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2468880"/>
        </p:xfrm>
        <a:graphic>
          <a:graphicData uri="http://schemas.openxmlformats.org/drawingml/2006/table">
            <a:tbl>
              <a:tblPr/>
              <a:tblGrid>
                <a:gridCol w="2011680">
                  <a:extLst>
                    <a:ext uri="{9D8B030D-6E8A-4147-A177-3AD203B41FA5}">
                      <a16:colId xmlns:a16="http://schemas.microsoft.com/office/drawing/2014/main" val="20000"/>
                    </a:ext>
                  </a:extLst>
                </a:gridCol>
                <a:gridCol w="694944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tblGrid>
              <a:tr h="41148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MCP server</a:t>
                      </a:r>
                      <a:endParaRPr lang="en-US" sz="13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12232B"/>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Tools</a:t>
                      </a:r>
                      <a:endParaRPr lang="en-US" sz="13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12232B"/>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Used by</a:t>
                      </a:r>
                      <a:endParaRPr lang="en-US" sz="13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12232B"/>
                    </a:solidFill>
                  </a:tcPr>
                </a:tc>
                <a:extLst>
                  <a:ext uri="{0D108BD9-81ED-4DB2-BD59-A6C34878D82A}">
                    <a16:rowId xmlns:a16="http://schemas.microsoft.com/office/drawing/2014/main" val="10000"/>
                  </a:ext>
                </a:extLst>
              </a:tr>
              <a:tr h="868680">
                <a:tc>
                  <a:txBody>
                    <a:bodyPr/>
                    <a:lstStyle/>
                    <a:p>
                      <a:pPr marL="0" indent="0">
                        <a:buNone/>
                      </a:pPr>
                      <a:r>
                        <a:rPr lang="en-US" sz="1300" b="1" dirty="0">
                          <a:solidFill>
                            <a:srgbClr val="12232B"/>
                          </a:solidFill>
                          <a:latin typeface="Calibri" pitchFamily="34" charset="0"/>
                          <a:ea typeface="Calibri" pitchFamily="34" charset="-122"/>
                          <a:cs typeface="Calibri" pitchFamily="34" charset="-120"/>
                        </a:rPr>
                        <a:t>Jenkins MCP</a:t>
                      </a:r>
                      <a:endParaRPr lang="en-US" sz="13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marL="0" indent="0">
                        <a:buNone/>
                      </a:pPr>
                      <a:r>
                        <a:rPr lang="en-US" sz="1300" dirty="0">
                          <a:solidFill>
                            <a:srgbClr val="12232B"/>
                          </a:solidFill>
                          <a:latin typeface="Calibri" pitchFamily="34" charset="0"/>
                          <a:ea typeface="Calibri" pitchFamily="34" charset="-122"/>
                          <a:cs typeface="Calibri" pitchFamily="34" charset="-120"/>
                        </a:rPr>
                        <a:t>get_build_summary, get_stage_summary, get_error_blocks, get_log_range, get_test_report, get_build_history, compare_with_last_success</a:t>
                      </a:r>
                      <a:endParaRPr lang="en-US" sz="13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marL="0" indent="0">
                        <a:buNone/>
                      </a:pPr>
                      <a:r>
                        <a:rPr lang="en-US" sz="1300" dirty="0">
                          <a:solidFill>
                            <a:srgbClr val="12232B"/>
                          </a:solidFill>
                          <a:latin typeface="Calibri" pitchFamily="34" charset="0"/>
                          <a:ea typeface="Calibri" pitchFamily="34" charset="-122"/>
                          <a:cs typeface="Calibri" pitchFamily="34" charset="-120"/>
                        </a:rPr>
                        <a:t>Jenkins agent</a:t>
                      </a:r>
                      <a:endParaRPr lang="en-US" sz="13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94360">
                <a:tc>
                  <a:txBody>
                    <a:bodyPr/>
                    <a:lstStyle/>
                    <a:p>
                      <a:pPr marL="0" indent="0">
                        <a:buNone/>
                      </a:pPr>
                      <a:r>
                        <a:rPr lang="en-US" sz="1300" b="1" dirty="0">
                          <a:solidFill>
                            <a:srgbClr val="12232B"/>
                          </a:solidFill>
                          <a:latin typeface="Calibri" pitchFamily="34" charset="0"/>
                          <a:ea typeface="Calibri" pitchFamily="34" charset="-122"/>
                          <a:cs typeface="Calibri" pitchFamily="34" charset="-120"/>
                        </a:rPr>
                        <a:t>Analytics MCP</a:t>
                      </a:r>
                      <a:endParaRPr lang="en-US" sz="13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marL="0" indent="0">
                        <a:buNone/>
                      </a:pPr>
                      <a:r>
                        <a:rPr lang="en-US" sz="1300" dirty="0">
                          <a:solidFill>
                            <a:srgbClr val="12232B"/>
                          </a:solidFill>
                          <a:latin typeface="Calibri" pitchFamily="34" charset="0"/>
                          <a:ea typeface="Calibri" pitchFamily="34" charset="-122"/>
                          <a:cs typeface="Calibri" pitchFamily="34" charset="-120"/>
                        </a:rPr>
                        <a:t>compute_signature, check_flakiness, find_related_incidents</a:t>
                      </a:r>
                      <a:endParaRPr lang="en-US" sz="13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marL="0" indent="0">
                        <a:buNone/>
                      </a:pPr>
                      <a:r>
                        <a:rPr lang="en-US" sz="1300" dirty="0">
                          <a:solidFill>
                            <a:srgbClr val="12232B"/>
                          </a:solidFill>
                          <a:latin typeface="Calibri" pitchFamily="34" charset="0"/>
                          <a:ea typeface="Calibri" pitchFamily="34" charset="-122"/>
                          <a:cs typeface="Calibri" pitchFamily="34" charset="-120"/>
                        </a:rPr>
                        <a:t>Jenkins agent</a:t>
                      </a:r>
                      <a:endParaRPr lang="en-US" sz="13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94360">
                <a:tc>
                  <a:txBody>
                    <a:bodyPr/>
                    <a:lstStyle/>
                    <a:p>
                      <a:pPr marL="0" indent="0">
                        <a:buNone/>
                      </a:pPr>
                      <a:r>
                        <a:rPr lang="en-US" sz="1300" b="1" dirty="0">
                          <a:solidFill>
                            <a:srgbClr val="12232B"/>
                          </a:solidFill>
                          <a:latin typeface="Calibri" pitchFamily="34" charset="0"/>
                          <a:ea typeface="Calibri" pitchFamily="34" charset="-122"/>
                          <a:cs typeface="Calibri" pitchFamily="34" charset="-120"/>
                        </a:rPr>
                        <a:t>Prometheus MCP</a:t>
                      </a:r>
                      <a:endParaRPr lang="en-US" sz="13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marL="0" indent="0">
                        <a:buNone/>
                      </a:pPr>
                      <a:r>
                        <a:rPr lang="en-US" sz="1300" dirty="0">
                          <a:solidFill>
                            <a:srgbClr val="12232B"/>
                          </a:solidFill>
                          <a:latin typeface="Calibri" pitchFamily="34" charset="0"/>
                          <a:ea typeface="Calibri" pitchFamily="34" charset="-122"/>
                          <a:cs typeface="Calibri" pitchFamily="34" charset="-120"/>
                        </a:rPr>
                        <a:t>list_catalog, prometheus_query, prometheus_query_range</a:t>
                      </a:r>
                      <a:endParaRPr lang="en-US" sz="13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marL="0" indent="0">
                        <a:buNone/>
                      </a:pPr>
                      <a:r>
                        <a:rPr lang="en-US" sz="1300" dirty="0">
                          <a:solidFill>
                            <a:srgbClr val="12232B"/>
                          </a:solidFill>
                          <a:latin typeface="Calibri" pitchFamily="34" charset="0"/>
                          <a:ea typeface="Calibri" pitchFamily="34" charset="-122"/>
                          <a:cs typeface="Calibri" pitchFamily="34" charset="-120"/>
                        </a:rPr>
                        <a:t>Metrics tooling</a:t>
                      </a:r>
                      <a:endParaRPr lang="en-US" sz="13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card"/>
          <p:cNvSpPr/>
          <p:nvPr/>
        </p:nvSpPr>
        <p:spPr>
          <a:xfrm>
            <a:off x="548640" y="4480560"/>
            <a:ext cx="3566160" cy="1691640"/>
          </a:xfrm>
          <a:prstGeom prst="rect">
            <a:avLst/>
          </a:prstGeom>
          <a:solidFill>
            <a:srgbClr val="FFFFFF"/>
          </a:solidFill>
          <a:ln w="9525">
            <a:solidFill>
              <a:srgbClr val="C9D3D6"/>
            </a:solidFill>
            <a:prstDash val="solid"/>
          </a:ln>
          <a:effectLst>
            <a:outerShdw blurRad="76200" dist="25400" dir="5400000" algn="bl" rotWithShape="0">
              <a:srgbClr val="000000">
                <a:alpha val="10000"/>
              </a:srgbClr>
            </a:outerShdw>
          </a:effectLst>
        </p:spPr>
      </p:sp>
      <p:sp>
        <p:nvSpPr>
          <p:cNvPr id="7" name="Text 3"/>
          <p:cNvSpPr txBox="1"/>
          <p:nvPr/>
        </p:nvSpPr>
        <p:spPr>
          <a:xfrm>
            <a:off x="777240" y="4617720"/>
            <a:ext cx="3108960" cy="365760"/>
          </a:xfrm>
          <a:prstGeom prst="rect">
            <a:avLst/>
          </a:prstGeom>
          <a:noFill/>
          <a:ln/>
        </p:spPr>
        <p:txBody>
          <a:bodyPr wrap="square" lIns="0" tIns="0" rIns="0" bIns="0" rtlCol="0" anchor="t"/>
          <a:lstStyle/>
          <a:p>
            <a:pPr marL="0" indent="0">
              <a:buNone/>
            </a:pPr>
            <a:r>
              <a:rPr lang="en-US" sz="1700" b="1" dirty="0">
                <a:solidFill>
                  <a:srgbClr val="1F8A8A"/>
                </a:solidFill>
                <a:latin typeface="Cambria" pitchFamily="34" charset="0"/>
                <a:ea typeface="Cambria" pitchFamily="34" charset="-122"/>
                <a:cs typeface="Cambria" pitchFamily="34" charset="-120"/>
              </a:rPr>
              <a:t>Safe by construction</a:t>
            </a:r>
            <a:endParaRPr lang="en-US" sz="1700" dirty="0"/>
          </a:p>
        </p:txBody>
      </p:sp>
      <p:sp>
        <p:nvSpPr>
          <p:cNvPr id="4" name="Text 4"/>
          <p:cNvSpPr txBox="1"/>
          <p:nvPr/>
        </p:nvSpPr>
        <p:spPr>
          <a:xfrm>
            <a:off x="777240" y="5074920"/>
            <a:ext cx="3108960" cy="1051560"/>
          </a:xfrm>
          <a:prstGeom prst="rect">
            <a:avLst/>
          </a:prstGeom>
          <a:noFill/>
          <a:ln/>
        </p:spPr>
        <p:txBody>
          <a:bodyPr wrap="square" lIns="0" tIns="0" rIns="0" bIns="0" rtlCol="0" anchor="t"/>
          <a:lstStyle/>
          <a:p>
            <a:pPr marL="0" indent="0">
              <a:buNone/>
            </a:pPr>
            <a:r>
              <a:rPr lang="en-US" sz="1400" dirty="0">
                <a:solidFill>
                  <a:srgbClr val="12232B"/>
                </a:solidFill>
                <a:latin typeface="Calibri" pitchFamily="34" charset="0"/>
                <a:ea typeface="Calibri" pitchFamily="34" charset="-122"/>
                <a:cs typeface="Calibri" pitchFamily="34" charset="-120"/>
              </a:rPr>
              <a:t>Jenkins tools are read-only. Each call has an explicit timeout and bounded retries</a:t>
            </a:r>
            <a:endParaRPr lang="en-US" sz="1400" dirty="0"/>
          </a:p>
        </p:txBody>
      </p:sp>
      <p:sp>
        <p:nvSpPr>
          <p:cNvPr id="9" name="card"/>
          <p:cNvSpPr/>
          <p:nvPr/>
        </p:nvSpPr>
        <p:spPr>
          <a:xfrm>
            <a:off x="4297680" y="4480560"/>
            <a:ext cx="3566160" cy="1691640"/>
          </a:xfrm>
          <a:prstGeom prst="rect">
            <a:avLst/>
          </a:prstGeom>
          <a:solidFill>
            <a:srgbClr val="FFFFFF"/>
          </a:solidFill>
          <a:ln w="9525">
            <a:solidFill>
              <a:srgbClr val="C9D3D6"/>
            </a:solidFill>
            <a:prstDash val="solid"/>
          </a:ln>
          <a:effectLst>
            <a:outerShdw blurRad="76200" dist="25400" dir="5400000" algn="bl" rotWithShape="0">
              <a:srgbClr val="000000">
                <a:alpha val="10000"/>
              </a:srgbClr>
            </a:outerShdw>
          </a:effectLst>
        </p:spPr>
      </p:sp>
      <p:sp>
        <p:nvSpPr>
          <p:cNvPr id="10" name="Text 6"/>
          <p:cNvSpPr txBox="1"/>
          <p:nvPr/>
        </p:nvSpPr>
        <p:spPr>
          <a:xfrm>
            <a:off x="4526280" y="4617720"/>
            <a:ext cx="3108960" cy="365760"/>
          </a:xfrm>
          <a:prstGeom prst="rect">
            <a:avLst/>
          </a:prstGeom>
          <a:noFill/>
          <a:ln/>
        </p:spPr>
        <p:txBody>
          <a:bodyPr wrap="square" lIns="0" tIns="0" rIns="0" bIns="0" rtlCol="0" anchor="t"/>
          <a:lstStyle/>
          <a:p>
            <a:pPr marL="0" indent="0">
              <a:buNone/>
            </a:pPr>
            <a:r>
              <a:rPr lang="en-US" sz="1700" b="1" dirty="0">
                <a:solidFill>
                  <a:srgbClr val="1F8A8A"/>
                </a:solidFill>
                <a:latin typeface="Cambria" pitchFamily="34" charset="0"/>
                <a:ea typeface="Cambria" pitchFamily="34" charset="-122"/>
                <a:cs typeface="Cambria" pitchFamily="34" charset="-120"/>
              </a:rPr>
              <a:t>Screened on the way back</a:t>
            </a:r>
            <a:endParaRPr lang="en-US" sz="1700" dirty="0"/>
          </a:p>
        </p:txBody>
      </p:sp>
      <p:sp>
        <p:nvSpPr>
          <p:cNvPr id="11" name="Text 7"/>
          <p:cNvSpPr txBox="1"/>
          <p:nvPr/>
        </p:nvSpPr>
        <p:spPr>
          <a:xfrm>
            <a:off x="4526280" y="5074920"/>
            <a:ext cx="3108960" cy="1051560"/>
          </a:xfrm>
          <a:prstGeom prst="rect">
            <a:avLst/>
          </a:prstGeom>
          <a:noFill/>
          <a:ln/>
        </p:spPr>
        <p:txBody>
          <a:bodyPr wrap="square" lIns="0" tIns="0" rIns="0" bIns="0" rtlCol="0" anchor="t"/>
          <a:lstStyle/>
          <a:p>
            <a:pPr marL="0" indent="0">
              <a:buNone/>
            </a:pPr>
            <a:r>
              <a:rPr lang="en-US" sz="1400" dirty="0">
                <a:solidFill>
                  <a:srgbClr val="12232B"/>
                </a:solidFill>
                <a:latin typeface="Calibri" pitchFamily="34" charset="0"/>
                <a:ea typeface="Calibri" pitchFamily="34" charset="-122"/>
                <a:cs typeface="Calibri" pitchFamily="34" charset="-120"/>
              </a:rPr>
              <a:t>Tool results are redacted and checked for injection and toxic text before the model reads them</a:t>
            </a:r>
            <a:endParaRPr lang="en-US" sz="1400" dirty="0"/>
          </a:p>
        </p:txBody>
      </p:sp>
      <p:sp>
        <p:nvSpPr>
          <p:cNvPr id="12" name="card"/>
          <p:cNvSpPr/>
          <p:nvPr/>
        </p:nvSpPr>
        <p:spPr>
          <a:xfrm>
            <a:off x="8046720" y="4480560"/>
            <a:ext cx="3566160" cy="1691640"/>
          </a:xfrm>
          <a:prstGeom prst="rect">
            <a:avLst/>
          </a:prstGeom>
          <a:solidFill>
            <a:srgbClr val="FFFFFF"/>
          </a:solidFill>
          <a:ln w="9525">
            <a:solidFill>
              <a:srgbClr val="C9D3D6"/>
            </a:solidFill>
            <a:prstDash val="solid"/>
          </a:ln>
          <a:effectLst>
            <a:outerShdw blurRad="76200" dist="25400" dir="5400000" algn="bl" rotWithShape="0">
              <a:srgbClr val="000000">
                <a:alpha val="10000"/>
              </a:srgbClr>
            </a:outerShdw>
          </a:effectLst>
        </p:spPr>
      </p:sp>
      <p:sp>
        <p:nvSpPr>
          <p:cNvPr id="13" name="Text 9"/>
          <p:cNvSpPr txBox="1"/>
          <p:nvPr/>
        </p:nvSpPr>
        <p:spPr>
          <a:xfrm>
            <a:off x="8275320" y="4617720"/>
            <a:ext cx="3108960" cy="365760"/>
          </a:xfrm>
          <a:prstGeom prst="rect">
            <a:avLst/>
          </a:prstGeom>
          <a:noFill/>
          <a:ln/>
        </p:spPr>
        <p:txBody>
          <a:bodyPr wrap="square" lIns="0" tIns="0" rIns="0" bIns="0" rtlCol="0" anchor="t"/>
          <a:lstStyle/>
          <a:p>
            <a:pPr marL="0" indent="0">
              <a:buNone/>
            </a:pPr>
            <a:r>
              <a:rPr lang="en-US" sz="1700" b="1" dirty="0">
                <a:solidFill>
                  <a:srgbClr val="1F8A8A"/>
                </a:solidFill>
                <a:latin typeface="Cambria" pitchFamily="34" charset="0"/>
                <a:ea typeface="Cambria" pitchFamily="34" charset="-122"/>
                <a:cs typeface="Cambria" pitchFamily="34" charset="-120"/>
              </a:rPr>
              <a:t>Beyond MCP</a:t>
            </a:r>
            <a:endParaRPr lang="en-US" sz="1700" dirty="0"/>
          </a:p>
        </p:txBody>
      </p:sp>
      <p:sp>
        <p:nvSpPr>
          <p:cNvPr id="14" name="Text 10"/>
          <p:cNvSpPr txBox="1"/>
          <p:nvPr/>
        </p:nvSpPr>
        <p:spPr>
          <a:xfrm>
            <a:off x="8275320" y="5074920"/>
            <a:ext cx="3108960" cy="1051560"/>
          </a:xfrm>
          <a:prstGeom prst="rect">
            <a:avLst/>
          </a:prstGeom>
          <a:noFill/>
          <a:ln/>
        </p:spPr>
        <p:txBody>
          <a:bodyPr wrap="square" lIns="0" tIns="0" rIns="0" bIns="0" rtlCol="0" anchor="t"/>
          <a:lstStyle/>
          <a:p>
            <a:pPr marL="0" indent="0">
              <a:buNone/>
            </a:pPr>
            <a:r>
              <a:rPr lang="en-US" sz="1400" dirty="0">
                <a:solidFill>
                  <a:srgbClr val="12232B"/>
                </a:solidFill>
                <a:latin typeface="Calibri" pitchFamily="34" charset="0"/>
                <a:ea typeface="Calibri" pitchFamily="34" charset="-122"/>
                <a:cs typeface="Calibri" pitchFamily="34" charset="-120"/>
              </a:rPr>
              <a:t>The Metrics agent talks to Prometheus through its own typed tool, and the Code agent to GitHub</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66770"/>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47472"/>
            <a:ext cx="11091672" cy="274320"/>
          </a:xfrm>
          <a:prstGeom prst="rect">
            <a:avLst/>
          </a:prstGeom>
          <a:noFill/>
          <a:ln/>
        </p:spPr>
        <p:txBody>
          <a:bodyPr wrap="square" lIns="0" tIns="0" rIns="0" bIns="0" rtlCol="0" anchor="ctr"/>
          <a:lstStyle/>
          <a:p>
            <a:pPr marL="0" indent="0">
              <a:buNone/>
            </a:pPr>
            <a:r>
              <a:rPr lang="en-US" sz="1200" b="1" kern="0" spc="300" dirty="0">
                <a:solidFill>
                  <a:srgbClr val="1F8A8A"/>
                </a:solidFill>
                <a:latin typeface="Calibri" pitchFamily="34" charset="0"/>
                <a:ea typeface="Calibri" pitchFamily="34" charset="-122"/>
                <a:cs typeface="Calibri" pitchFamily="34" charset="-120"/>
              </a:rPr>
              <a:t>MULTI-AGENT PATTERNS</a:t>
            </a:r>
            <a:endParaRPr lang="en-US" sz="1200" dirty="0"/>
          </a:p>
        </p:txBody>
      </p:sp>
      <p:sp>
        <p:nvSpPr>
          <p:cNvPr id="3" name="Text 1"/>
          <p:cNvSpPr txBox="1"/>
          <p:nvPr/>
        </p:nvSpPr>
        <p:spPr>
          <a:xfrm>
            <a:off x="548640" y="621792"/>
            <a:ext cx="11091672" cy="731520"/>
          </a:xfrm>
          <a:prstGeom prst="rect">
            <a:avLst/>
          </a:prstGeom>
          <a:noFill/>
          <a:ln/>
        </p:spPr>
        <p:txBody>
          <a:bodyPr wrap="square" lIns="0" tIns="0" rIns="0" bIns="0" rtlCol="0" anchor="t"/>
          <a:lstStyle/>
          <a:p>
            <a:pPr marL="0" indent="0">
              <a:buNone/>
            </a:pPr>
            <a:r>
              <a:rPr lang="en-US" sz="3400" b="1" dirty="0">
                <a:solidFill>
                  <a:srgbClr val="12232B"/>
                </a:solidFill>
                <a:latin typeface="Cambria" pitchFamily="34" charset="0"/>
                <a:ea typeface="Cambria" pitchFamily="34" charset="-122"/>
                <a:cs typeface="Cambria" pitchFamily="34" charset="-120"/>
              </a:rPr>
              <a:t>Orchestration patterns in the system</a:t>
            </a:r>
            <a:endParaRPr lang="en-US" sz="3400" dirty="0"/>
          </a:p>
        </p:txBody>
      </p:sp>
      <p:sp>
        <p:nvSpPr>
          <p:cNvPr id="5" name="card"/>
          <p:cNvSpPr/>
          <p:nvPr/>
        </p:nvSpPr>
        <p:spPr>
          <a:xfrm>
            <a:off x="548640" y="1645920"/>
            <a:ext cx="3566160" cy="3566160"/>
          </a:xfrm>
          <a:prstGeom prst="rect">
            <a:avLst/>
          </a:prstGeom>
          <a:solidFill>
            <a:srgbClr val="FFFFFF"/>
          </a:solidFill>
          <a:ln w="9525">
            <a:solidFill>
              <a:srgbClr val="C9D3D6"/>
            </a:solidFill>
            <a:prstDash val="solid"/>
          </a:ln>
          <a:effectLst>
            <a:outerShdw blurRad="76200" dist="25400" dir="5400000" algn="bl" rotWithShape="0">
              <a:srgbClr val="000000">
                <a:alpha val="10000"/>
              </a:srgbClr>
            </a:outerShdw>
          </a:effectLst>
        </p:spPr>
      </p:sp>
      <p:sp>
        <p:nvSpPr>
          <p:cNvPr id="6" name="chip"/>
          <p:cNvSpPr/>
          <p:nvPr/>
        </p:nvSpPr>
        <p:spPr>
          <a:xfrm>
            <a:off x="777240" y="1828800"/>
            <a:ext cx="1554480" cy="365760"/>
          </a:xfrm>
          <a:prstGeom prst="roundRect">
            <a:avLst>
              <a:gd name="adj" fmla="val 50000"/>
            </a:avLst>
          </a:prstGeom>
          <a:solidFill>
            <a:srgbClr val="1F8A8A"/>
          </a:solidFill>
          <a:ln w="12700">
            <a:solidFill>
              <a:srgbClr val="1F8A8A"/>
            </a:solidFill>
            <a:prstDash val="solid"/>
          </a:ln>
        </p:spPr>
      </p:sp>
      <p:sp>
        <p:nvSpPr>
          <p:cNvPr id="7" name="Text 4"/>
          <p:cNvSpPr txBox="1"/>
          <p:nvPr/>
        </p:nvSpPr>
        <p:spPr>
          <a:xfrm>
            <a:off x="777240" y="1828800"/>
            <a:ext cx="155448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Parallel</a:t>
            </a:r>
            <a:endParaRPr lang="en-US" sz="1400" dirty="0"/>
          </a:p>
        </p:txBody>
      </p:sp>
      <p:sp>
        <p:nvSpPr>
          <p:cNvPr id="8" name="Text 5"/>
          <p:cNvSpPr txBox="1"/>
          <p:nvPr/>
        </p:nvSpPr>
        <p:spPr>
          <a:xfrm>
            <a:off x="777240" y="2423160"/>
            <a:ext cx="3108960" cy="2103120"/>
          </a:xfrm>
          <a:prstGeom prst="rect">
            <a:avLst/>
          </a:prstGeom>
          <a:noFill/>
          <a:ln/>
        </p:spPr>
        <p:txBody>
          <a:bodyPr wrap="square" lIns="0" tIns="0" rIns="0" bIns="0" rtlCol="0" anchor="t"/>
          <a:lstStyle/>
          <a:p>
            <a:pPr marL="0" indent="0">
              <a:buNone/>
            </a:pPr>
            <a:r>
              <a:rPr lang="en-US" sz="1600" dirty="0">
                <a:solidFill>
                  <a:srgbClr val="12232B"/>
                </a:solidFill>
                <a:latin typeface="Calibri" pitchFamily="34" charset="0"/>
                <a:ea typeface="Calibri" pitchFamily="34" charset="-122"/>
                <a:cs typeface="Calibri" pitchFamily="34" charset="-120"/>
              </a:rPr>
              <a:t>The Coordinator dispatches all three agents at once. Each is timed, and its outcome is recorded: completed, failed, timed out or not dispatched. One slow agent cannot block the others.</a:t>
            </a:r>
            <a:endParaRPr lang="en-US" sz="1600" dirty="0"/>
          </a:p>
        </p:txBody>
      </p:sp>
      <p:sp>
        <p:nvSpPr>
          <p:cNvPr id="9" name="Text 6"/>
          <p:cNvSpPr txBox="1"/>
          <p:nvPr/>
        </p:nvSpPr>
        <p:spPr>
          <a:xfrm>
            <a:off x="777240" y="4663440"/>
            <a:ext cx="3108960" cy="411480"/>
          </a:xfrm>
          <a:prstGeom prst="rect">
            <a:avLst/>
          </a:prstGeom>
          <a:noFill/>
          <a:ln/>
        </p:spPr>
        <p:txBody>
          <a:bodyPr wrap="square" lIns="0" tIns="0" rIns="0" bIns="0" rtlCol="0" anchor="t"/>
          <a:lstStyle/>
          <a:p>
            <a:pPr marL="0" indent="0">
              <a:buNone/>
            </a:pPr>
            <a:r>
              <a:rPr lang="en-US" sz="1200" i="1" dirty="0">
                <a:solidFill>
                  <a:srgbClr val="566770"/>
                </a:solidFill>
                <a:latin typeface="Calibri" pitchFamily="34" charset="0"/>
                <a:ea typeface="Calibri" pitchFamily="34" charset="-122"/>
                <a:cs typeface="Calibri" pitchFamily="34" charset="-120"/>
              </a:rPr>
              <a:t>asyncio.gather over per-agent tasks</a:t>
            </a:r>
            <a:endParaRPr lang="en-US" sz="1200" dirty="0"/>
          </a:p>
        </p:txBody>
      </p:sp>
      <p:sp>
        <p:nvSpPr>
          <p:cNvPr id="10" name="card"/>
          <p:cNvSpPr/>
          <p:nvPr/>
        </p:nvSpPr>
        <p:spPr>
          <a:xfrm>
            <a:off x="4297680" y="1645920"/>
            <a:ext cx="3566160" cy="3566160"/>
          </a:xfrm>
          <a:prstGeom prst="rect">
            <a:avLst/>
          </a:prstGeom>
          <a:solidFill>
            <a:srgbClr val="FFFFFF"/>
          </a:solidFill>
          <a:ln w="9525">
            <a:solidFill>
              <a:srgbClr val="C9D3D6"/>
            </a:solidFill>
            <a:prstDash val="solid"/>
          </a:ln>
          <a:effectLst>
            <a:outerShdw blurRad="76200" dist="25400" dir="5400000" algn="bl" rotWithShape="0">
              <a:srgbClr val="000000">
                <a:alpha val="10000"/>
              </a:srgbClr>
            </a:outerShdw>
          </a:effectLst>
        </p:spPr>
      </p:sp>
      <p:sp>
        <p:nvSpPr>
          <p:cNvPr id="11" name="chip"/>
          <p:cNvSpPr/>
          <p:nvPr/>
        </p:nvSpPr>
        <p:spPr>
          <a:xfrm>
            <a:off x="4526280" y="1828800"/>
            <a:ext cx="1554480" cy="365760"/>
          </a:xfrm>
          <a:prstGeom prst="roundRect">
            <a:avLst>
              <a:gd name="adj" fmla="val 50000"/>
            </a:avLst>
          </a:prstGeom>
          <a:solidFill>
            <a:srgbClr val="6B4C86"/>
          </a:solidFill>
          <a:ln w="12700">
            <a:solidFill>
              <a:srgbClr val="6B4C86"/>
            </a:solidFill>
            <a:prstDash val="solid"/>
          </a:ln>
        </p:spPr>
      </p:sp>
      <p:sp>
        <p:nvSpPr>
          <p:cNvPr id="12" name="Text 9"/>
          <p:cNvSpPr txBox="1"/>
          <p:nvPr/>
        </p:nvSpPr>
        <p:spPr>
          <a:xfrm>
            <a:off x="4526280" y="1828800"/>
            <a:ext cx="155448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Hierarchical</a:t>
            </a:r>
            <a:endParaRPr lang="en-US" sz="1400" dirty="0"/>
          </a:p>
        </p:txBody>
      </p:sp>
      <p:sp>
        <p:nvSpPr>
          <p:cNvPr id="13" name="Text 10"/>
          <p:cNvSpPr txBox="1"/>
          <p:nvPr/>
        </p:nvSpPr>
        <p:spPr>
          <a:xfrm>
            <a:off x="4526280" y="2423160"/>
            <a:ext cx="3108960" cy="2103120"/>
          </a:xfrm>
          <a:prstGeom prst="rect">
            <a:avLst/>
          </a:prstGeom>
          <a:noFill/>
          <a:ln/>
        </p:spPr>
        <p:txBody>
          <a:bodyPr wrap="square" lIns="0" tIns="0" rIns="0" bIns="0" rtlCol="0" anchor="t"/>
          <a:lstStyle/>
          <a:p>
            <a:pPr marL="0" indent="0">
              <a:buNone/>
            </a:pPr>
            <a:r>
              <a:rPr lang="en-US" sz="1600" dirty="0">
                <a:solidFill>
                  <a:srgbClr val="12232B"/>
                </a:solidFill>
                <a:latin typeface="Calibri" pitchFamily="34" charset="0"/>
                <a:ea typeface="Calibri" pitchFamily="34" charset="-122"/>
                <a:cs typeface="Calibri" pitchFamily="34" charset="-120"/>
              </a:rPr>
              <a:t>A Google ADK Coordinator supervises worker agents over A2A, collects their evidence and synthesises once per incident and attempt, so re-delivery is safe.</a:t>
            </a:r>
            <a:endParaRPr lang="en-US" sz="1600" dirty="0"/>
          </a:p>
        </p:txBody>
      </p:sp>
      <p:sp>
        <p:nvSpPr>
          <p:cNvPr id="14" name="Text 11"/>
          <p:cNvSpPr txBox="1"/>
          <p:nvPr/>
        </p:nvSpPr>
        <p:spPr>
          <a:xfrm>
            <a:off x="4526280" y="4663440"/>
            <a:ext cx="3108960" cy="411480"/>
          </a:xfrm>
          <a:prstGeom prst="rect">
            <a:avLst/>
          </a:prstGeom>
          <a:noFill/>
          <a:ln/>
        </p:spPr>
        <p:txBody>
          <a:bodyPr wrap="square" lIns="0" tIns="0" rIns="0" bIns="0" rtlCol="0" anchor="t"/>
          <a:lstStyle/>
          <a:p>
            <a:pPr marL="0" indent="0">
              <a:buNone/>
            </a:pPr>
            <a:r>
              <a:rPr lang="en-US" sz="1200" i="1" dirty="0">
                <a:solidFill>
                  <a:srgbClr val="566770"/>
                </a:solidFill>
                <a:latin typeface="Calibri" pitchFamily="34" charset="0"/>
                <a:ea typeface="Calibri" pitchFamily="34" charset="-122"/>
                <a:cs typeface="Calibri" pitchFamily="34" charset="-120"/>
              </a:rPr>
              <a:t>Coordinator over three workers</a:t>
            </a:r>
            <a:endParaRPr lang="en-US" sz="1200" dirty="0"/>
          </a:p>
        </p:txBody>
      </p:sp>
      <p:sp>
        <p:nvSpPr>
          <p:cNvPr id="15" name="card"/>
          <p:cNvSpPr/>
          <p:nvPr/>
        </p:nvSpPr>
        <p:spPr>
          <a:xfrm>
            <a:off x="8046720" y="1645920"/>
            <a:ext cx="3566160" cy="3566160"/>
          </a:xfrm>
          <a:prstGeom prst="rect">
            <a:avLst/>
          </a:prstGeom>
          <a:solidFill>
            <a:srgbClr val="FFFFFF"/>
          </a:solidFill>
          <a:ln w="9525">
            <a:solidFill>
              <a:srgbClr val="C9D3D6"/>
            </a:solidFill>
            <a:prstDash val="solid"/>
          </a:ln>
          <a:effectLst>
            <a:outerShdw blurRad="76200" dist="25400" dir="5400000" algn="bl" rotWithShape="0">
              <a:srgbClr val="000000">
                <a:alpha val="10000"/>
              </a:srgbClr>
            </a:outerShdw>
          </a:effectLst>
        </p:spPr>
      </p:sp>
      <p:sp>
        <p:nvSpPr>
          <p:cNvPr id="16" name="chip"/>
          <p:cNvSpPr/>
          <p:nvPr/>
        </p:nvSpPr>
        <p:spPr>
          <a:xfrm>
            <a:off x="8275320" y="1828800"/>
            <a:ext cx="1554480" cy="365760"/>
          </a:xfrm>
          <a:prstGeom prst="roundRect">
            <a:avLst>
              <a:gd name="adj" fmla="val 50000"/>
            </a:avLst>
          </a:prstGeom>
          <a:solidFill>
            <a:srgbClr val="12232B"/>
          </a:solidFill>
          <a:ln w="12700">
            <a:solidFill>
              <a:srgbClr val="12232B"/>
            </a:solidFill>
            <a:prstDash val="solid"/>
          </a:ln>
        </p:spPr>
      </p:sp>
      <p:sp>
        <p:nvSpPr>
          <p:cNvPr id="17" name="Text 14"/>
          <p:cNvSpPr txBox="1"/>
          <p:nvPr/>
        </p:nvSpPr>
        <p:spPr>
          <a:xfrm>
            <a:off x="8275320" y="1828800"/>
            <a:ext cx="155448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Sequential</a:t>
            </a:r>
            <a:endParaRPr lang="en-US" sz="1400" dirty="0"/>
          </a:p>
        </p:txBody>
      </p:sp>
      <p:sp>
        <p:nvSpPr>
          <p:cNvPr id="18" name="Text 15"/>
          <p:cNvSpPr txBox="1"/>
          <p:nvPr/>
        </p:nvSpPr>
        <p:spPr>
          <a:xfrm>
            <a:off x="8275320" y="2423160"/>
            <a:ext cx="3108960" cy="2103120"/>
          </a:xfrm>
          <a:prstGeom prst="rect">
            <a:avLst/>
          </a:prstGeom>
          <a:noFill/>
          <a:ln/>
        </p:spPr>
        <p:txBody>
          <a:bodyPr wrap="square" lIns="0" tIns="0" rIns="0" bIns="0" rtlCol="0" anchor="t"/>
          <a:lstStyle/>
          <a:p>
            <a:pPr marL="0" indent="0">
              <a:buNone/>
            </a:pPr>
            <a:r>
              <a:rPr lang="en-US" sz="1600" dirty="0">
                <a:solidFill>
                  <a:srgbClr val="12232B"/>
                </a:solidFill>
                <a:latin typeface="Calibri" pitchFamily="34" charset="0"/>
                <a:ea typeface="Calibri" pitchFamily="34" charset="-122"/>
                <a:cs typeface="Calibri" pitchFamily="34" charset="-120"/>
              </a:rPr>
              <a:t>Inside each agent the steps run in order: fetch context, analyse, reason, finalise. The Jenkins agent loops on reason until its evidence is enough or its budget ends.</a:t>
            </a:r>
            <a:endParaRPr lang="en-US" sz="1600" dirty="0"/>
          </a:p>
        </p:txBody>
      </p:sp>
      <p:sp>
        <p:nvSpPr>
          <p:cNvPr id="19" name="Text 16"/>
          <p:cNvSpPr txBox="1"/>
          <p:nvPr/>
        </p:nvSpPr>
        <p:spPr>
          <a:xfrm>
            <a:off x="8275320" y="4663440"/>
            <a:ext cx="3108960" cy="411480"/>
          </a:xfrm>
          <a:prstGeom prst="rect">
            <a:avLst/>
          </a:prstGeom>
          <a:noFill/>
          <a:ln/>
        </p:spPr>
        <p:txBody>
          <a:bodyPr wrap="square" lIns="0" tIns="0" rIns="0" bIns="0" rtlCol="0" anchor="t"/>
          <a:lstStyle/>
          <a:p>
            <a:pPr marL="0" indent="0">
              <a:buNone/>
            </a:pPr>
            <a:r>
              <a:rPr lang="en-US" sz="1200" i="1" dirty="0">
                <a:solidFill>
                  <a:srgbClr val="566770"/>
                </a:solidFill>
                <a:latin typeface="Calibri" pitchFamily="34" charset="0"/>
                <a:ea typeface="Calibri" pitchFamily="34" charset="-122"/>
                <a:cs typeface="Calibri" pitchFamily="34" charset="-120"/>
              </a:rPr>
              <a:t>CrewAI Flows and a Crew</a:t>
            </a:r>
            <a:endParaRPr lang="en-US" sz="1200" dirty="0"/>
          </a:p>
        </p:txBody>
      </p:sp>
      <p:sp>
        <p:nvSpPr>
          <p:cNvPr id="20" name="card"/>
          <p:cNvSpPr/>
          <p:nvPr/>
        </p:nvSpPr>
        <p:spPr>
          <a:xfrm>
            <a:off x="548640" y="5394960"/>
            <a:ext cx="11091672" cy="777240"/>
          </a:xfrm>
          <a:prstGeom prst="rect">
            <a:avLst/>
          </a:prstGeom>
          <a:solidFill>
            <a:srgbClr val="DCEEEC"/>
          </a:solidFill>
          <a:ln w="9525">
            <a:solidFill>
              <a:srgbClr val="DCEEEC"/>
            </a:solidFill>
            <a:prstDash val="solid"/>
          </a:ln>
        </p:spPr>
      </p:sp>
      <p:sp>
        <p:nvSpPr>
          <p:cNvPr id="21" name="Text 18"/>
          <p:cNvSpPr txBox="1"/>
          <p:nvPr/>
        </p:nvSpPr>
        <p:spPr>
          <a:xfrm>
            <a:off x="822960" y="5394960"/>
            <a:ext cx="10543032" cy="777240"/>
          </a:xfrm>
          <a:prstGeom prst="rect">
            <a:avLst/>
          </a:prstGeom>
          <a:noFill/>
          <a:ln/>
        </p:spPr>
        <p:txBody>
          <a:bodyPr wrap="square" lIns="0" tIns="0" rIns="0" bIns="0" rtlCol="0" anchor="ctr"/>
          <a:lstStyle/>
          <a:p>
            <a:pPr marL="0" indent="0">
              <a:buNone/>
            </a:pPr>
            <a:r>
              <a:rPr lang="en-US" sz="1500" b="1" dirty="0">
                <a:solidFill>
                  <a:srgbClr val="12232B"/>
                </a:solidFill>
                <a:latin typeface="Calibri" pitchFamily="34" charset="0"/>
                <a:ea typeface="Calibri" pitchFamily="34" charset="-122"/>
                <a:cs typeface="Calibri" pitchFamily="34" charset="-120"/>
              </a:rPr>
              <a:t>Trigger modes: the same agents can be started by A2A tasks or by RabbitMQ events, which allows the two messaging styles to be compared.</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66770"/>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47472"/>
            <a:ext cx="11091672" cy="274320"/>
          </a:xfrm>
          <a:prstGeom prst="rect">
            <a:avLst/>
          </a:prstGeom>
          <a:noFill/>
          <a:ln/>
        </p:spPr>
        <p:txBody>
          <a:bodyPr wrap="square" lIns="0" tIns="0" rIns="0" bIns="0" rtlCol="0" anchor="ctr"/>
          <a:lstStyle/>
          <a:p>
            <a:pPr marL="0" indent="0">
              <a:buNone/>
            </a:pPr>
            <a:r>
              <a:rPr lang="en-US" sz="1200" b="1" kern="0" spc="300" dirty="0">
                <a:solidFill>
                  <a:srgbClr val="1F8A8A"/>
                </a:solidFill>
                <a:latin typeface="Calibri" pitchFamily="34" charset="0"/>
                <a:ea typeface="Calibri" pitchFamily="34" charset="-122"/>
                <a:cs typeface="Calibri" pitchFamily="34" charset="-120"/>
              </a:rPr>
              <a:t>META-REASONING</a:t>
            </a:r>
            <a:endParaRPr lang="en-US" sz="1200" dirty="0"/>
          </a:p>
        </p:txBody>
      </p:sp>
      <p:sp>
        <p:nvSpPr>
          <p:cNvPr id="3" name="Text 1"/>
          <p:cNvSpPr txBox="1"/>
          <p:nvPr/>
        </p:nvSpPr>
        <p:spPr>
          <a:xfrm>
            <a:off x="548640" y="621792"/>
            <a:ext cx="11091672" cy="731520"/>
          </a:xfrm>
          <a:prstGeom prst="rect">
            <a:avLst/>
          </a:prstGeom>
          <a:noFill/>
          <a:ln/>
        </p:spPr>
        <p:txBody>
          <a:bodyPr wrap="square" lIns="0" tIns="0" rIns="0" bIns="0" rtlCol="0" anchor="t"/>
          <a:lstStyle/>
          <a:p>
            <a:pPr marL="0" indent="0">
              <a:buNone/>
            </a:pPr>
            <a:r>
              <a:rPr lang="en-US" sz="3400" b="1" dirty="0">
                <a:solidFill>
                  <a:srgbClr val="12232B"/>
                </a:solidFill>
                <a:latin typeface="Cambria" pitchFamily="34" charset="0"/>
                <a:ea typeface="Cambria" pitchFamily="34" charset="-122"/>
                <a:cs typeface="Cambria" pitchFamily="34" charset="-120"/>
              </a:rPr>
              <a:t>The Coordinator: confidence-weighted synthesis</a:t>
            </a:r>
            <a:endParaRPr lang="en-US" sz="3400" dirty="0"/>
          </a:p>
        </p:txBody>
      </p:sp>
      <p:sp>
        <p:nvSpPr>
          <p:cNvPr id="5" name="card"/>
          <p:cNvSpPr/>
          <p:nvPr/>
        </p:nvSpPr>
        <p:spPr>
          <a:xfrm>
            <a:off x="548640" y="1645920"/>
            <a:ext cx="3566160" cy="2331720"/>
          </a:xfrm>
          <a:prstGeom prst="rect">
            <a:avLst/>
          </a:prstGeom>
          <a:solidFill>
            <a:srgbClr val="FFFFFF"/>
          </a:solidFill>
          <a:ln w="9525">
            <a:solidFill>
              <a:srgbClr val="C9D3D6"/>
            </a:solidFill>
            <a:prstDash val="solid"/>
          </a:ln>
          <a:effectLst>
            <a:outerShdw blurRad="76200" dist="25400" dir="5400000" algn="bl" rotWithShape="0">
              <a:srgbClr val="000000">
                <a:alpha val="10000"/>
              </a:srgbClr>
            </a:outerShdw>
          </a:effectLst>
        </p:spPr>
      </p:sp>
      <p:sp>
        <p:nvSpPr>
          <p:cNvPr id="6" name="Text 3"/>
          <p:cNvSpPr txBox="1"/>
          <p:nvPr/>
        </p:nvSpPr>
        <p:spPr>
          <a:xfrm>
            <a:off x="777240" y="1783080"/>
            <a:ext cx="3108960" cy="411480"/>
          </a:xfrm>
          <a:prstGeom prst="rect">
            <a:avLst/>
          </a:prstGeom>
          <a:noFill/>
          <a:ln/>
        </p:spPr>
        <p:txBody>
          <a:bodyPr wrap="square" lIns="0" tIns="0" rIns="0" bIns="0" rtlCol="0" anchor="t"/>
          <a:lstStyle/>
          <a:p>
            <a:pPr marL="0" indent="0">
              <a:buNone/>
            </a:pPr>
            <a:r>
              <a:rPr lang="en-US" sz="1800" b="1" dirty="0">
                <a:solidFill>
                  <a:srgbClr val="1F8A8A"/>
                </a:solidFill>
                <a:latin typeface="Cambria" pitchFamily="34" charset="0"/>
                <a:ea typeface="Cambria" pitchFamily="34" charset="-122"/>
                <a:cs typeface="Cambria" pitchFamily="34" charset="-120"/>
              </a:rPr>
              <a:t>Agreement is evidence</a:t>
            </a:r>
            <a:endParaRPr lang="en-US" sz="1800" dirty="0"/>
          </a:p>
        </p:txBody>
      </p:sp>
      <p:sp>
        <p:nvSpPr>
          <p:cNvPr id="7" name="Text 4"/>
          <p:cNvSpPr txBox="1"/>
          <p:nvPr/>
        </p:nvSpPr>
        <p:spPr>
          <a:xfrm>
            <a:off x="777240" y="2331720"/>
            <a:ext cx="3108960" cy="1600200"/>
          </a:xfrm>
          <a:prstGeom prst="rect">
            <a:avLst/>
          </a:prstGeom>
          <a:noFill/>
          <a:ln/>
        </p:spPr>
        <p:txBody>
          <a:bodyPr wrap="square" lIns="0" tIns="0" rIns="0" bIns="0" rtlCol="0" anchor="t"/>
          <a:lstStyle/>
          <a:p>
            <a:pPr marL="0" indent="0">
              <a:buNone/>
            </a:pPr>
            <a:r>
              <a:rPr lang="en-US" sz="1500" dirty="0">
                <a:solidFill>
                  <a:srgbClr val="12232B"/>
                </a:solidFill>
                <a:latin typeface="Calibri" pitchFamily="34" charset="0"/>
                <a:ea typeface="Calibri" pitchFamily="34" charset="-122"/>
                <a:cs typeface="Calibri" pitchFamily="34" charset="-120"/>
              </a:rPr>
              <a:t>Two agents independently naming the same cause from different data raise confidence by 0.1 per extra agent.</a:t>
            </a:r>
            <a:endParaRPr lang="en-US" sz="1500" dirty="0"/>
          </a:p>
        </p:txBody>
      </p:sp>
      <p:sp>
        <p:nvSpPr>
          <p:cNvPr id="8" name="card"/>
          <p:cNvSpPr/>
          <p:nvPr/>
        </p:nvSpPr>
        <p:spPr>
          <a:xfrm>
            <a:off x="4297680" y="1645920"/>
            <a:ext cx="3566160" cy="2331720"/>
          </a:xfrm>
          <a:prstGeom prst="rect">
            <a:avLst/>
          </a:prstGeom>
          <a:solidFill>
            <a:srgbClr val="FFFFFF"/>
          </a:solidFill>
          <a:ln w="9525">
            <a:solidFill>
              <a:srgbClr val="C9D3D6"/>
            </a:solidFill>
            <a:prstDash val="solid"/>
          </a:ln>
          <a:effectLst>
            <a:outerShdw blurRad="76200" dist="25400" dir="5400000" algn="bl" rotWithShape="0">
              <a:srgbClr val="000000">
                <a:alpha val="10000"/>
              </a:srgbClr>
            </a:outerShdw>
          </a:effectLst>
        </p:spPr>
      </p:sp>
      <p:sp>
        <p:nvSpPr>
          <p:cNvPr id="9" name="Text 6"/>
          <p:cNvSpPr txBox="1"/>
          <p:nvPr/>
        </p:nvSpPr>
        <p:spPr>
          <a:xfrm>
            <a:off x="4526280" y="1783080"/>
            <a:ext cx="3108960" cy="411480"/>
          </a:xfrm>
          <a:prstGeom prst="rect">
            <a:avLst/>
          </a:prstGeom>
          <a:noFill/>
          <a:ln/>
        </p:spPr>
        <p:txBody>
          <a:bodyPr wrap="square" lIns="0" tIns="0" rIns="0" bIns="0" rtlCol="0" anchor="t"/>
          <a:lstStyle/>
          <a:p>
            <a:pPr marL="0" indent="0">
              <a:buNone/>
            </a:pPr>
            <a:r>
              <a:rPr lang="en-US" sz="1800" b="1" dirty="0">
                <a:solidFill>
                  <a:srgbClr val="1F8A8A"/>
                </a:solidFill>
                <a:latin typeface="Cambria" pitchFamily="34" charset="0"/>
                <a:ea typeface="Cambria" pitchFamily="34" charset="-122"/>
                <a:cs typeface="Cambria" pitchFamily="34" charset="-120"/>
              </a:rPr>
              <a:t>Disagreement is not noise</a:t>
            </a:r>
            <a:endParaRPr lang="en-US" sz="1800" dirty="0"/>
          </a:p>
        </p:txBody>
      </p:sp>
      <p:sp>
        <p:nvSpPr>
          <p:cNvPr id="10" name="Text 7"/>
          <p:cNvSpPr txBox="1"/>
          <p:nvPr/>
        </p:nvSpPr>
        <p:spPr>
          <a:xfrm>
            <a:off x="4526280" y="2331720"/>
            <a:ext cx="3108960" cy="1600200"/>
          </a:xfrm>
          <a:prstGeom prst="rect">
            <a:avLst/>
          </a:prstGeom>
          <a:noFill/>
          <a:ln/>
        </p:spPr>
        <p:txBody>
          <a:bodyPr wrap="square" lIns="0" tIns="0" rIns="0" bIns="0" rtlCol="0" anchor="t"/>
          <a:lstStyle/>
          <a:p>
            <a:pPr marL="0" indent="0">
              <a:buNone/>
            </a:pPr>
            <a:r>
              <a:rPr lang="en-US" sz="1500" dirty="0">
                <a:solidFill>
                  <a:srgbClr val="12232B"/>
                </a:solidFill>
                <a:latin typeface="Calibri" pitchFamily="34" charset="0"/>
                <a:ea typeface="Calibri" pitchFamily="34" charset="-122"/>
                <a:cs typeface="Calibri" pitchFamily="34" charset="-120"/>
              </a:rPr>
              <a:t>Each competing cause costs 0.15, which is more than agreement earns. The report names the conflict instead of choosing silently.</a:t>
            </a:r>
            <a:endParaRPr lang="en-US" sz="1500" dirty="0"/>
          </a:p>
        </p:txBody>
      </p:sp>
      <p:sp>
        <p:nvSpPr>
          <p:cNvPr id="11" name="card"/>
          <p:cNvSpPr/>
          <p:nvPr/>
        </p:nvSpPr>
        <p:spPr>
          <a:xfrm>
            <a:off x="8046720" y="1645920"/>
            <a:ext cx="3566160" cy="2331720"/>
          </a:xfrm>
          <a:prstGeom prst="rect">
            <a:avLst/>
          </a:prstGeom>
          <a:solidFill>
            <a:srgbClr val="FFFFFF"/>
          </a:solidFill>
          <a:ln w="9525">
            <a:solidFill>
              <a:srgbClr val="C9D3D6"/>
            </a:solidFill>
            <a:prstDash val="solid"/>
          </a:ln>
          <a:effectLst>
            <a:outerShdw blurRad="76200" dist="25400" dir="5400000" algn="bl" rotWithShape="0">
              <a:srgbClr val="000000">
                <a:alpha val="10000"/>
              </a:srgbClr>
            </a:outerShdw>
          </a:effectLst>
        </p:spPr>
      </p:sp>
      <p:sp>
        <p:nvSpPr>
          <p:cNvPr id="12" name="Text 9"/>
          <p:cNvSpPr txBox="1"/>
          <p:nvPr/>
        </p:nvSpPr>
        <p:spPr>
          <a:xfrm>
            <a:off x="8275320" y="1783080"/>
            <a:ext cx="3108960" cy="411480"/>
          </a:xfrm>
          <a:prstGeom prst="rect">
            <a:avLst/>
          </a:prstGeom>
          <a:noFill/>
          <a:ln/>
        </p:spPr>
        <p:txBody>
          <a:bodyPr wrap="square" lIns="0" tIns="0" rIns="0" bIns="0" rtlCol="0" anchor="t"/>
          <a:lstStyle/>
          <a:p>
            <a:pPr marL="0" indent="0">
              <a:buNone/>
            </a:pPr>
            <a:r>
              <a:rPr lang="en-US" sz="1800" b="1" dirty="0">
                <a:solidFill>
                  <a:srgbClr val="1F8A8A"/>
                </a:solidFill>
                <a:latin typeface="Cambria" pitchFamily="34" charset="0"/>
                <a:ea typeface="Cambria" pitchFamily="34" charset="-122"/>
                <a:cs typeface="Cambria" pitchFamily="34" charset="-120"/>
              </a:rPr>
              <a:t>Abstention is a finding</a:t>
            </a:r>
            <a:endParaRPr lang="en-US" sz="1800" dirty="0"/>
          </a:p>
        </p:txBody>
      </p:sp>
      <p:sp>
        <p:nvSpPr>
          <p:cNvPr id="13" name="Text 10"/>
          <p:cNvSpPr txBox="1"/>
          <p:nvPr/>
        </p:nvSpPr>
        <p:spPr>
          <a:xfrm>
            <a:off x="8275320" y="2331720"/>
            <a:ext cx="3108960" cy="1600200"/>
          </a:xfrm>
          <a:prstGeom prst="rect">
            <a:avLst/>
          </a:prstGeom>
          <a:noFill/>
          <a:ln/>
        </p:spPr>
        <p:txBody>
          <a:bodyPr wrap="square" lIns="0" tIns="0" rIns="0" bIns="0" rtlCol="0" anchor="t"/>
          <a:lstStyle/>
          <a:p>
            <a:pPr marL="0" indent="0">
              <a:buNone/>
            </a:pPr>
            <a:r>
              <a:rPr lang="en-US" sz="1500" dirty="0">
                <a:solidFill>
                  <a:srgbClr val="12232B"/>
                </a:solidFill>
                <a:latin typeface="Calibri" pitchFamily="34" charset="0"/>
                <a:ea typeface="Calibri" pitchFamily="34" charset="-122"/>
                <a:cs typeface="Calibri" pitchFamily="34" charset="-120"/>
              </a:rPr>
              <a:t>An agent that says its evidence does not explain the failure is recorded as such, not treated as missing.</a:t>
            </a:r>
            <a:endParaRPr lang="en-US" sz="1500" dirty="0"/>
          </a:p>
        </p:txBody>
      </p:sp>
      <p:sp>
        <p:nvSpPr>
          <p:cNvPr id="14" name="Text 11"/>
          <p:cNvSpPr txBox="1"/>
          <p:nvPr/>
        </p:nvSpPr>
        <p:spPr>
          <a:xfrm>
            <a:off x="548640" y="4206240"/>
            <a:ext cx="11091672" cy="320040"/>
          </a:xfrm>
          <a:prstGeom prst="rect">
            <a:avLst/>
          </a:prstGeom>
          <a:noFill/>
          <a:ln/>
        </p:spPr>
        <p:txBody>
          <a:bodyPr wrap="square" lIns="0" tIns="0" rIns="0" bIns="0" rtlCol="0" anchor="t"/>
          <a:lstStyle/>
          <a:p>
            <a:pPr marL="0" indent="0">
              <a:buNone/>
            </a:pPr>
            <a:r>
              <a:rPr lang="en-US" sz="1700" b="1" dirty="0">
                <a:solidFill>
                  <a:srgbClr val="12232B"/>
                </a:solidFill>
                <a:latin typeface="Cambria" pitchFamily="34" charset="0"/>
                <a:ea typeface="Cambria" pitchFamily="34" charset="-122"/>
                <a:cs typeface="Cambria" pitchFamily="34" charset="-120"/>
              </a:rPr>
              <a:t>What every incident report carries</a:t>
            </a:r>
            <a:endParaRPr lang="en-US" sz="1700" dirty="0"/>
          </a:p>
        </p:txBody>
      </p:sp>
      <p:sp>
        <p:nvSpPr>
          <p:cNvPr id="15" name="card"/>
          <p:cNvSpPr/>
          <p:nvPr/>
        </p:nvSpPr>
        <p:spPr>
          <a:xfrm>
            <a:off x="548640" y="4617720"/>
            <a:ext cx="2072030" cy="1280160"/>
          </a:xfrm>
          <a:prstGeom prst="rect">
            <a:avLst/>
          </a:prstGeom>
          <a:solidFill>
            <a:srgbClr val="DCEEEC"/>
          </a:solidFill>
          <a:ln w="9525">
            <a:solidFill>
              <a:srgbClr val="DCEEEC"/>
            </a:solidFill>
            <a:prstDash val="solid"/>
          </a:ln>
        </p:spPr>
      </p:sp>
      <p:sp>
        <p:nvSpPr>
          <p:cNvPr id="16" name="Text 13"/>
          <p:cNvSpPr txBox="1"/>
          <p:nvPr/>
        </p:nvSpPr>
        <p:spPr>
          <a:xfrm>
            <a:off x="685800" y="4709160"/>
            <a:ext cx="1797710" cy="365760"/>
          </a:xfrm>
          <a:prstGeom prst="rect">
            <a:avLst/>
          </a:prstGeom>
          <a:noFill/>
          <a:ln/>
        </p:spPr>
        <p:txBody>
          <a:bodyPr wrap="square" lIns="0" tIns="0" rIns="0" bIns="0" rtlCol="0" anchor="t"/>
          <a:lstStyle/>
          <a:p>
            <a:pPr marL="0" indent="0">
              <a:buNone/>
            </a:pPr>
            <a:r>
              <a:rPr lang="en-US" sz="1400" b="1" dirty="0">
                <a:solidFill>
                  <a:srgbClr val="12232B"/>
                </a:solidFill>
                <a:latin typeface="Calibri" pitchFamily="34" charset="0"/>
                <a:ea typeface="Calibri" pitchFamily="34" charset="-122"/>
                <a:cs typeface="Calibri" pitchFamily="34" charset="-120"/>
              </a:rPr>
              <a:t>Verdict</a:t>
            </a:r>
            <a:endParaRPr lang="en-US" sz="1400" dirty="0"/>
          </a:p>
        </p:txBody>
      </p:sp>
      <p:sp>
        <p:nvSpPr>
          <p:cNvPr id="17" name="Text 14"/>
          <p:cNvSpPr txBox="1"/>
          <p:nvPr/>
        </p:nvSpPr>
        <p:spPr>
          <a:xfrm>
            <a:off x="685800" y="5120640"/>
            <a:ext cx="1797710" cy="731520"/>
          </a:xfrm>
          <a:prstGeom prst="rect">
            <a:avLst/>
          </a:prstGeom>
          <a:noFill/>
          <a:ln/>
        </p:spPr>
        <p:txBody>
          <a:bodyPr wrap="square" lIns="0" tIns="0" rIns="0" bIns="0" rtlCol="0" anchor="t"/>
          <a:lstStyle/>
          <a:p>
            <a:pPr marL="0" indent="0">
              <a:buNone/>
            </a:pPr>
            <a:r>
              <a:rPr lang="en-US" sz="1300" dirty="0">
                <a:solidFill>
                  <a:srgbClr val="566770"/>
                </a:solidFill>
                <a:latin typeface="Calibri" pitchFamily="34" charset="0"/>
                <a:ea typeface="Calibri" pitchFamily="34" charset="-122"/>
                <a:cs typeface="Calibri" pitchFamily="34" charset="-120"/>
              </a:rPr>
              <a:t>leading cause or unknown</a:t>
            </a:r>
            <a:endParaRPr lang="en-US" sz="1300" dirty="0"/>
          </a:p>
        </p:txBody>
      </p:sp>
      <p:sp>
        <p:nvSpPr>
          <p:cNvPr id="18" name="card"/>
          <p:cNvSpPr/>
          <p:nvPr/>
        </p:nvSpPr>
        <p:spPr>
          <a:xfrm>
            <a:off x="2803550" y="4617720"/>
            <a:ext cx="2072030" cy="1280160"/>
          </a:xfrm>
          <a:prstGeom prst="rect">
            <a:avLst/>
          </a:prstGeom>
          <a:solidFill>
            <a:srgbClr val="DCEEEC"/>
          </a:solidFill>
          <a:ln w="9525">
            <a:solidFill>
              <a:srgbClr val="DCEEEC"/>
            </a:solidFill>
            <a:prstDash val="solid"/>
          </a:ln>
        </p:spPr>
      </p:sp>
      <p:sp>
        <p:nvSpPr>
          <p:cNvPr id="19" name="Text 16"/>
          <p:cNvSpPr txBox="1"/>
          <p:nvPr/>
        </p:nvSpPr>
        <p:spPr>
          <a:xfrm>
            <a:off x="2940710" y="4709160"/>
            <a:ext cx="1797710" cy="365760"/>
          </a:xfrm>
          <a:prstGeom prst="rect">
            <a:avLst/>
          </a:prstGeom>
          <a:noFill/>
          <a:ln/>
        </p:spPr>
        <p:txBody>
          <a:bodyPr wrap="square" lIns="0" tIns="0" rIns="0" bIns="0" rtlCol="0" anchor="t"/>
          <a:lstStyle/>
          <a:p>
            <a:pPr marL="0" indent="0">
              <a:buNone/>
            </a:pPr>
            <a:r>
              <a:rPr lang="en-US" sz="1400" b="1" dirty="0">
                <a:solidFill>
                  <a:srgbClr val="12232B"/>
                </a:solidFill>
                <a:latin typeface="Calibri" pitchFamily="34" charset="0"/>
                <a:ea typeface="Calibri" pitchFamily="34" charset="-122"/>
                <a:cs typeface="Calibri" pitchFamily="34" charset="-120"/>
              </a:rPr>
              <a:t>Completeness</a:t>
            </a:r>
            <a:endParaRPr lang="en-US" sz="1400" dirty="0"/>
          </a:p>
        </p:txBody>
      </p:sp>
      <p:sp>
        <p:nvSpPr>
          <p:cNvPr id="20" name="Text 17"/>
          <p:cNvSpPr txBox="1"/>
          <p:nvPr/>
        </p:nvSpPr>
        <p:spPr>
          <a:xfrm>
            <a:off x="2940710" y="5120640"/>
            <a:ext cx="1797710" cy="731520"/>
          </a:xfrm>
          <a:prstGeom prst="rect">
            <a:avLst/>
          </a:prstGeom>
          <a:noFill/>
          <a:ln/>
        </p:spPr>
        <p:txBody>
          <a:bodyPr wrap="square" lIns="0" tIns="0" rIns="0" bIns="0" rtlCol="0" anchor="t"/>
          <a:lstStyle/>
          <a:p>
            <a:pPr marL="0" indent="0">
              <a:buNone/>
            </a:pPr>
            <a:r>
              <a:rPr lang="en-US" sz="1300" dirty="0">
                <a:solidFill>
                  <a:srgbClr val="566770"/>
                </a:solidFill>
                <a:latin typeface="Calibri" pitchFamily="34" charset="0"/>
                <a:ea typeface="Calibri" pitchFamily="34" charset="-122"/>
                <a:cs typeface="Calibri" pitchFamily="34" charset="-120"/>
              </a:rPr>
              <a:t>complete or incomplete</a:t>
            </a:r>
            <a:endParaRPr lang="en-US" sz="1300" dirty="0"/>
          </a:p>
        </p:txBody>
      </p:sp>
      <p:sp>
        <p:nvSpPr>
          <p:cNvPr id="21" name="card"/>
          <p:cNvSpPr/>
          <p:nvPr/>
        </p:nvSpPr>
        <p:spPr>
          <a:xfrm>
            <a:off x="5058461" y="4617720"/>
            <a:ext cx="2072030" cy="1280160"/>
          </a:xfrm>
          <a:prstGeom prst="rect">
            <a:avLst/>
          </a:prstGeom>
          <a:solidFill>
            <a:srgbClr val="DCEEEC"/>
          </a:solidFill>
          <a:ln w="9525">
            <a:solidFill>
              <a:srgbClr val="DCEEEC"/>
            </a:solidFill>
            <a:prstDash val="solid"/>
          </a:ln>
        </p:spPr>
      </p:sp>
      <p:sp>
        <p:nvSpPr>
          <p:cNvPr id="22" name="Text 19"/>
          <p:cNvSpPr txBox="1"/>
          <p:nvPr/>
        </p:nvSpPr>
        <p:spPr>
          <a:xfrm>
            <a:off x="5195621" y="4709160"/>
            <a:ext cx="1797710" cy="365760"/>
          </a:xfrm>
          <a:prstGeom prst="rect">
            <a:avLst/>
          </a:prstGeom>
          <a:noFill/>
          <a:ln/>
        </p:spPr>
        <p:txBody>
          <a:bodyPr wrap="square" lIns="0" tIns="0" rIns="0" bIns="0" rtlCol="0" anchor="t"/>
          <a:lstStyle/>
          <a:p>
            <a:pPr marL="0" indent="0">
              <a:buNone/>
            </a:pPr>
            <a:r>
              <a:rPr lang="en-US" sz="1400" b="1" dirty="0">
                <a:solidFill>
                  <a:srgbClr val="12232B"/>
                </a:solidFill>
                <a:latin typeface="Calibri" pitchFamily="34" charset="0"/>
                <a:ea typeface="Calibri" pitchFamily="34" charset="-122"/>
                <a:cs typeface="Calibri" pitchFamily="34" charset="-120"/>
              </a:rPr>
              <a:t>Conflict status</a:t>
            </a:r>
            <a:endParaRPr lang="en-US" sz="1400" dirty="0"/>
          </a:p>
        </p:txBody>
      </p:sp>
      <p:sp>
        <p:nvSpPr>
          <p:cNvPr id="23" name="Text 20"/>
          <p:cNvSpPr txBox="1"/>
          <p:nvPr/>
        </p:nvSpPr>
        <p:spPr>
          <a:xfrm>
            <a:off x="5195621" y="5120640"/>
            <a:ext cx="1797710" cy="731520"/>
          </a:xfrm>
          <a:prstGeom prst="rect">
            <a:avLst/>
          </a:prstGeom>
          <a:noFill/>
          <a:ln/>
        </p:spPr>
        <p:txBody>
          <a:bodyPr wrap="square" lIns="0" tIns="0" rIns="0" bIns="0" rtlCol="0" anchor="t"/>
          <a:lstStyle/>
          <a:p>
            <a:pPr marL="0" indent="0">
              <a:buNone/>
            </a:pPr>
            <a:r>
              <a:rPr lang="en-US" sz="1300" dirty="0">
                <a:solidFill>
                  <a:srgbClr val="566770"/>
                </a:solidFill>
                <a:latin typeface="Calibri" pitchFamily="34" charset="0"/>
                <a:ea typeface="Calibri" pitchFamily="34" charset="-122"/>
                <a:cs typeface="Calibri" pitchFamily="34" charset="-120"/>
              </a:rPr>
              <a:t>none, close or explicit</a:t>
            </a:r>
            <a:endParaRPr lang="en-US" sz="1300" dirty="0"/>
          </a:p>
        </p:txBody>
      </p:sp>
      <p:sp>
        <p:nvSpPr>
          <p:cNvPr id="24" name="card"/>
          <p:cNvSpPr/>
          <p:nvPr/>
        </p:nvSpPr>
        <p:spPr>
          <a:xfrm>
            <a:off x="7313371" y="4617720"/>
            <a:ext cx="2072030" cy="1280160"/>
          </a:xfrm>
          <a:prstGeom prst="rect">
            <a:avLst/>
          </a:prstGeom>
          <a:solidFill>
            <a:srgbClr val="DCEEEC"/>
          </a:solidFill>
          <a:ln w="9525">
            <a:solidFill>
              <a:srgbClr val="DCEEEC"/>
            </a:solidFill>
            <a:prstDash val="solid"/>
          </a:ln>
        </p:spPr>
      </p:sp>
      <p:sp>
        <p:nvSpPr>
          <p:cNvPr id="25" name="Text 22"/>
          <p:cNvSpPr txBox="1"/>
          <p:nvPr/>
        </p:nvSpPr>
        <p:spPr>
          <a:xfrm>
            <a:off x="7450531" y="4709160"/>
            <a:ext cx="1797710" cy="365760"/>
          </a:xfrm>
          <a:prstGeom prst="rect">
            <a:avLst/>
          </a:prstGeom>
          <a:noFill/>
          <a:ln/>
        </p:spPr>
        <p:txBody>
          <a:bodyPr wrap="square" lIns="0" tIns="0" rIns="0" bIns="0" rtlCol="0" anchor="t"/>
          <a:lstStyle/>
          <a:p>
            <a:pPr marL="0" indent="0">
              <a:buNone/>
            </a:pPr>
            <a:r>
              <a:rPr lang="en-US" sz="1400" b="1" dirty="0">
                <a:solidFill>
                  <a:srgbClr val="12232B"/>
                </a:solidFill>
                <a:latin typeface="Calibri" pitchFamily="34" charset="0"/>
                <a:ea typeface="Calibri" pitchFamily="34" charset="-122"/>
                <a:cs typeface="Calibri" pitchFamily="34" charset="-120"/>
              </a:rPr>
              <a:t>Agent verdicts</a:t>
            </a:r>
            <a:endParaRPr lang="en-US" sz="1400" dirty="0"/>
          </a:p>
        </p:txBody>
      </p:sp>
      <p:sp>
        <p:nvSpPr>
          <p:cNvPr id="26" name="Text 23"/>
          <p:cNvSpPr txBox="1"/>
          <p:nvPr/>
        </p:nvSpPr>
        <p:spPr>
          <a:xfrm>
            <a:off x="7450531" y="5120640"/>
            <a:ext cx="1797710" cy="731520"/>
          </a:xfrm>
          <a:prstGeom prst="rect">
            <a:avLst/>
          </a:prstGeom>
          <a:noFill/>
          <a:ln/>
        </p:spPr>
        <p:txBody>
          <a:bodyPr wrap="square" lIns="0" tIns="0" rIns="0" bIns="0" rtlCol="0" anchor="t"/>
          <a:lstStyle/>
          <a:p>
            <a:pPr marL="0" indent="0">
              <a:buNone/>
            </a:pPr>
            <a:r>
              <a:rPr lang="en-US" sz="1300" dirty="0">
                <a:solidFill>
                  <a:srgbClr val="566770"/>
                </a:solidFill>
                <a:latin typeface="Calibri" pitchFamily="34" charset="0"/>
                <a:ea typeface="Calibri" pitchFamily="34" charset="-122"/>
                <a:cs typeface="Calibri" pitchFamily="34" charset="-120"/>
              </a:rPr>
              <a:t>copied in unchanged</a:t>
            </a:r>
            <a:endParaRPr lang="en-US" sz="1300" dirty="0"/>
          </a:p>
        </p:txBody>
      </p:sp>
      <p:sp>
        <p:nvSpPr>
          <p:cNvPr id="27" name="card"/>
          <p:cNvSpPr/>
          <p:nvPr/>
        </p:nvSpPr>
        <p:spPr>
          <a:xfrm>
            <a:off x="9568282" y="4617720"/>
            <a:ext cx="2072030" cy="1280160"/>
          </a:xfrm>
          <a:prstGeom prst="rect">
            <a:avLst/>
          </a:prstGeom>
          <a:solidFill>
            <a:srgbClr val="DCEEEC"/>
          </a:solidFill>
          <a:ln w="9525">
            <a:solidFill>
              <a:srgbClr val="DCEEEC"/>
            </a:solidFill>
            <a:prstDash val="solid"/>
          </a:ln>
        </p:spPr>
      </p:sp>
      <p:sp>
        <p:nvSpPr>
          <p:cNvPr id="28" name="Text 25"/>
          <p:cNvSpPr txBox="1"/>
          <p:nvPr/>
        </p:nvSpPr>
        <p:spPr>
          <a:xfrm>
            <a:off x="9705442" y="4709160"/>
            <a:ext cx="1797710" cy="365760"/>
          </a:xfrm>
          <a:prstGeom prst="rect">
            <a:avLst/>
          </a:prstGeom>
          <a:noFill/>
          <a:ln/>
        </p:spPr>
        <p:txBody>
          <a:bodyPr wrap="square" lIns="0" tIns="0" rIns="0" bIns="0" rtlCol="0" anchor="t"/>
          <a:lstStyle/>
          <a:p>
            <a:pPr marL="0" indent="0">
              <a:buNone/>
            </a:pPr>
            <a:r>
              <a:rPr lang="en-US" sz="1400" b="1" dirty="0">
                <a:solidFill>
                  <a:srgbClr val="12232B"/>
                </a:solidFill>
                <a:latin typeface="Calibri" pitchFamily="34" charset="0"/>
                <a:ea typeface="Calibri" pitchFamily="34" charset="-122"/>
                <a:cs typeface="Calibri" pitchFamily="34" charset="-120"/>
              </a:rPr>
              <a:t>Actionable</a:t>
            </a:r>
            <a:endParaRPr lang="en-US" sz="1400" dirty="0"/>
          </a:p>
        </p:txBody>
      </p:sp>
      <p:sp>
        <p:nvSpPr>
          <p:cNvPr id="29" name="Text 26"/>
          <p:cNvSpPr txBox="1"/>
          <p:nvPr/>
        </p:nvSpPr>
        <p:spPr>
          <a:xfrm>
            <a:off x="9705442" y="5120640"/>
            <a:ext cx="1797710" cy="731520"/>
          </a:xfrm>
          <a:prstGeom prst="rect">
            <a:avLst/>
          </a:prstGeom>
          <a:noFill/>
          <a:ln/>
        </p:spPr>
        <p:txBody>
          <a:bodyPr wrap="square" lIns="0" tIns="0" rIns="0" bIns="0" rtlCol="0" anchor="t"/>
          <a:lstStyle/>
          <a:p>
            <a:pPr marL="0" indent="0">
              <a:buNone/>
            </a:pPr>
            <a:r>
              <a:rPr lang="en-US" sz="1300" dirty="0">
                <a:solidFill>
                  <a:srgbClr val="566770"/>
                </a:solidFill>
                <a:latin typeface="Calibri" pitchFamily="34" charset="0"/>
                <a:ea typeface="Calibri" pitchFamily="34" charset="-122"/>
                <a:cs typeface="Calibri" pitchFamily="34" charset="-120"/>
              </a:rPr>
              <a:t>complete and at least 0.5</a:t>
            </a:r>
            <a:endParaRPr lang="en-US" sz="1300" dirty="0"/>
          </a:p>
        </p:txBody>
      </p:sp>
      <p:sp>
        <p:nvSpPr>
          <p:cNvPr id="4"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66770"/>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47472"/>
            <a:ext cx="11091672" cy="274320"/>
          </a:xfrm>
          <a:prstGeom prst="rect">
            <a:avLst/>
          </a:prstGeom>
          <a:noFill/>
          <a:ln/>
        </p:spPr>
        <p:txBody>
          <a:bodyPr wrap="square" lIns="0" tIns="0" rIns="0" bIns="0" rtlCol="0" anchor="ctr"/>
          <a:lstStyle/>
          <a:p>
            <a:pPr marL="0" indent="0">
              <a:buNone/>
            </a:pPr>
            <a:r>
              <a:rPr lang="en-US" sz="1200" b="1" kern="0" spc="300" dirty="0">
                <a:solidFill>
                  <a:srgbClr val="1F8A8A"/>
                </a:solidFill>
                <a:latin typeface="Calibri" pitchFamily="34" charset="0"/>
                <a:ea typeface="Calibri" pitchFamily="34" charset="-122"/>
                <a:cs typeface="Calibri" pitchFamily="34" charset="-120"/>
              </a:rPr>
              <a:t>ACTION AND FEEDBACK</a:t>
            </a:r>
            <a:endParaRPr lang="en-US" sz="1200" dirty="0"/>
          </a:p>
        </p:txBody>
      </p:sp>
      <p:sp>
        <p:nvSpPr>
          <p:cNvPr id="3" name="Text 1"/>
          <p:cNvSpPr txBox="1"/>
          <p:nvPr/>
        </p:nvSpPr>
        <p:spPr>
          <a:xfrm>
            <a:off x="548640" y="621792"/>
            <a:ext cx="11091672" cy="731520"/>
          </a:xfrm>
          <a:prstGeom prst="rect">
            <a:avLst/>
          </a:prstGeom>
          <a:noFill/>
          <a:ln/>
        </p:spPr>
        <p:txBody>
          <a:bodyPr wrap="square" lIns="0" tIns="0" rIns="0" bIns="0" rtlCol="0" anchor="t"/>
          <a:lstStyle/>
          <a:p>
            <a:pPr marL="0" indent="0">
              <a:buNone/>
            </a:pPr>
            <a:r>
              <a:rPr lang="en-US" sz="3400" b="1" dirty="0">
                <a:solidFill>
                  <a:srgbClr val="12232B"/>
                </a:solidFill>
                <a:latin typeface="Cambria" pitchFamily="34" charset="0"/>
                <a:ea typeface="Cambria" pitchFamily="34" charset="-122"/>
                <a:cs typeface="Cambria" pitchFamily="34" charset="-120"/>
              </a:rPr>
              <a:t>From verdict to fix: acting under control</a:t>
            </a:r>
            <a:endParaRPr lang="en-US" sz="3400" dirty="0"/>
          </a:p>
        </p:txBody>
      </p:sp>
      <p:sp>
        <p:nvSpPr>
          <p:cNvPr id="5" name="node"/>
          <p:cNvSpPr/>
          <p:nvPr/>
        </p:nvSpPr>
        <p:spPr>
          <a:xfrm>
            <a:off x="548640" y="1691640"/>
            <a:ext cx="1463040" cy="868680"/>
          </a:xfrm>
          <a:prstGeom prst="rect">
            <a:avLst/>
          </a:prstGeom>
          <a:solidFill>
            <a:srgbClr val="12232B"/>
          </a:solidFill>
          <a:ln w="9525">
            <a:solidFill>
              <a:srgbClr val="12232B"/>
            </a:solidFill>
            <a:prstDash val="solid"/>
          </a:ln>
        </p:spPr>
      </p:sp>
      <p:sp>
        <p:nvSpPr>
          <p:cNvPr id="6" name="Text 3"/>
          <p:cNvSpPr txBox="1"/>
          <p:nvPr/>
        </p:nvSpPr>
        <p:spPr>
          <a:xfrm>
            <a:off x="548640" y="1691640"/>
            <a:ext cx="1463040" cy="868680"/>
          </a:xfrm>
          <a:prstGeom prst="rect">
            <a:avLst/>
          </a:prstGeom>
          <a:noFill/>
          <a:ln/>
        </p:spPr>
        <p:txBody>
          <a:bodyPr wrap="square" lIns="76200" tIns="76200" rIns="76200" bIns="7620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Report</a:t>
            </a:r>
            <a:endParaRPr lang="en-US" sz="1300" dirty="0"/>
          </a:p>
        </p:txBody>
      </p:sp>
      <p:sp>
        <p:nvSpPr>
          <p:cNvPr id="7" name="arrow"/>
          <p:cNvSpPr/>
          <p:nvPr/>
        </p:nvSpPr>
        <p:spPr>
          <a:xfrm>
            <a:off x="2011680" y="2125980"/>
            <a:ext cx="141732" cy="0"/>
          </a:xfrm>
          <a:prstGeom prst="line">
            <a:avLst/>
          </a:prstGeom>
          <a:noFill/>
          <a:ln w="19050">
            <a:solidFill>
              <a:srgbClr val="566770"/>
            </a:solidFill>
            <a:prstDash val="solid"/>
            <a:tailEnd type="triangle"/>
          </a:ln>
        </p:spPr>
      </p:sp>
      <p:sp>
        <p:nvSpPr>
          <p:cNvPr id="8" name="node"/>
          <p:cNvSpPr/>
          <p:nvPr/>
        </p:nvSpPr>
        <p:spPr>
          <a:xfrm>
            <a:off x="2153412" y="1691640"/>
            <a:ext cx="1463040" cy="868680"/>
          </a:xfrm>
          <a:prstGeom prst="rect">
            <a:avLst/>
          </a:prstGeom>
          <a:solidFill>
            <a:srgbClr val="1F8A8A"/>
          </a:solidFill>
          <a:ln w="9525">
            <a:solidFill>
              <a:srgbClr val="1F8A8A"/>
            </a:solidFill>
            <a:prstDash val="solid"/>
          </a:ln>
        </p:spPr>
      </p:sp>
      <p:sp>
        <p:nvSpPr>
          <p:cNvPr id="9" name="Text 6"/>
          <p:cNvSpPr txBox="1"/>
          <p:nvPr/>
        </p:nvSpPr>
        <p:spPr>
          <a:xfrm>
            <a:off x="2153412" y="1691640"/>
            <a:ext cx="1463040" cy="868680"/>
          </a:xfrm>
          <a:prstGeom prst="rect">
            <a:avLst/>
          </a:prstGeom>
          <a:noFill/>
          <a:ln/>
        </p:spPr>
        <p:txBody>
          <a:bodyPr wrap="square" lIns="76200" tIns="76200" rIns="76200" bIns="7620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Minimal patch</a:t>
            </a:r>
            <a:endParaRPr lang="en-US" sz="1300" dirty="0"/>
          </a:p>
        </p:txBody>
      </p:sp>
      <p:sp>
        <p:nvSpPr>
          <p:cNvPr id="10" name="arrow"/>
          <p:cNvSpPr/>
          <p:nvPr/>
        </p:nvSpPr>
        <p:spPr>
          <a:xfrm>
            <a:off x="3616452" y="2125980"/>
            <a:ext cx="141732" cy="0"/>
          </a:xfrm>
          <a:prstGeom prst="line">
            <a:avLst/>
          </a:prstGeom>
          <a:noFill/>
          <a:ln w="19050">
            <a:solidFill>
              <a:srgbClr val="566770"/>
            </a:solidFill>
            <a:prstDash val="solid"/>
            <a:tailEnd type="triangle"/>
          </a:ln>
        </p:spPr>
      </p:sp>
      <p:sp>
        <p:nvSpPr>
          <p:cNvPr id="11" name="node"/>
          <p:cNvSpPr/>
          <p:nvPr/>
        </p:nvSpPr>
        <p:spPr>
          <a:xfrm>
            <a:off x="3758184" y="1691640"/>
            <a:ext cx="1463040" cy="868680"/>
          </a:xfrm>
          <a:prstGeom prst="rect">
            <a:avLst/>
          </a:prstGeom>
          <a:solidFill>
            <a:srgbClr val="6B4C86"/>
          </a:solidFill>
          <a:ln w="9525">
            <a:solidFill>
              <a:srgbClr val="6B4C86"/>
            </a:solidFill>
            <a:prstDash val="solid"/>
          </a:ln>
        </p:spPr>
      </p:sp>
      <p:sp>
        <p:nvSpPr>
          <p:cNvPr id="12" name="Text 9"/>
          <p:cNvSpPr txBox="1"/>
          <p:nvPr/>
        </p:nvSpPr>
        <p:spPr>
          <a:xfrm>
            <a:off x="3758184" y="1691640"/>
            <a:ext cx="1463040" cy="868680"/>
          </a:xfrm>
          <a:prstGeom prst="rect">
            <a:avLst/>
          </a:prstGeom>
          <a:noFill/>
          <a:ln/>
        </p:spPr>
        <p:txBody>
          <a:bodyPr wrap="square" lIns="76200" tIns="76200" rIns="76200" bIns="7620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Remediation policy</a:t>
            </a:r>
            <a:endParaRPr lang="en-US" sz="1300" dirty="0"/>
          </a:p>
        </p:txBody>
      </p:sp>
      <p:sp>
        <p:nvSpPr>
          <p:cNvPr id="13" name="arrow"/>
          <p:cNvSpPr/>
          <p:nvPr/>
        </p:nvSpPr>
        <p:spPr>
          <a:xfrm>
            <a:off x="5221224" y="2125980"/>
            <a:ext cx="141732" cy="0"/>
          </a:xfrm>
          <a:prstGeom prst="line">
            <a:avLst/>
          </a:prstGeom>
          <a:noFill/>
          <a:ln w="19050">
            <a:solidFill>
              <a:srgbClr val="566770"/>
            </a:solidFill>
            <a:prstDash val="solid"/>
            <a:tailEnd type="triangle"/>
          </a:ln>
        </p:spPr>
      </p:sp>
      <p:sp>
        <p:nvSpPr>
          <p:cNvPr id="14" name="node"/>
          <p:cNvSpPr/>
          <p:nvPr/>
        </p:nvSpPr>
        <p:spPr>
          <a:xfrm>
            <a:off x="5362956" y="1691640"/>
            <a:ext cx="1463040" cy="868680"/>
          </a:xfrm>
          <a:prstGeom prst="rect">
            <a:avLst/>
          </a:prstGeom>
          <a:solidFill>
            <a:srgbClr val="E8A33D"/>
          </a:solidFill>
          <a:ln w="9525">
            <a:solidFill>
              <a:srgbClr val="E8A33D"/>
            </a:solidFill>
            <a:prstDash val="solid"/>
          </a:ln>
        </p:spPr>
      </p:sp>
      <p:sp>
        <p:nvSpPr>
          <p:cNvPr id="15" name="Text 12"/>
          <p:cNvSpPr txBox="1"/>
          <p:nvPr/>
        </p:nvSpPr>
        <p:spPr>
          <a:xfrm>
            <a:off x="5362956" y="1691640"/>
            <a:ext cx="1463040" cy="868680"/>
          </a:xfrm>
          <a:prstGeom prst="rect">
            <a:avLst/>
          </a:prstGeom>
          <a:noFill/>
          <a:ln/>
        </p:spPr>
        <p:txBody>
          <a:bodyPr wrap="square" lIns="76200" tIns="76200" rIns="76200" bIns="76200" rtlCol="0" anchor="ctr"/>
          <a:lstStyle/>
          <a:p>
            <a:pPr marL="0" indent="0" algn="ctr">
              <a:buNone/>
            </a:pPr>
            <a:r>
              <a:rPr lang="en-US" sz="1300" b="1" dirty="0">
                <a:solidFill>
                  <a:srgbClr val="12232B"/>
                </a:solidFill>
                <a:latin typeface="Calibri" pitchFamily="34" charset="0"/>
                <a:ea typeface="Calibri" pitchFamily="34" charset="-122"/>
                <a:cs typeface="Calibri" pitchFamily="34" charset="-120"/>
              </a:rPr>
              <a:t>Named human approval</a:t>
            </a:r>
            <a:endParaRPr lang="en-US" sz="1300" dirty="0"/>
          </a:p>
        </p:txBody>
      </p:sp>
      <p:sp>
        <p:nvSpPr>
          <p:cNvPr id="16" name="arrow"/>
          <p:cNvSpPr/>
          <p:nvPr/>
        </p:nvSpPr>
        <p:spPr>
          <a:xfrm>
            <a:off x="6825996" y="2125980"/>
            <a:ext cx="141732" cy="0"/>
          </a:xfrm>
          <a:prstGeom prst="line">
            <a:avLst/>
          </a:prstGeom>
          <a:noFill/>
          <a:ln w="19050">
            <a:solidFill>
              <a:srgbClr val="566770"/>
            </a:solidFill>
            <a:prstDash val="solid"/>
            <a:tailEnd type="triangle"/>
          </a:ln>
        </p:spPr>
      </p:sp>
      <p:sp>
        <p:nvSpPr>
          <p:cNvPr id="17" name="node"/>
          <p:cNvSpPr/>
          <p:nvPr/>
        </p:nvSpPr>
        <p:spPr>
          <a:xfrm>
            <a:off x="6967728" y="1691640"/>
            <a:ext cx="1463040" cy="868680"/>
          </a:xfrm>
          <a:prstGeom prst="rect">
            <a:avLst/>
          </a:prstGeom>
          <a:solidFill>
            <a:srgbClr val="6B4C86"/>
          </a:solidFill>
          <a:ln w="9525">
            <a:solidFill>
              <a:srgbClr val="6B4C86"/>
            </a:solidFill>
            <a:prstDash val="solid"/>
          </a:ln>
        </p:spPr>
      </p:sp>
      <p:sp>
        <p:nvSpPr>
          <p:cNvPr id="18" name="Text 15"/>
          <p:cNvSpPr txBox="1"/>
          <p:nvPr/>
        </p:nvSpPr>
        <p:spPr>
          <a:xfrm>
            <a:off x="6967728" y="1691640"/>
            <a:ext cx="1463040" cy="868680"/>
          </a:xfrm>
          <a:prstGeom prst="rect">
            <a:avLst/>
          </a:prstGeom>
          <a:noFill/>
          <a:ln/>
        </p:spPr>
        <p:txBody>
          <a:bodyPr wrap="square" lIns="76200" tIns="76200" rIns="76200" bIns="7620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PR policy</a:t>
            </a:r>
            <a:endParaRPr lang="en-US" sz="1300" dirty="0"/>
          </a:p>
        </p:txBody>
      </p:sp>
      <p:sp>
        <p:nvSpPr>
          <p:cNvPr id="19" name="arrow"/>
          <p:cNvSpPr/>
          <p:nvPr/>
        </p:nvSpPr>
        <p:spPr>
          <a:xfrm>
            <a:off x="8430768" y="2125980"/>
            <a:ext cx="141732" cy="0"/>
          </a:xfrm>
          <a:prstGeom prst="line">
            <a:avLst/>
          </a:prstGeom>
          <a:noFill/>
          <a:ln w="19050">
            <a:solidFill>
              <a:srgbClr val="566770"/>
            </a:solidFill>
            <a:prstDash val="solid"/>
            <a:tailEnd type="triangle"/>
          </a:ln>
        </p:spPr>
      </p:sp>
      <p:sp>
        <p:nvSpPr>
          <p:cNvPr id="20" name="node"/>
          <p:cNvSpPr/>
          <p:nvPr/>
        </p:nvSpPr>
        <p:spPr>
          <a:xfrm>
            <a:off x="8572500" y="1691640"/>
            <a:ext cx="1463040" cy="868680"/>
          </a:xfrm>
          <a:prstGeom prst="rect">
            <a:avLst/>
          </a:prstGeom>
          <a:solidFill>
            <a:srgbClr val="1F8A8A"/>
          </a:solidFill>
          <a:ln w="9525">
            <a:solidFill>
              <a:srgbClr val="1F8A8A"/>
            </a:solidFill>
            <a:prstDash val="solid"/>
          </a:ln>
        </p:spPr>
      </p:sp>
      <p:sp>
        <p:nvSpPr>
          <p:cNvPr id="21" name="Text 18"/>
          <p:cNvSpPr txBox="1"/>
          <p:nvPr/>
        </p:nvSpPr>
        <p:spPr>
          <a:xfrm>
            <a:off x="8572500" y="1691640"/>
            <a:ext cx="1463040" cy="868680"/>
          </a:xfrm>
          <a:prstGeom prst="rect">
            <a:avLst/>
          </a:prstGeom>
          <a:noFill/>
          <a:ln/>
        </p:spPr>
        <p:txBody>
          <a:bodyPr wrap="square" lIns="76200" tIns="76200" rIns="76200" bIns="7620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Draft PR</a:t>
            </a:r>
            <a:endParaRPr lang="en-US" sz="1300" dirty="0"/>
          </a:p>
        </p:txBody>
      </p:sp>
      <p:sp>
        <p:nvSpPr>
          <p:cNvPr id="22" name="arrow"/>
          <p:cNvSpPr/>
          <p:nvPr/>
        </p:nvSpPr>
        <p:spPr>
          <a:xfrm>
            <a:off x="10035540" y="2125980"/>
            <a:ext cx="141732" cy="0"/>
          </a:xfrm>
          <a:prstGeom prst="line">
            <a:avLst/>
          </a:prstGeom>
          <a:noFill/>
          <a:ln w="19050">
            <a:solidFill>
              <a:srgbClr val="566770"/>
            </a:solidFill>
            <a:prstDash val="solid"/>
            <a:tailEnd type="triangle"/>
          </a:ln>
        </p:spPr>
      </p:sp>
      <p:sp>
        <p:nvSpPr>
          <p:cNvPr id="23" name="node"/>
          <p:cNvSpPr/>
          <p:nvPr/>
        </p:nvSpPr>
        <p:spPr>
          <a:xfrm>
            <a:off x="10177272" y="1691640"/>
            <a:ext cx="1463040" cy="868680"/>
          </a:xfrm>
          <a:prstGeom prst="rect">
            <a:avLst/>
          </a:prstGeom>
          <a:solidFill>
            <a:srgbClr val="12232B"/>
          </a:solidFill>
          <a:ln w="9525">
            <a:solidFill>
              <a:srgbClr val="12232B"/>
            </a:solidFill>
            <a:prstDash val="solid"/>
          </a:ln>
        </p:spPr>
      </p:sp>
      <p:sp>
        <p:nvSpPr>
          <p:cNvPr id="24" name="Text 21"/>
          <p:cNvSpPr txBox="1"/>
          <p:nvPr/>
        </p:nvSpPr>
        <p:spPr>
          <a:xfrm>
            <a:off x="10177272" y="1691640"/>
            <a:ext cx="1463040" cy="868680"/>
          </a:xfrm>
          <a:prstGeom prst="rect">
            <a:avLst/>
          </a:prstGeom>
          <a:noFill/>
          <a:ln/>
        </p:spPr>
        <p:txBody>
          <a:bodyPr wrap="square" lIns="76200" tIns="76200" rIns="76200" bIns="7620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Jenkins re-run</a:t>
            </a:r>
            <a:endParaRPr lang="en-US" sz="1300" dirty="0"/>
          </a:p>
        </p:txBody>
      </p:sp>
      <p:sp>
        <p:nvSpPr>
          <p:cNvPr id="25" name="Text 22"/>
          <p:cNvSpPr txBox="1"/>
          <p:nvPr/>
        </p:nvSpPr>
        <p:spPr>
          <a:xfrm>
            <a:off x="548640" y="2697480"/>
            <a:ext cx="11091672" cy="365760"/>
          </a:xfrm>
          <a:prstGeom prst="rect">
            <a:avLst/>
          </a:prstGeom>
          <a:noFill/>
          <a:ln/>
        </p:spPr>
        <p:txBody>
          <a:bodyPr wrap="square" lIns="0" tIns="0" rIns="0" bIns="0" rtlCol="0" anchor="t"/>
          <a:lstStyle/>
          <a:p>
            <a:pPr marL="0" indent="0">
              <a:buNone/>
            </a:pPr>
            <a:r>
              <a:rPr lang="en-US" sz="1500" i="1" dirty="0">
                <a:solidFill>
                  <a:srgbClr val="1F8A8A"/>
                </a:solidFill>
                <a:latin typeface="Calibri" pitchFamily="34" charset="0"/>
                <a:ea typeface="Calibri" pitchFamily="34" charset="-122"/>
                <a:cs typeface="Calibri" pitchFamily="34" charset="-120"/>
              </a:rPr>
              <a:t>A failed validation returns to investigation: the failure becomes new evidence and the loop continues.</a:t>
            </a:r>
            <a:endParaRPr lang="en-US" sz="1500" dirty="0"/>
          </a:p>
        </p:txBody>
      </p:sp>
      <p:sp>
        <p:nvSpPr>
          <p:cNvPr id="26" name="card"/>
          <p:cNvSpPr/>
          <p:nvPr/>
        </p:nvSpPr>
        <p:spPr>
          <a:xfrm>
            <a:off x="548640" y="3246120"/>
            <a:ext cx="5486400" cy="2926080"/>
          </a:xfrm>
          <a:prstGeom prst="rect">
            <a:avLst/>
          </a:prstGeom>
          <a:solidFill>
            <a:srgbClr val="FFFFFF"/>
          </a:solidFill>
          <a:ln w="9525">
            <a:solidFill>
              <a:srgbClr val="C9D3D6"/>
            </a:solidFill>
            <a:prstDash val="solid"/>
          </a:ln>
          <a:effectLst>
            <a:outerShdw blurRad="76200" dist="25400" dir="5400000" algn="bl" rotWithShape="0">
              <a:srgbClr val="000000">
                <a:alpha val="10000"/>
              </a:srgbClr>
            </a:outerShdw>
          </a:effectLst>
        </p:spPr>
      </p:sp>
      <p:sp>
        <p:nvSpPr>
          <p:cNvPr id="27" name="Text 24"/>
          <p:cNvSpPr txBox="1"/>
          <p:nvPr/>
        </p:nvSpPr>
        <p:spPr>
          <a:xfrm>
            <a:off x="822960" y="3383280"/>
            <a:ext cx="4937760" cy="365760"/>
          </a:xfrm>
          <a:prstGeom prst="rect">
            <a:avLst/>
          </a:prstGeom>
          <a:noFill/>
          <a:ln/>
        </p:spPr>
        <p:txBody>
          <a:bodyPr wrap="square" lIns="0" tIns="0" rIns="0" bIns="0" rtlCol="0" anchor="t"/>
          <a:lstStyle/>
          <a:p>
            <a:pPr marL="0" indent="0">
              <a:buNone/>
            </a:pPr>
            <a:r>
              <a:rPr lang="en-US" sz="1800" b="1" dirty="0">
                <a:solidFill>
                  <a:srgbClr val="1F8A8A"/>
                </a:solidFill>
                <a:latin typeface="Cambria" pitchFamily="34" charset="0"/>
                <a:ea typeface="Cambria" pitchFamily="34" charset="-122"/>
                <a:cs typeface="Cambria" pitchFamily="34" charset="-120"/>
              </a:rPr>
              <a:t>The patch engine</a:t>
            </a:r>
            <a:endParaRPr lang="en-US" sz="1800" dirty="0"/>
          </a:p>
        </p:txBody>
      </p:sp>
      <p:sp>
        <p:nvSpPr>
          <p:cNvPr id="28" name="Text 25"/>
          <p:cNvSpPr txBox="1"/>
          <p:nvPr/>
        </p:nvSpPr>
        <p:spPr>
          <a:xfrm>
            <a:off x="822960" y="3840480"/>
            <a:ext cx="4937760" cy="2286000"/>
          </a:xfrm>
          <a:prstGeom prst="rect">
            <a:avLst/>
          </a:prstGeom>
          <a:noFill/>
          <a:ln/>
        </p:spPr>
        <p:txBody>
          <a:bodyPr wrap="square" lIns="0" tIns="0" rIns="0" bIns="0" rtlCol="0" anchor="t"/>
          <a:lstStyle/>
          <a:p>
            <a:pPr marL="203200" indent="-203200">
              <a:spcAft>
                <a:spcPts val="500"/>
              </a:spcAft>
              <a:buSzPct val="100000"/>
              <a:buChar char="•"/>
            </a:pPr>
            <a:r>
              <a:rPr lang="en-US" sz="1400" dirty="0">
                <a:solidFill>
                  <a:srgbClr val="12232B"/>
                </a:solidFill>
                <a:latin typeface="Calibri" pitchFamily="34" charset="0"/>
                <a:ea typeface="Calibri" pitchFamily="34" charset="-122"/>
                <a:cs typeface="Calibri" pitchFamily="34" charset="-120"/>
              </a:rPr>
              <a:t>A fix is the inverse of the lines that broke the build, so a pin moves back from 0.99.0 to 0.28.1</a:t>
            </a:r>
            <a:endParaRPr lang="en-US" sz="1400" dirty="0"/>
          </a:p>
          <a:p>
            <a:pPr marL="203200" indent="-203200">
              <a:spcAft>
                <a:spcPts val="500"/>
              </a:spcAft>
              <a:buSzPct val="100000"/>
              <a:buChar char="•"/>
            </a:pPr>
            <a:r>
              <a:rPr lang="en-US" sz="1400" dirty="0">
                <a:solidFill>
                  <a:srgbClr val="12232B"/>
                </a:solidFill>
                <a:latin typeface="Calibri" pitchFamily="34" charset="0"/>
                <a:ea typeface="Calibri" pitchFamily="34" charset="-122"/>
                <a:cs typeface="Calibri" pitchFamily="34" charset="-120"/>
              </a:rPr>
              <a:t>It declines when the report is not actionable</a:t>
            </a:r>
            <a:endParaRPr lang="en-US" sz="1400" dirty="0"/>
          </a:p>
          <a:p>
            <a:pPr marL="203200" indent="-203200">
              <a:spcAft>
                <a:spcPts val="500"/>
              </a:spcAft>
              <a:buSzPct val="100000"/>
              <a:buChar char="•"/>
            </a:pPr>
            <a:r>
              <a:rPr lang="en-US" sz="1400" dirty="0">
                <a:solidFill>
                  <a:srgbClr val="12232B"/>
                </a:solidFill>
                <a:latin typeface="Calibri" pitchFamily="34" charset="0"/>
                <a:ea typeface="Calibri" pitchFamily="34" charset="-122"/>
                <a:cs typeface="Calibri" pitchFamily="34" charset="-120"/>
              </a:rPr>
              <a:t>Automated only for dependency and configuration regressions</a:t>
            </a:r>
            <a:endParaRPr lang="en-US" sz="1400" dirty="0"/>
          </a:p>
          <a:p>
            <a:pPr marL="203200" indent="-203200">
              <a:spcAft>
                <a:spcPts val="500"/>
              </a:spcAft>
              <a:buSzPct val="100000"/>
              <a:buChar char="•"/>
            </a:pPr>
            <a:r>
              <a:rPr lang="en-US" sz="1400" dirty="0">
                <a:solidFill>
                  <a:srgbClr val="12232B"/>
                </a:solidFill>
                <a:latin typeface="Calibri" pitchFamily="34" charset="0"/>
                <a:ea typeface="Calibri" pitchFamily="34" charset="-122"/>
                <a:cs typeface="Calibri" pitchFamily="34" charset="-120"/>
              </a:rPr>
              <a:t>Branches are named ai-fix/&lt;incident&gt;-&lt;attempt&gt;</a:t>
            </a:r>
            <a:endParaRPr lang="en-US" sz="1400" dirty="0"/>
          </a:p>
        </p:txBody>
      </p:sp>
      <p:sp>
        <p:nvSpPr>
          <p:cNvPr id="29" name="card"/>
          <p:cNvSpPr/>
          <p:nvPr/>
        </p:nvSpPr>
        <p:spPr>
          <a:xfrm>
            <a:off x="6263640" y="3246120"/>
            <a:ext cx="5376672" cy="2926080"/>
          </a:xfrm>
          <a:prstGeom prst="rect">
            <a:avLst/>
          </a:prstGeom>
          <a:solidFill>
            <a:srgbClr val="FFFFFF"/>
          </a:solidFill>
          <a:ln w="9525">
            <a:solidFill>
              <a:srgbClr val="C9D3D6"/>
            </a:solidFill>
            <a:prstDash val="solid"/>
          </a:ln>
          <a:effectLst>
            <a:outerShdw blurRad="76200" dist="25400" dir="5400000" algn="bl" rotWithShape="0">
              <a:srgbClr val="000000">
                <a:alpha val="10000"/>
              </a:srgbClr>
            </a:outerShdw>
          </a:effectLst>
        </p:spPr>
      </p:sp>
      <p:sp>
        <p:nvSpPr>
          <p:cNvPr id="30" name="Text 27"/>
          <p:cNvSpPr txBox="1"/>
          <p:nvPr/>
        </p:nvSpPr>
        <p:spPr>
          <a:xfrm>
            <a:off x="6537960" y="3383280"/>
            <a:ext cx="4846320" cy="365760"/>
          </a:xfrm>
          <a:prstGeom prst="rect">
            <a:avLst/>
          </a:prstGeom>
          <a:noFill/>
          <a:ln/>
        </p:spPr>
        <p:txBody>
          <a:bodyPr wrap="square" lIns="0" tIns="0" rIns="0" bIns="0" rtlCol="0" anchor="t"/>
          <a:lstStyle/>
          <a:p>
            <a:pPr marL="0" indent="0">
              <a:buNone/>
            </a:pPr>
            <a:r>
              <a:rPr lang="en-US" sz="1800" b="1" dirty="0">
                <a:solidFill>
                  <a:srgbClr val="6B4C86"/>
                </a:solidFill>
                <a:latin typeface="Cambria" pitchFamily="34" charset="0"/>
                <a:ea typeface="Cambria" pitchFamily="34" charset="-122"/>
                <a:cs typeface="Cambria" pitchFamily="34" charset="-120"/>
              </a:rPr>
              <a:t>What the policy refuses</a:t>
            </a:r>
            <a:endParaRPr lang="en-US" sz="1800" dirty="0"/>
          </a:p>
        </p:txBody>
      </p:sp>
      <p:sp>
        <p:nvSpPr>
          <p:cNvPr id="31" name="Text 28"/>
          <p:cNvSpPr txBox="1"/>
          <p:nvPr/>
        </p:nvSpPr>
        <p:spPr>
          <a:xfrm>
            <a:off x="6537960" y="3840480"/>
            <a:ext cx="4846320" cy="2286000"/>
          </a:xfrm>
          <a:prstGeom prst="rect">
            <a:avLst/>
          </a:prstGeom>
          <a:noFill/>
          <a:ln/>
        </p:spPr>
        <p:txBody>
          <a:bodyPr wrap="square" lIns="0" tIns="0" rIns="0" bIns="0" rtlCol="0" anchor="t"/>
          <a:lstStyle/>
          <a:p>
            <a:pPr marL="203200" indent="-203200">
              <a:spcAft>
                <a:spcPts val="500"/>
              </a:spcAft>
              <a:buSzPct val="100000"/>
              <a:buChar char="•"/>
            </a:pPr>
            <a:r>
              <a:rPr lang="en-US" sz="1400" dirty="0">
                <a:solidFill>
                  <a:srgbClr val="12232B"/>
                </a:solidFill>
                <a:latin typeface="Calibri" pitchFamily="34" charset="0"/>
                <a:ea typeface="Calibri" pitchFamily="34" charset="-122"/>
                <a:cs typeface="Calibri" pitchFamily="34" charset="-120"/>
              </a:rPr>
              <a:t>Confidence below 0.5, more than 5 files or 40 lines</a:t>
            </a:r>
            <a:endParaRPr lang="en-US" sz="1400" dirty="0"/>
          </a:p>
          <a:p>
            <a:pPr marL="203200" indent="-203200">
              <a:spcAft>
                <a:spcPts val="500"/>
              </a:spcAft>
              <a:buSzPct val="100000"/>
              <a:buChar char="•"/>
            </a:pPr>
            <a:r>
              <a:rPr lang="en-US" sz="1400" dirty="0">
                <a:solidFill>
                  <a:srgbClr val="12232B"/>
                </a:solidFill>
                <a:latin typeface="Calibri" pitchFamily="34" charset="0"/>
                <a:ea typeface="Calibri" pitchFamily="34" charset="-122"/>
                <a:cs typeface="Calibri" pitchFamily="34" charset="-120"/>
              </a:rPr>
              <a:t>Protected paths, secrets, anything outside the app under test</a:t>
            </a:r>
            <a:endParaRPr lang="en-US" sz="1400" dirty="0"/>
          </a:p>
          <a:p>
            <a:pPr marL="203200" indent="-203200">
              <a:spcAft>
                <a:spcPts val="500"/>
              </a:spcAft>
              <a:buSzPct val="100000"/>
              <a:buChar char="•"/>
            </a:pPr>
            <a:r>
              <a:rPr lang="en-US" sz="1400" dirty="0">
                <a:solidFill>
                  <a:srgbClr val="12232B"/>
                </a:solidFill>
                <a:latin typeface="Calibri" pitchFamily="34" charset="0"/>
                <a:ea typeface="Calibri" pitchFamily="34" charset="-122"/>
                <a:cs typeface="Calibri" pitchFamily="34" charset="-120"/>
              </a:rPr>
              <a:t>Deleting a test or adding a skip or disabled check</a:t>
            </a:r>
            <a:endParaRPr lang="en-US" sz="1400" dirty="0"/>
          </a:p>
          <a:p>
            <a:pPr marL="203200" indent="-203200">
              <a:spcAft>
                <a:spcPts val="500"/>
              </a:spcAft>
              <a:buSzPct val="100000"/>
              <a:buChar char="•"/>
            </a:pPr>
            <a:r>
              <a:rPr lang="en-US" sz="1400" dirty="0">
                <a:solidFill>
                  <a:srgbClr val="12232B"/>
                </a:solidFill>
                <a:latin typeface="Calibri" pitchFamily="34" charset="0"/>
                <a:ea typeface="Calibri" pitchFamily="34" charset="-122"/>
                <a:cs typeface="Calibri" pitchFamily="34" charset="-120"/>
              </a:rPr>
              <a:t>A PR without a named approval, or one that is not a draft</a:t>
            </a:r>
            <a:endParaRPr lang="en-US" sz="1400" dirty="0"/>
          </a:p>
        </p:txBody>
      </p:sp>
      <p:sp>
        <p:nvSpPr>
          <p:cNvPr id="4"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66770"/>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47472"/>
            <a:ext cx="11091672" cy="274320"/>
          </a:xfrm>
          <a:prstGeom prst="rect">
            <a:avLst/>
          </a:prstGeom>
          <a:noFill/>
          <a:ln/>
        </p:spPr>
        <p:txBody>
          <a:bodyPr wrap="square" lIns="0" tIns="0" rIns="0" bIns="0" rtlCol="0" anchor="ctr"/>
          <a:lstStyle/>
          <a:p>
            <a:pPr marL="0" indent="0">
              <a:buNone/>
            </a:pPr>
            <a:r>
              <a:rPr lang="en-US" sz="1200" b="1" kern="0" spc="300" dirty="0">
                <a:solidFill>
                  <a:srgbClr val="1F8A8A"/>
                </a:solidFill>
                <a:latin typeface="Calibri" pitchFamily="34" charset="0"/>
                <a:ea typeface="Calibri" pitchFamily="34" charset="-122"/>
                <a:cs typeface="Calibri" pitchFamily="34" charset="-120"/>
              </a:rPr>
              <a:t>SAFETY</a:t>
            </a:r>
            <a:endParaRPr lang="en-US" sz="1200" dirty="0"/>
          </a:p>
        </p:txBody>
      </p:sp>
      <p:sp>
        <p:nvSpPr>
          <p:cNvPr id="3" name="Text 1"/>
          <p:cNvSpPr txBox="1"/>
          <p:nvPr/>
        </p:nvSpPr>
        <p:spPr>
          <a:xfrm>
            <a:off x="548640" y="621792"/>
            <a:ext cx="11091672" cy="731520"/>
          </a:xfrm>
          <a:prstGeom prst="rect">
            <a:avLst/>
          </a:prstGeom>
          <a:noFill/>
          <a:ln/>
        </p:spPr>
        <p:txBody>
          <a:bodyPr wrap="square" lIns="0" tIns="0" rIns="0" bIns="0" rtlCol="0" anchor="t"/>
          <a:lstStyle/>
          <a:p>
            <a:pPr marL="0" indent="0">
              <a:buNone/>
            </a:pPr>
            <a:r>
              <a:rPr lang="en-US" sz="3400" b="1" dirty="0">
                <a:solidFill>
                  <a:srgbClr val="12232B"/>
                </a:solidFill>
                <a:latin typeface="Cambria" pitchFamily="34" charset="0"/>
                <a:ea typeface="Cambria" pitchFamily="34" charset="-122"/>
                <a:cs typeface="Cambria" pitchFamily="34" charset="-120"/>
              </a:rPr>
              <a:t>Guardrails: validating what goes in and what comes out</a:t>
            </a:r>
            <a:endParaRPr lang="en-US" sz="3400" dirty="0"/>
          </a:p>
        </p:txBody>
      </p:sp>
      <p:sp>
        <p:nvSpPr>
          <p:cNvPr id="5" name="card"/>
          <p:cNvSpPr/>
          <p:nvPr/>
        </p:nvSpPr>
        <p:spPr>
          <a:xfrm>
            <a:off x="548640" y="1645920"/>
            <a:ext cx="3566160" cy="4023360"/>
          </a:xfrm>
          <a:prstGeom prst="rect">
            <a:avLst/>
          </a:prstGeom>
          <a:solidFill>
            <a:srgbClr val="FFFFFF"/>
          </a:solidFill>
          <a:ln w="9525">
            <a:solidFill>
              <a:srgbClr val="C9D3D6"/>
            </a:solidFill>
            <a:prstDash val="solid"/>
          </a:ln>
          <a:effectLst>
            <a:outerShdw blurRad="76200" dist="25400" dir="5400000" algn="bl" rotWithShape="0">
              <a:srgbClr val="000000">
                <a:alpha val="10000"/>
              </a:srgbClr>
            </a:outerShdw>
          </a:effectLst>
        </p:spPr>
      </p:sp>
      <p:sp>
        <p:nvSpPr>
          <p:cNvPr id="6" name="Text 3"/>
          <p:cNvSpPr txBox="1"/>
          <p:nvPr/>
        </p:nvSpPr>
        <p:spPr>
          <a:xfrm>
            <a:off x="777240" y="1783080"/>
            <a:ext cx="3108960" cy="411480"/>
          </a:xfrm>
          <a:prstGeom prst="rect">
            <a:avLst/>
          </a:prstGeom>
          <a:noFill/>
          <a:ln/>
        </p:spPr>
        <p:txBody>
          <a:bodyPr wrap="square" lIns="0" tIns="0" rIns="0" bIns="0" rtlCol="0" anchor="t"/>
          <a:lstStyle/>
          <a:p>
            <a:pPr marL="0" indent="0">
              <a:buNone/>
            </a:pPr>
            <a:r>
              <a:rPr lang="en-US" sz="1900" b="1" dirty="0">
                <a:solidFill>
                  <a:srgbClr val="1F8A8A"/>
                </a:solidFill>
                <a:latin typeface="Cambria" pitchFamily="34" charset="0"/>
                <a:ea typeface="Cambria" pitchFamily="34" charset="-122"/>
                <a:cs typeface="Cambria" pitchFamily="34" charset="-120"/>
              </a:rPr>
              <a:t>Inputs and tool results</a:t>
            </a:r>
            <a:endParaRPr lang="en-US" sz="1900" dirty="0"/>
          </a:p>
        </p:txBody>
      </p:sp>
      <p:sp>
        <p:nvSpPr>
          <p:cNvPr id="7" name="Text 4"/>
          <p:cNvSpPr txBox="1"/>
          <p:nvPr/>
        </p:nvSpPr>
        <p:spPr>
          <a:xfrm>
            <a:off x="777240" y="2331720"/>
            <a:ext cx="3108960" cy="329184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12232B"/>
                </a:solidFill>
                <a:latin typeface="Calibri" pitchFamily="34" charset="0"/>
                <a:ea typeface="Calibri" pitchFamily="34" charset="-122"/>
                <a:cs typeface="Calibri" pitchFamily="34" charset="-120"/>
              </a:rPr>
              <a:t>Prompt-injection patterns such as ignore previous instructions</a:t>
            </a:r>
            <a:endParaRPr lang="en-US" sz="1600" dirty="0"/>
          </a:p>
          <a:p>
            <a:pPr marL="203200" indent="-203200">
              <a:spcAft>
                <a:spcPts val="600"/>
              </a:spcAft>
              <a:buSzPct val="100000"/>
              <a:buChar char="•"/>
            </a:pPr>
            <a:r>
              <a:rPr lang="en-US" sz="1600" dirty="0">
                <a:solidFill>
                  <a:srgbClr val="12232B"/>
                </a:solidFill>
                <a:latin typeface="Calibri" pitchFamily="34" charset="0"/>
                <a:ea typeface="Calibri" pitchFamily="34" charset="-122"/>
                <a:cs typeface="Calibri" pitchFamily="34" charset="-120"/>
              </a:rPr>
              <a:t>Toxic and abusive language detection</a:t>
            </a:r>
            <a:endParaRPr lang="en-US" sz="1600" dirty="0"/>
          </a:p>
          <a:p>
            <a:pPr marL="203200" indent="-203200">
              <a:spcAft>
                <a:spcPts val="600"/>
              </a:spcAft>
              <a:buSzPct val="100000"/>
              <a:buChar char="•"/>
            </a:pPr>
            <a:r>
              <a:rPr lang="en-US" sz="1600" dirty="0">
                <a:solidFill>
                  <a:srgbClr val="12232B"/>
                </a:solidFill>
                <a:latin typeface="Calibri" pitchFamily="34" charset="0"/>
                <a:ea typeface="Calibri" pitchFamily="34" charset="-122"/>
                <a:cs typeface="Calibri" pitchFamily="34" charset="-120"/>
              </a:rPr>
              <a:t>Untrusted text neutralised before an LLM reads it</a:t>
            </a:r>
            <a:endParaRPr lang="en-US" sz="1600" dirty="0"/>
          </a:p>
          <a:p>
            <a:pPr marL="203200" indent="-203200">
              <a:spcAft>
                <a:spcPts val="600"/>
              </a:spcAft>
              <a:buSzPct val="100000"/>
              <a:buChar char="•"/>
            </a:pPr>
            <a:r>
              <a:rPr lang="en-US" sz="1600" dirty="0">
                <a:solidFill>
                  <a:srgbClr val="12232B"/>
                </a:solidFill>
                <a:latin typeface="Calibri" pitchFamily="34" charset="0"/>
                <a:ea typeface="Calibri" pitchFamily="34" charset="-122"/>
                <a:cs typeface="Calibri" pitchFamily="34" charset="-120"/>
              </a:rPr>
              <a:t>MCP tool results screened the same way</a:t>
            </a:r>
            <a:endParaRPr lang="en-US" sz="1600" dirty="0"/>
          </a:p>
        </p:txBody>
      </p:sp>
      <p:sp>
        <p:nvSpPr>
          <p:cNvPr id="8" name="card"/>
          <p:cNvSpPr/>
          <p:nvPr/>
        </p:nvSpPr>
        <p:spPr>
          <a:xfrm>
            <a:off x="4297680" y="1645920"/>
            <a:ext cx="3566160" cy="4023360"/>
          </a:xfrm>
          <a:prstGeom prst="rect">
            <a:avLst/>
          </a:prstGeom>
          <a:solidFill>
            <a:srgbClr val="FFFFFF"/>
          </a:solidFill>
          <a:ln w="9525">
            <a:solidFill>
              <a:srgbClr val="C9D3D6"/>
            </a:solidFill>
            <a:prstDash val="solid"/>
          </a:ln>
          <a:effectLst>
            <a:outerShdw blurRad="76200" dist="25400" dir="5400000" algn="bl" rotWithShape="0">
              <a:srgbClr val="000000">
                <a:alpha val="10000"/>
              </a:srgbClr>
            </a:outerShdw>
          </a:effectLst>
        </p:spPr>
      </p:sp>
      <p:sp>
        <p:nvSpPr>
          <p:cNvPr id="9" name="Text 6"/>
          <p:cNvSpPr txBox="1"/>
          <p:nvPr/>
        </p:nvSpPr>
        <p:spPr>
          <a:xfrm>
            <a:off x="4526280" y="1783080"/>
            <a:ext cx="3108960" cy="411480"/>
          </a:xfrm>
          <a:prstGeom prst="rect">
            <a:avLst/>
          </a:prstGeom>
          <a:noFill/>
          <a:ln/>
        </p:spPr>
        <p:txBody>
          <a:bodyPr wrap="square" lIns="0" tIns="0" rIns="0" bIns="0" rtlCol="0" anchor="t"/>
          <a:lstStyle/>
          <a:p>
            <a:pPr marL="0" indent="0">
              <a:buNone/>
            </a:pPr>
            <a:r>
              <a:rPr lang="en-US" sz="1900" b="1" dirty="0">
                <a:solidFill>
                  <a:srgbClr val="1F8A8A"/>
                </a:solidFill>
                <a:latin typeface="Cambria" pitchFamily="34" charset="0"/>
                <a:ea typeface="Cambria" pitchFamily="34" charset="-122"/>
                <a:cs typeface="Cambria" pitchFamily="34" charset="-120"/>
              </a:rPr>
              <a:t>Outputs</a:t>
            </a:r>
            <a:endParaRPr lang="en-US" sz="1900" dirty="0"/>
          </a:p>
        </p:txBody>
      </p:sp>
      <p:sp>
        <p:nvSpPr>
          <p:cNvPr id="10" name="Text 7"/>
          <p:cNvSpPr txBox="1"/>
          <p:nvPr/>
        </p:nvSpPr>
        <p:spPr>
          <a:xfrm>
            <a:off x="4526280" y="2331720"/>
            <a:ext cx="3108960" cy="329184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12232B"/>
                </a:solidFill>
                <a:latin typeface="Calibri" pitchFamily="34" charset="0"/>
                <a:ea typeface="Calibri" pitchFamily="34" charset="-122"/>
                <a:cs typeface="Calibri" pitchFamily="34" charset="-120"/>
              </a:rPr>
              <a:t>Pydantic schemas reject malformed answers</a:t>
            </a:r>
            <a:endParaRPr lang="en-US" sz="1600" dirty="0"/>
          </a:p>
          <a:p>
            <a:pPr marL="203200" indent="-203200">
              <a:spcAft>
                <a:spcPts val="600"/>
              </a:spcAft>
              <a:buSzPct val="100000"/>
              <a:buChar char="•"/>
            </a:pPr>
            <a:r>
              <a:rPr lang="en-US" sz="1600" dirty="0">
                <a:solidFill>
                  <a:srgbClr val="12232B"/>
                </a:solidFill>
                <a:latin typeface="Calibri" pitchFamily="34" charset="0"/>
                <a:ea typeface="Calibri" pitchFamily="34" charset="-122"/>
                <a:cs typeface="Calibri" pitchFamily="34" charset="-120"/>
              </a:rPr>
              <a:t>Evidence is rejected if it contains an unredacted secret</a:t>
            </a:r>
            <a:endParaRPr lang="en-US" sz="1600" dirty="0"/>
          </a:p>
          <a:p>
            <a:pPr marL="203200" indent="-203200">
              <a:spcAft>
                <a:spcPts val="600"/>
              </a:spcAft>
              <a:buSzPct val="100000"/>
              <a:buChar char="•"/>
            </a:pPr>
            <a:r>
              <a:rPr lang="en-US" sz="1600" dirty="0">
                <a:solidFill>
                  <a:srgbClr val="12232B"/>
                </a:solidFill>
                <a:latin typeface="Calibri" pitchFamily="34" charset="0"/>
                <a:ea typeface="Calibri" pitchFamily="34" charset="-122"/>
                <a:cs typeface="Calibri" pitchFamily="34" charset="-120"/>
              </a:rPr>
              <a:t>Disallowed actions such as disabling tests are refused</a:t>
            </a:r>
            <a:endParaRPr lang="en-US" sz="1600" dirty="0"/>
          </a:p>
          <a:p>
            <a:pPr marL="203200" indent="-203200">
              <a:spcAft>
                <a:spcPts val="600"/>
              </a:spcAft>
              <a:buSzPct val="100000"/>
              <a:buChar char="•"/>
            </a:pPr>
            <a:r>
              <a:rPr lang="en-US" sz="1600" dirty="0">
                <a:solidFill>
                  <a:srgbClr val="12232B"/>
                </a:solidFill>
                <a:latin typeface="Calibri" pitchFamily="34" charset="0"/>
                <a:ea typeface="Calibri" pitchFamily="34" charset="-122"/>
                <a:cs typeface="Calibri" pitchFamily="34" charset="-120"/>
              </a:rPr>
              <a:t>Confidence range checked; unknown capped at 0.4</a:t>
            </a:r>
            <a:endParaRPr lang="en-US" sz="1600" dirty="0"/>
          </a:p>
        </p:txBody>
      </p:sp>
      <p:sp>
        <p:nvSpPr>
          <p:cNvPr id="11" name="card"/>
          <p:cNvSpPr/>
          <p:nvPr/>
        </p:nvSpPr>
        <p:spPr>
          <a:xfrm>
            <a:off x="8046720" y="1645920"/>
            <a:ext cx="3566160" cy="4023360"/>
          </a:xfrm>
          <a:prstGeom prst="rect">
            <a:avLst/>
          </a:prstGeom>
          <a:solidFill>
            <a:srgbClr val="FFFFFF"/>
          </a:solidFill>
          <a:ln w="9525">
            <a:solidFill>
              <a:srgbClr val="C9D3D6"/>
            </a:solidFill>
            <a:prstDash val="solid"/>
          </a:ln>
          <a:effectLst>
            <a:outerShdw blurRad="76200" dist="25400" dir="5400000" algn="bl" rotWithShape="0">
              <a:srgbClr val="000000">
                <a:alpha val="10000"/>
              </a:srgbClr>
            </a:outerShdw>
          </a:effectLst>
        </p:spPr>
      </p:sp>
      <p:sp>
        <p:nvSpPr>
          <p:cNvPr id="12" name="Text 9"/>
          <p:cNvSpPr txBox="1"/>
          <p:nvPr/>
        </p:nvSpPr>
        <p:spPr>
          <a:xfrm>
            <a:off x="8275320" y="1783080"/>
            <a:ext cx="3108960" cy="411480"/>
          </a:xfrm>
          <a:prstGeom prst="rect">
            <a:avLst/>
          </a:prstGeom>
          <a:noFill/>
          <a:ln/>
        </p:spPr>
        <p:txBody>
          <a:bodyPr wrap="square" lIns="0" tIns="0" rIns="0" bIns="0" rtlCol="0" anchor="t"/>
          <a:lstStyle/>
          <a:p>
            <a:pPr marL="0" indent="0">
              <a:buNone/>
            </a:pPr>
            <a:r>
              <a:rPr lang="en-US" sz="1900" b="1" dirty="0">
                <a:solidFill>
                  <a:srgbClr val="1F8A8A"/>
                </a:solidFill>
                <a:latin typeface="Cambria" pitchFamily="34" charset="0"/>
                <a:ea typeface="Cambria" pitchFamily="34" charset="-122"/>
                <a:cs typeface="Cambria" pitchFamily="34" charset="-120"/>
              </a:rPr>
              <a:t>The system</a:t>
            </a:r>
            <a:endParaRPr lang="en-US" sz="1900" dirty="0"/>
          </a:p>
        </p:txBody>
      </p:sp>
      <p:sp>
        <p:nvSpPr>
          <p:cNvPr id="13" name="Text 10"/>
          <p:cNvSpPr txBox="1"/>
          <p:nvPr/>
        </p:nvSpPr>
        <p:spPr>
          <a:xfrm>
            <a:off x="8275320" y="2331720"/>
            <a:ext cx="3108960" cy="329184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12232B"/>
                </a:solidFill>
                <a:latin typeface="Calibri" pitchFamily="34" charset="0"/>
                <a:ea typeface="Calibri" pitchFamily="34" charset="-122"/>
                <a:cs typeface="Calibri" pitchFamily="34" charset="-120"/>
              </a:rPr>
              <a:t>Secrets redacted before any LLM, store or audit write</a:t>
            </a:r>
            <a:endParaRPr lang="en-US" sz="1600" dirty="0"/>
          </a:p>
          <a:p>
            <a:pPr marL="203200" indent="-203200">
              <a:spcAft>
                <a:spcPts val="600"/>
              </a:spcAft>
              <a:buSzPct val="100000"/>
              <a:buChar char="•"/>
            </a:pPr>
            <a:r>
              <a:rPr lang="en-US" sz="1600" dirty="0">
                <a:solidFill>
                  <a:srgbClr val="12232B"/>
                </a:solidFill>
                <a:latin typeface="Calibri" pitchFamily="34" charset="0"/>
                <a:ea typeface="Calibri" pitchFamily="34" charset="-122"/>
                <a:cs typeface="Calibri" pitchFamily="34" charset="-120"/>
              </a:rPr>
              <a:t>OPA gate fails closed if unreachable</a:t>
            </a:r>
            <a:endParaRPr lang="en-US" sz="1600" dirty="0"/>
          </a:p>
          <a:p>
            <a:pPr marL="203200" indent="-203200">
              <a:spcAft>
                <a:spcPts val="600"/>
              </a:spcAft>
              <a:buSzPct val="100000"/>
              <a:buChar char="•"/>
            </a:pPr>
            <a:r>
              <a:rPr lang="en-US" sz="1600" dirty="0">
                <a:solidFill>
                  <a:srgbClr val="12232B"/>
                </a:solidFill>
                <a:latin typeface="Calibri" pitchFamily="34" charset="0"/>
                <a:ea typeface="Calibri" pitchFamily="34" charset="-122"/>
                <a:cs typeface="Calibri" pitchFamily="34" charset="-120"/>
              </a:rPr>
              <a:t>A human approves every change</a:t>
            </a:r>
            <a:endParaRPr lang="en-US" sz="1600" dirty="0"/>
          </a:p>
          <a:p>
            <a:pPr marL="203200" indent="-203200">
              <a:spcAft>
                <a:spcPts val="600"/>
              </a:spcAft>
              <a:buSzPct val="100000"/>
              <a:buChar char="•"/>
            </a:pPr>
            <a:r>
              <a:rPr lang="en-US" sz="1600" dirty="0">
                <a:solidFill>
                  <a:srgbClr val="12232B"/>
                </a:solidFill>
                <a:latin typeface="Calibri" pitchFamily="34" charset="0"/>
                <a:ea typeface="Calibri" pitchFamily="34" charset="-122"/>
                <a:cs typeface="Calibri" pitchFamily="34" charset="-120"/>
              </a:rPr>
              <a:t>Prompt variants and an adversarial persona exercise behaviour</a:t>
            </a:r>
            <a:endParaRPr lang="en-US" sz="1600" dirty="0"/>
          </a:p>
        </p:txBody>
      </p:sp>
      <p:sp>
        <p:nvSpPr>
          <p:cNvPr id="14" name="Text 11"/>
          <p:cNvSpPr txBox="1"/>
          <p:nvPr/>
        </p:nvSpPr>
        <p:spPr>
          <a:xfrm>
            <a:off x="548640" y="5852160"/>
            <a:ext cx="11091672" cy="320040"/>
          </a:xfrm>
          <a:prstGeom prst="rect">
            <a:avLst/>
          </a:prstGeom>
          <a:noFill/>
          <a:ln/>
        </p:spPr>
        <p:txBody>
          <a:bodyPr wrap="square" lIns="0" tIns="0" rIns="0" bIns="0" rtlCol="0" anchor="t"/>
          <a:lstStyle/>
          <a:p>
            <a:pPr marL="0" indent="0">
              <a:buNone/>
            </a:pPr>
            <a:r>
              <a:rPr lang="en-US" sz="1300" dirty="0">
                <a:solidFill>
                  <a:srgbClr val="566770"/>
                </a:solidFill>
                <a:latin typeface="Calibri" pitchFamily="34" charset="0"/>
                <a:ea typeface="Calibri" pitchFamily="34" charset="-122"/>
                <a:cs typeface="Calibri" pitchFamily="34" charset="-120"/>
              </a:rPr>
              <a:t>Covered by dedicated security tests, including a file of persona scenarios.</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66770"/>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47472"/>
            <a:ext cx="11091672" cy="274320"/>
          </a:xfrm>
          <a:prstGeom prst="rect">
            <a:avLst/>
          </a:prstGeom>
          <a:noFill/>
          <a:ln/>
        </p:spPr>
        <p:txBody>
          <a:bodyPr wrap="square" lIns="0" tIns="0" rIns="0" bIns="0" rtlCol="0" anchor="ctr"/>
          <a:lstStyle/>
          <a:p>
            <a:pPr marL="0" indent="0">
              <a:buNone/>
            </a:pPr>
            <a:r>
              <a:rPr lang="en-US" sz="1200" b="1" kern="0" spc="300" dirty="0">
                <a:solidFill>
                  <a:srgbClr val="1F8A8A"/>
                </a:solidFill>
                <a:latin typeface="Calibri" pitchFamily="34" charset="0"/>
                <a:ea typeface="Calibri" pitchFamily="34" charset="-122"/>
                <a:cs typeface="Calibri" pitchFamily="34" charset="-120"/>
              </a:rPr>
              <a:t>MONITORING AND PROVENANCE</a:t>
            </a:r>
            <a:endParaRPr lang="en-US" sz="1200" dirty="0"/>
          </a:p>
        </p:txBody>
      </p:sp>
      <p:sp>
        <p:nvSpPr>
          <p:cNvPr id="3" name="Text 1"/>
          <p:cNvSpPr txBox="1"/>
          <p:nvPr/>
        </p:nvSpPr>
        <p:spPr>
          <a:xfrm>
            <a:off x="548640" y="621792"/>
            <a:ext cx="11091672" cy="731520"/>
          </a:xfrm>
          <a:prstGeom prst="rect">
            <a:avLst/>
          </a:prstGeom>
          <a:noFill/>
          <a:ln/>
        </p:spPr>
        <p:txBody>
          <a:bodyPr wrap="square" lIns="0" tIns="0" rIns="0" bIns="0" rtlCol="0" anchor="t"/>
          <a:lstStyle/>
          <a:p>
            <a:pPr marL="0" indent="0">
              <a:buNone/>
            </a:pPr>
            <a:r>
              <a:rPr lang="en-US" sz="3400" b="1" dirty="0">
                <a:solidFill>
                  <a:srgbClr val="12232B"/>
                </a:solidFill>
                <a:latin typeface="Cambria" pitchFamily="34" charset="0"/>
                <a:ea typeface="Cambria" pitchFamily="34" charset="-122"/>
                <a:cs typeface="Cambria" pitchFamily="34" charset="-120"/>
              </a:rPr>
              <a:t>Observability: seeing what the agents did and why</a:t>
            </a:r>
            <a:endParaRPr lang="en-US" sz="3400" dirty="0"/>
          </a:p>
        </p:txBody>
      </p:sp>
      <p:sp>
        <p:nvSpPr>
          <p:cNvPr id="5" name="card"/>
          <p:cNvSpPr/>
          <p:nvPr/>
        </p:nvSpPr>
        <p:spPr>
          <a:xfrm>
            <a:off x="548640" y="1645920"/>
            <a:ext cx="5486400" cy="4480560"/>
          </a:xfrm>
          <a:prstGeom prst="rect">
            <a:avLst/>
          </a:prstGeom>
          <a:solidFill>
            <a:srgbClr val="FFFFFF"/>
          </a:solidFill>
          <a:ln w="9525">
            <a:solidFill>
              <a:srgbClr val="C9D3D6"/>
            </a:solidFill>
            <a:prstDash val="solid"/>
          </a:ln>
          <a:effectLst>
            <a:outerShdw blurRad="76200" dist="25400" dir="5400000" algn="bl" rotWithShape="0">
              <a:srgbClr val="000000">
                <a:alpha val="10000"/>
              </a:srgbClr>
            </a:outerShdw>
          </a:effectLst>
        </p:spPr>
      </p:sp>
      <p:sp>
        <p:nvSpPr>
          <p:cNvPr id="6" name="Text 3"/>
          <p:cNvSpPr txBox="1"/>
          <p:nvPr/>
        </p:nvSpPr>
        <p:spPr>
          <a:xfrm>
            <a:off x="822960" y="1783080"/>
            <a:ext cx="4937760" cy="365760"/>
          </a:xfrm>
          <a:prstGeom prst="rect">
            <a:avLst/>
          </a:prstGeom>
          <a:noFill/>
          <a:ln/>
        </p:spPr>
        <p:txBody>
          <a:bodyPr wrap="square" lIns="0" tIns="0" rIns="0" bIns="0" rtlCol="0" anchor="t"/>
          <a:lstStyle/>
          <a:p>
            <a:pPr marL="0" indent="0">
              <a:buNone/>
            </a:pPr>
            <a:r>
              <a:rPr lang="en-US" sz="1800" b="1" dirty="0">
                <a:solidFill>
                  <a:srgbClr val="1F8A8A"/>
                </a:solidFill>
                <a:latin typeface="Cambria" pitchFamily="34" charset="0"/>
                <a:ea typeface="Cambria" pitchFamily="34" charset="-122"/>
                <a:cs typeface="Cambria" pitchFamily="34" charset="-120"/>
              </a:rPr>
              <a:t>Recording the run</a:t>
            </a:r>
            <a:endParaRPr lang="en-US" sz="1800" dirty="0"/>
          </a:p>
        </p:txBody>
      </p:sp>
      <p:sp>
        <p:nvSpPr>
          <p:cNvPr id="7" name="Text 4"/>
          <p:cNvSpPr txBox="1"/>
          <p:nvPr/>
        </p:nvSpPr>
        <p:spPr>
          <a:xfrm>
            <a:off x="822960" y="2286000"/>
            <a:ext cx="4937760" cy="374904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12232B"/>
                </a:solidFill>
                <a:latin typeface="Calibri" pitchFamily="34" charset="0"/>
                <a:ea typeface="Calibri" pitchFamily="34" charset="-122"/>
                <a:cs typeface="Calibri" pitchFamily="34" charset="-120"/>
              </a:rPr>
              <a:t>Step and task callbacks for CrewAI agents</a:t>
            </a:r>
            <a:endParaRPr lang="en-US" sz="1600" dirty="0"/>
          </a:p>
          <a:p>
            <a:pPr marL="203200" indent="-203200">
              <a:spcAft>
                <a:spcPts val="800"/>
              </a:spcAft>
              <a:buSzPct val="100000"/>
              <a:buChar char="•"/>
            </a:pPr>
            <a:r>
              <a:rPr lang="en-US" sz="1600" dirty="0">
                <a:solidFill>
                  <a:srgbClr val="12232B"/>
                </a:solidFill>
                <a:latin typeface="Calibri" pitchFamily="34" charset="0"/>
                <a:ea typeface="Calibri" pitchFamily="34" charset="-122"/>
                <a:cs typeface="Calibri" pitchFamily="34" charset="-120"/>
              </a:rPr>
              <a:t>Audit trail: agent runs, tool calls, hypotheses, policy verdicts, approvals, status changes</a:t>
            </a:r>
            <a:endParaRPr lang="en-US" sz="1600" dirty="0"/>
          </a:p>
          <a:p>
            <a:pPr marL="203200" indent="-203200">
              <a:spcAft>
                <a:spcPts val="800"/>
              </a:spcAft>
              <a:buSzPct val="100000"/>
              <a:buChar char="•"/>
            </a:pPr>
            <a:r>
              <a:rPr lang="en-US" sz="1600" dirty="0">
                <a:solidFill>
                  <a:srgbClr val="12232B"/>
                </a:solidFill>
                <a:latin typeface="Calibri" pitchFamily="34" charset="0"/>
                <a:ea typeface="Calibri" pitchFamily="34" charset="-122"/>
                <a:cs typeface="Calibri" pitchFamily="34" charset="-120"/>
              </a:rPr>
              <a:t>Prometheus counters for steps, errors, tool calls and tokens</a:t>
            </a:r>
            <a:endParaRPr lang="en-US" sz="1600" dirty="0"/>
          </a:p>
          <a:p>
            <a:pPr marL="203200" indent="-203200">
              <a:spcAft>
                <a:spcPts val="800"/>
              </a:spcAft>
              <a:buSzPct val="100000"/>
              <a:buChar char="•"/>
            </a:pPr>
            <a:r>
              <a:rPr lang="en-US" sz="1600" dirty="0">
                <a:solidFill>
                  <a:srgbClr val="12232B"/>
                </a:solidFill>
                <a:latin typeface="Calibri" pitchFamily="34" charset="0"/>
                <a:ea typeface="Calibri" pitchFamily="34" charset="-122"/>
                <a:cs typeface="Calibri" pitchFamily="34" charset="-120"/>
              </a:rPr>
              <a:t>OpenTelemetry trace from the webhook through the Coordinator to each agent</a:t>
            </a:r>
            <a:endParaRPr lang="en-US" sz="1600" dirty="0"/>
          </a:p>
          <a:p>
            <a:pPr marL="203200" indent="-203200">
              <a:spcAft>
                <a:spcPts val="800"/>
              </a:spcAft>
              <a:buSzPct val="100000"/>
              <a:buChar char="•"/>
            </a:pPr>
            <a:r>
              <a:rPr lang="en-US" sz="1600" dirty="0">
                <a:solidFill>
                  <a:srgbClr val="12232B"/>
                </a:solidFill>
                <a:latin typeface="Calibri" pitchFamily="34" charset="0"/>
                <a:ea typeface="Calibri" pitchFamily="34" charset="-122"/>
                <a:cs typeface="Calibri" pitchFamily="34" charset="-120"/>
              </a:rPr>
              <a:t>Provenance guide: from a claim to the exact log line</a:t>
            </a:r>
            <a:endParaRPr lang="en-US" sz="1600" dirty="0"/>
          </a:p>
        </p:txBody>
      </p:sp>
      <p:sp>
        <p:nvSpPr>
          <p:cNvPr id="8" name="card"/>
          <p:cNvSpPr/>
          <p:nvPr/>
        </p:nvSpPr>
        <p:spPr>
          <a:xfrm>
            <a:off x="6263640" y="1645920"/>
            <a:ext cx="5376672" cy="4480560"/>
          </a:xfrm>
          <a:prstGeom prst="rect">
            <a:avLst/>
          </a:prstGeom>
          <a:solidFill>
            <a:srgbClr val="FFFFFF"/>
          </a:solidFill>
          <a:ln w="9525">
            <a:solidFill>
              <a:srgbClr val="C9D3D6"/>
            </a:solidFill>
            <a:prstDash val="solid"/>
          </a:ln>
          <a:effectLst>
            <a:outerShdw blurRad="76200" dist="25400" dir="5400000" algn="bl" rotWithShape="0">
              <a:srgbClr val="000000">
                <a:alpha val="10000"/>
              </a:srgbClr>
            </a:outerShdw>
          </a:effectLst>
        </p:spPr>
      </p:sp>
      <p:sp>
        <p:nvSpPr>
          <p:cNvPr id="9" name="Text 6"/>
          <p:cNvSpPr txBox="1"/>
          <p:nvPr/>
        </p:nvSpPr>
        <p:spPr>
          <a:xfrm>
            <a:off x="6537960" y="1783080"/>
            <a:ext cx="4846320" cy="365760"/>
          </a:xfrm>
          <a:prstGeom prst="rect">
            <a:avLst/>
          </a:prstGeom>
          <a:noFill/>
          <a:ln/>
        </p:spPr>
        <p:txBody>
          <a:bodyPr wrap="square" lIns="0" tIns="0" rIns="0" bIns="0" rtlCol="0" anchor="t"/>
          <a:lstStyle/>
          <a:p>
            <a:pPr marL="0" indent="0">
              <a:buNone/>
            </a:pPr>
            <a:r>
              <a:rPr lang="en-US" sz="1800" b="1" dirty="0">
                <a:solidFill>
                  <a:srgbClr val="1F8A8A"/>
                </a:solidFill>
                <a:latin typeface="Cambria" pitchFamily="34" charset="0"/>
                <a:ea typeface="Cambria" pitchFamily="34" charset="-122"/>
                <a:cs typeface="Cambria" pitchFamily="34" charset="-120"/>
              </a:rPr>
              <a:t>Grafana dashboards</a:t>
            </a:r>
            <a:endParaRPr lang="en-US" sz="1800" dirty="0"/>
          </a:p>
        </p:txBody>
      </p:sp>
      <p:sp>
        <p:nvSpPr>
          <p:cNvPr id="10" name="Text 7"/>
          <p:cNvSpPr txBox="1"/>
          <p:nvPr/>
        </p:nvSpPr>
        <p:spPr>
          <a:xfrm>
            <a:off x="6537960" y="2331720"/>
            <a:ext cx="4846320" cy="274320"/>
          </a:xfrm>
          <a:prstGeom prst="rect">
            <a:avLst/>
          </a:prstGeom>
          <a:noFill/>
          <a:ln/>
        </p:spPr>
        <p:txBody>
          <a:bodyPr wrap="square" lIns="0" tIns="0" rIns="0" bIns="0" rtlCol="0" anchor="t"/>
          <a:lstStyle/>
          <a:p>
            <a:pPr marL="0" indent="0">
              <a:buNone/>
            </a:pPr>
            <a:r>
              <a:rPr lang="en-US" sz="1400" b="1" dirty="0">
                <a:solidFill>
                  <a:srgbClr val="12232B"/>
                </a:solidFill>
                <a:latin typeface="Calibri" pitchFamily="34" charset="0"/>
                <a:ea typeface="Calibri" pitchFamily="34" charset="-122"/>
                <a:cs typeface="Calibri" pitchFamily="34" charset="-120"/>
              </a:rPr>
              <a:t>Agent Ops</a:t>
            </a:r>
            <a:endParaRPr lang="en-US" sz="1400" dirty="0"/>
          </a:p>
        </p:txBody>
      </p:sp>
      <p:sp>
        <p:nvSpPr>
          <p:cNvPr id="11" name="Text 8"/>
          <p:cNvSpPr txBox="1"/>
          <p:nvPr/>
        </p:nvSpPr>
        <p:spPr>
          <a:xfrm>
            <a:off x="6537960" y="2606040"/>
            <a:ext cx="4846320" cy="548640"/>
          </a:xfrm>
          <a:prstGeom prst="rect">
            <a:avLst/>
          </a:prstGeom>
          <a:noFill/>
          <a:ln/>
        </p:spPr>
        <p:txBody>
          <a:bodyPr wrap="square" lIns="0" tIns="0" rIns="0" bIns="0" rtlCol="0" anchor="t"/>
          <a:lstStyle/>
          <a:p>
            <a:pPr marL="0" indent="0">
              <a:buNone/>
            </a:pPr>
            <a:r>
              <a:rPr lang="en-US" sz="1300" dirty="0">
                <a:solidFill>
                  <a:srgbClr val="566770"/>
                </a:solidFill>
                <a:latin typeface="Calibri" pitchFamily="34" charset="0"/>
                <a:ea typeface="Calibri" pitchFamily="34" charset="-122"/>
                <a:cs typeface="Calibri" pitchFamily="34" charset="-120"/>
              </a:rPr>
              <a:t>run-duration heat map, tool latency, approval rate, fix success, time to report</a:t>
            </a:r>
            <a:endParaRPr lang="en-US" sz="1300" dirty="0"/>
          </a:p>
        </p:txBody>
      </p:sp>
      <p:sp>
        <p:nvSpPr>
          <p:cNvPr id="12" name="Text 9"/>
          <p:cNvSpPr txBox="1"/>
          <p:nvPr/>
        </p:nvSpPr>
        <p:spPr>
          <a:xfrm>
            <a:off x="6537960" y="3246120"/>
            <a:ext cx="4846320" cy="274320"/>
          </a:xfrm>
          <a:prstGeom prst="rect">
            <a:avLst/>
          </a:prstGeom>
          <a:noFill/>
          <a:ln/>
        </p:spPr>
        <p:txBody>
          <a:bodyPr wrap="square" lIns="0" tIns="0" rIns="0" bIns="0" rtlCol="0" anchor="t"/>
          <a:lstStyle/>
          <a:p>
            <a:pPr marL="0" indent="0">
              <a:buNone/>
            </a:pPr>
            <a:r>
              <a:rPr lang="en-US" sz="1400" b="1" dirty="0">
                <a:solidFill>
                  <a:srgbClr val="12232B"/>
                </a:solidFill>
                <a:latin typeface="Calibri" pitchFamily="34" charset="0"/>
                <a:ea typeface="Calibri" pitchFamily="34" charset="-122"/>
                <a:cs typeface="Calibri" pitchFamily="34" charset="-120"/>
              </a:rPr>
              <a:t>Approvals and Operations</a:t>
            </a:r>
            <a:endParaRPr lang="en-US" sz="1400" dirty="0"/>
          </a:p>
        </p:txBody>
      </p:sp>
      <p:sp>
        <p:nvSpPr>
          <p:cNvPr id="13" name="Text 10"/>
          <p:cNvSpPr txBox="1"/>
          <p:nvPr/>
        </p:nvSpPr>
        <p:spPr>
          <a:xfrm>
            <a:off x="6537960" y="3520440"/>
            <a:ext cx="4846320" cy="548640"/>
          </a:xfrm>
          <a:prstGeom prst="rect">
            <a:avLst/>
          </a:prstGeom>
          <a:noFill/>
          <a:ln/>
        </p:spPr>
        <p:txBody>
          <a:bodyPr wrap="square" lIns="0" tIns="0" rIns="0" bIns="0" rtlCol="0" anchor="t"/>
          <a:lstStyle/>
          <a:p>
            <a:pPr marL="0" indent="0">
              <a:buNone/>
            </a:pPr>
            <a:r>
              <a:rPr lang="en-US" sz="1300" dirty="0">
                <a:solidFill>
                  <a:srgbClr val="566770"/>
                </a:solidFill>
                <a:latin typeface="Calibri" pitchFamily="34" charset="0"/>
                <a:ea typeface="Calibri" pitchFamily="34" charset="-122"/>
                <a:cs typeface="Calibri" pitchFamily="34" charset="-120"/>
              </a:rPr>
              <a:t>approvals, outcomes and incident lifecycle</a:t>
            </a:r>
            <a:endParaRPr lang="en-US" sz="1300" dirty="0"/>
          </a:p>
        </p:txBody>
      </p:sp>
      <p:sp>
        <p:nvSpPr>
          <p:cNvPr id="14" name="Text 11"/>
          <p:cNvSpPr txBox="1"/>
          <p:nvPr/>
        </p:nvSpPr>
        <p:spPr>
          <a:xfrm>
            <a:off x="6537960" y="4160520"/>
            <a:ext cx="4846320" cy="274320"/>
          </a:xfrm>
          <a:prstGeom prst="rect">
            <a:avLst/>
          </a:prstGeom>
          <a:noFill/>
          <a:ln/>
        </p:spPr>
        <p:txBody>
          <a:bodyPr wrap="square" lIns="0" tIns="0" rIns="0" bIns="0" rtlCol="0" anchor="t"/>
          <a:lstStyle/>
          <a:p>
            <a:pPr marL="0" indent="0">
              <a:buNone/>
            </a:pPr>
            <a:r>
              <a:rPr lang="en-US" sz="1400" b="1" dirty="0">
                <a:solidFill>
                  <a:srgbClr val="12232B"/>
                </a:solidFill>
                <a:latin typeface="Calibri" pitchFamily="34" charset="0"/>
                <a:ea typeface="Calibri" pitchFamily="34" charset="-122"/>
                <a:cs typeface="Calibri" pitchFamily="34" charset="-120"/>
              </a:rPr>
              <a:t>Application and Jenkins</a:t>
            </a:r>
            <a:endParaRPr lang="en-US" sz="1400" dirty="0"/>
          </a:p>
        </p:txBody>
      </p:sp>
      <p:sp>
        <p:nvSpPr>
          <p:cNvPr id="15" name="Text 12"/>
          <p:cNvSpPr txBox="1"/>
          <p:nvPr/>
        </p:nvSpPr>
        <p:spPr>
          <a:xfrm>
            <a:off x="6537960" y="4434840"/>
            <a:ext cx="4846320" cy="548640"/>
          </a:xfrm>
          <a:prstGeom prst="rect">
            <a:avLst/>
          </a:prstGeom>
          <a:noFill/>
          <a:ln/>
        </p:spPr>
        <p:txBody>
          <a:bodyPr wrap="square" lIns="0" tIns="0" rIns="0" bIns="0" rtlCol="0" anchor="t"/>
          <a:lstStyle/>
          <a:p>
            <a:pPr marL="0" indent="0">
              <a:buNone/>
            </a:pPr>
            <a:r>
              <a:rPr lang="en-US" sz="1300" dirty="0">
                <a:solidFill>
                  <a:srgbClr val="566770"/>
                </a:solidFill>
                <a:latin typeface="Calibri" pitchFamily="34" charset="0"/>
                <a:ea typeface="Calibri" pitchFamily="34" charset="-122"/>
                <a:cs typeface="Calibri" pitchFamily="34" charset="-120"/>
              </a:rPr>
              <a:t>request rate, p95 latency, CPU, memory, builds</a:t>
            </a:r>
            <a:endParaRPr lang="en-US" sz="1300" dirty="0"/>
          </a:p>
        </p:txBody>
      </p:sp>
      <p:sp>
        <p:nvSpPr>
          <p:cNvPr id="16" name="Text 13"/>
          <p:cNvSpPr txBox="1"/>
          <p:nvPr/>
        </p:nvSpPr>
        <p:spPr>
          <a:xfrm>
            <a:off x="6537960" y="5074920"/>
            <a:ext cx="4846320" cy="274320"/>
          </a:xfrm>
          <a:prstGeom prst="rect">
            <a:avLst/>
          </a:prstGeom>
          <a:noFill/>
          <a:ln/>
        </p:spPr>
        <p:txBody>
          <a:bodyPr wrap="square" lIns="0" tIns="0" rIns="0" bIns="0" rtlCol="0" anchor="t"/>
          <a:lstStyle/>
          <a:p>
            <a:pPr marL="0" indent="0">
              <a:buNone/>
            </a:pPr>
            <a:r>
              <a:rPr lang="en-US" sz="1400" b="1" dirty="0">
                <a:solidFill>
                  <a:srgbClr val="12232B"/>
                </a:solidFill>
                <a:latin typeface="Calibri" pitchFamily="34" charset="0"/>
                <a:ea typeface="Calibri" pitchFamily="34" charset="-122"/>
                <a:cs typeface="Calibri" pitchFamily="34" charset="-120"/>
              </a:rPr>
              <a:t>Alert rules</a:t>
            </a:r>
            <a:endParaRPr lang="en-US" sz="1400" dirty="0"/>
          </a:p>
        </p:txBody>
      </p:sp>
      <p:sp>
        <p:nvSpPr>
          <p:cNvPr id="17" name="Text 14"/>
          <p:cNvSpPr txBox="1"/>
          <p:nvPr/>
        </p:nvSpPr>
        <p:spPr>
          <a:xfrm>
            <a:off x="6537960" y="5349240"/>
            <a:ext cx="4846320" cy="548640"/>
          </a:xfrm>
          <a:prstGeom prst="rect">
            <a:avLst/>
          </a:prstGeom>
          <a:noFill/>
          <a:ln/>
        </p:spPr>
        <p:txBody>
          <a:bodyPr wrap="square" lIns="0" tIns="0" rIns="0" bIns="0" rtlCol="0" anchor="t"/>
          <a:lstStyle/>
          <a:p>
            <a:pPr marL="0" indent="0">
              <a:buNone/>
            </a:pPr>
            <a:r>
              <a:rPr lang="en-US" sz="1300" dirty="0">
                <a:solidFill>
                  <a:srgbClr val="566770"/>
                </a:solidFill>
                <a:latin typeface="Calibri" pitchFamily="34" charset="0"/>
                <a:ea typeface="Calibri" pitchFamily="34" charset="-122"/>
                <a:cs typeface="Calibri" pitchFamily="34" charset="-120"/>
              </a:rPr>
              <a:t>approval waiting, agents failing, escalation, missing report</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66770"/>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47472"/>
            <a:ext cx="11091672" cy="274320"/>
          </a:xfrm>
          <a:prstGeom prst="rect">
            <a:avLst/>
          </a:prstGeom>
          <a:noFill/>
          <a:ln/>
        </p:spPr>
        <p:txBody>
          <a:bodyPr wrap="square" lIns="0" tIns="0" rIns="0" bIns="0" rtlCol="0" anchor="ctr"/>
          <a:lstStyle/>
          <a:p>
            <a:pPr marL="0" indent="0">
              <a:buNone/>
            </a:pPr>
            <a:r>
              <a:rPr lang="en-US" sz="1200" b="1" kern="0" spc="300" dirty="0">
                <a:solidFill>
                  <a:srgbClr val="1F8A8A"/>
                </a:solidFill>
                <a:latin typeface="Calibri" pitchFamily="34" charset="0"/>
                <a:ea typeface="Calibri" pitchFamily="34" charset="-122"/>
                <a:cs typeface="Calibri" pitchFamily="34" charset="-120"/>
              </a:rPr>
              <a:t>HUMAN OVERSIGHT</a:t>
            </a:r>
            <a:endParaRPr lang="en-US" sz="1200" dirty="0"/>
          </a:p>
        </p:txBody>
      </p:sp>
      <p:sp>
        <p:nvSpPr>
          <p:cNvPr id="3" name="Text 1"/>
          <p:cNvSpPr txBox="1"/>
          <p:nvPr/>
        </p:nvSpPr>
        <p:spPr>
          <a:xfrm>
            <a:off x="548640" y="621792"/>
            <a:ext cx="11091672" cy="731520"/>
          </a:xfrm>
          <a:prstGeom prst="rect">
            <a:avLst/>
          </a:prstGeom>
          <a:noFill/>
          <a:ln/>
        </p:spPr>
        <p:txBody>
          <a:bodyPr wrap="square" lIns="0" tIns="0" rIns="0" bIns="0" rtlCol="0" anchor="t"/>
          <a:lstStyle/>
          <a:p>
            <a:pPr marL="0" indent="0">
              <a:buNone/>
            </a:pPr>
            <a:r>
              <a:rPr lang="en-US" sz="3400" b="1" dirty="0">
                <a:solidFill>
                  <a:srgbClr val="12232B"/>
                </a:solidFill>
                <a:latin typeface="Cambria" pitchFamily="34" charset="0"/>
                <a:ea typeface="Cambria" pitchFamily="34" charset="-122"/>
                <a:cs typeface="Cambria" pitchFamily="34" charset="-120"/>
              </a:rPr>
              <a:t>The human in the loop: web console and approvals</a:t>
            </a:r>
            <a:endParaRPr lang="en-US" sz="3400" dirty="0"/>
          </a:p>
        </p:txBody>
      </p:sp>
      <p:sp>
        <p:nvSpPr>
          <p:cNvPr id="5" name="card"/>
          <p:cNvSpPr/>
          <p:nvPr/>
        </p:nvSpPr>
        <p:spPr>
          <a:xfrm>
            <a:off x="548640" y="1645920"/>
            <a:ext cx="5440680" cy="2103120"/>
          </a:xfrm>
          <a:prstGeom prst="rect">
            <a:avLst/>
          </a:prstGeom>
          <a:solidFill>
            <a:srgbClr val="FFFFFF"/>
          </a:solidFill>
          <a:ln w="9525">
            <a:solidFill>
              <a:srgbClr val="C9D3D6"/>
            </a:solidFill>
            <a:prstDash val="solid"/>
          </a:ln>
          <a:effectLst>
            <a:outerShdw blurRad="76200" dist="25400" dir="5400000" algn="bl" rotWithShape="0">
              <a:srgbClr val="000000">
                <a:alpha val="10000"/>
              </a:srgbClr>
            </a:outerShdw>
          </a:effectLst>
        </p:spPr>
      </p:sp>
      <p:sp>
        <p:nvSpPr>
          <p:cNvPr id="6" name="Text 3"/>
          <p:cNvSpPr txBox="1"/>
          <p:nvPr/>
        </p:nvSpPr>
        <p:spPr>
          <a:xfrm>
            <a:off x="822960" y="1828800"/>
            <a:ext cx="4892040" cy="411480"/>
          </a:xfrm>
          <a:prstGeom prst="rect">
            <a:avLst/>
          </a:prstGeom>
          <a:noFill/>
          <a:ln/>
        </p:spPr>
        <p:txBody>
          <a:bodyPr wrap="square" lIns="0" tIns="0" rIns="0" bIns="0" rtlCol="0" anchor="t"/>
          <a:lstStyle/>
          <a:p>
            <a:pPr marL="0" indent="0">
              <a:buNone/>
            </a:pPr>
            <a:r>
              <a:rPr lang="en-US" sz="1900" b="1" dirty="0">
                <a:solidFill>
                  <a:srgbClr val="1F8A8A"/>
                </a:solidFill>
                <a:latin typeface="Cambria" pitchFamily="34" charset="0"/>
                <a:ea typeface="Cambria" pitchFamily="34" charset="-122"/>
                <a:cs typeface="Cambria" pitchFamily="34" charset="-120"/>
              </a:rPr>
              <a:t>Roles</a:t>
            </a:r>
            <a:endParaRPr lang="en-US" sz="1900" dirty="0"/>
          </a:p>
        </p:txBody>
      </p:sp>
      <p:sp>
        <p:nvSpPr>
          <p:cNvPr id="7" name="Text 4"/>
          <p:cNvSpPr txBox="1"/>
          <p:nvPr/>
        </p:nvSpPr>
        <p:spPr>
          <a:xfrm>
            <a:off x="822960" y="2377440"/>
            <a:ext cx="4892040" cy="1280160"/>
          </a:xfrm>
          <a:prstGeom prst="rect">
            <a:avLst/>
          </a:prstGeom>
          <a:noFill/>
          <a:ln/>
        </p:spPr>
        <p:txBody>
          <a:bodyPr wrap="square" lIns="0" tIns="0" rIns="0" bIns="0" rtlCol="0" anchor="t"/>
          <a:lstStyle/>
          <a:p>
            <a:pPr marL="0" indent="0">
              <a:buNone/>
            </a:pPr>
            <a:r>
              <a:rPr lang="en-US" sz="1700" dirty="0">
                <a:solidFill>
                  <a:srgbClr val="12232B"/>
                </a:solidFill>
                <a:latin typeface="Calibri" pitchFamily="34" charset="0"/>
                <a:ea typeface="Calibri" pitchFamily="34" charset="-122"/>
                <a:cs typeface="Calibri" pitchFamily="34" charset="-120"/>
              </a:rPr>
              <a:t>Viewer, reviewer and admin accounts. Reviewers approve or reject; admins manage users and projects.</a:t>
            </a:r>
            <a:endParaRPr lang="en-US" sz="1700" dirty="0"/>
          </a:p>
        </p:txBody>
      </p:sp>
      <p:sp>
        <p:nvSpPr>
          <p:cNvPr id="8" name="card"/>
          <p:cNvSpPr/>
          <p:nvPr/>
        </p:nvSpPr>
        <p:spPr>
          <a:xfrm>
            <a:off x="6172200" y="1645920"/>
            <a:ext cx="5440680" cy="2103120"/>
          </a:xfrm>
          <a:prstGeom prst="rect">
            <a:avLst/>
          </a:prstGeom>
          <a:solidFill>
            <a:srgbClr val="FFFFFF"/>
          </a:solidFill>
          <a:ln w="9525">
            <a:solidFill>
              <a:srgbClr val="C9D3D6"/>
            </a:solidFill>
            <a:prstDash val="solid"/>
          </a:ln>
          <a:effectLst>
            <a:outerShdw blurRad="76200" dist="25400" dir="5400000" algn="bl" rotWithShape="0">
              <a:srgbClr val="000000">
                <a:alpha val="10000"/>
              </a:srgbClr>
            </a:outerShdw>
          </a:effectLst>
        </p:spPr>
      </p:sp>
      <p:sp>
        <p:nvSpPr>
          <p:cNvPr id="9" name="Text 6"/>
          <p:cNvSpPr txBox="1"/>
          <p:nvPr/>
        </p:nvSpPr>
        <p:spPr>
          <a:xfrm>
            <a:off x="6446520" y="1828800"/>
            <a:ext cx="4892040" cy="411480"/>
          </a:xfrm>
          <a:prstGeom prst="rect">
            <a:avLst/>
          </a:prstGeom>
          <a:noFill/>
          <a:ln/>
        </p:spPr>
        <p:txBody>
          <a:bodyPr wrap="square" lIns="0" tIns="0" rIns="0" bIns="0" rtlCol="0" anchor="t"/>
          <a:lstStyle/>
          <a:p>
            <a:pPr marL="0" indent="0">
              <a:buNone/>
            </a:pPr>
            <a:r>
              <a:rPr lang="en-US" sz="1900" b="1" dirty="0">
                <a:solidFill>
                  <a:srgbClr val="1F8A8A"/>
                </a:solidFill>
                <a:latin typeface="Cambria" pitchFamily="34" charset="0"/>
                <a:ea typeface="Cambria" pitchFamily="34" charset="-122"/>
                <a:cs typeface="Cambria" pitchFamily="34" charset="-120"/>
              </a:rPr>
              <a:t>Incident view</a:t>
            </a:r>
            <a:endParaRPr lang="en-US" sz="1900" dirty="0"/>
          </a:p>
        </p:txBody>
      </p:sp>
      <p:sp>
        <p:nvSpPr>
          <p:cNvPr id="10" name="Text 7"/>
          <p:cNvSpPr txBox="1"/>
          <p:nvPr/>
        </p:nvSpPr>
        <p:spPr>
          <a:xfrm>
            <a:off x="6446520" y="2377440"/>
            <a:ext cx="4892040" cy="1280160"/>
          </a:xfrm>
          <a:prstGeom prst="rect">
            <a:avLst/>
          </a:prstGeom>
          <a:noFill/>
          <a:ln/>
        </p:spPr>
        <p:txBody>
          <a:bodyPr wrap="square" lIns="0" tIns="0" rIns="0" bIns="0" rtlCol="0" anchor="t"/>
          <a:lstStyle/>
          <a:p>
            <a:pPr marL="0" indent="0">
              <a:buNone/>
            </a:pPr>
            <a:r>
              <a:rPr lang="en-US" sz="1700" dirty="0">
                <a:solidFill>
                  <a:srgbClr val="12232B"/>
                </a:solidFill>
                <a:latin typeface="Calibri" pitchFamily="34" charset="0"/>
                <a:ea typeface="Calibri" pitchFamily="34" charset="-122"/>
                <a:cs typeface="Calibri" pitchFamily="34" charset="-120"/>
              </a:rPr>
              <a:t>Every incident shows the three agents' evidence, the synthesis, the policy verdicts and how it ended.</a:t>
            </a:r>
            <a:endParaRPr lang="en-US" sz="1700" dirty="0"/>
          </a:p>
        </p:txBody>
      </p:sp>
      <p:sp>
        <p:nvSpPr>
          <p:cNvPr id="11" name="card"/>
          <p:cNvSpPr/>
          <p:nvPr/>
        </p:nvSpPr>
        <p:spPr>
          <a:xfrm>
            <a:off x="548640" y="3931920"/>
            <a:ext cx="5440680" cy="2103120"/>
          </a:xfrm>
          <a:prstGeom prst="rect">
            <a:avLst/>
          </a:prstGeom>
          <a:solidFill>
            <a:srgbClr val="FFFFFF"/>
          </a:solidFill>
          <a:ln w="9525">
            <a:solidFill>
              <a:srgbClr val="C9D3D6"/>
            </a:solidFill>
            <a:prstDash val="solid"/>
          </a:ln>
          <a:effectLst>
            <a:outerShdw blurRad="76200" dist="25400" dir="5400000" algn="bl" rotWithShape="0">
              <a:srgbClr val="000000">
                <a:alpha val="10000"/>
              </a:srgbClr>
            </a:outerShdw>
          </a:effectLst>
        </p:spPr>
      </p:sp>
      <p:sp>
        <p:nvSpPr>
          <p:cNvPr id="12" name="Text 9"/>
          <p:cNvSpPr txBox="1"/>
          <p:nvPr/>
        </p:nvSpPr>
        <p:spPr>
          <a:xfrm>
            <a:off x="822960" y="4114800"/>
            <a:ext cx="4892040" cy="411480"/>
          </a:xfrm>
          <a:prstGeom prst="rect">
            <a:avLst/>
          </a:prstGeom>
          <a:noFill/>
          <a:ln/>
        </p:spPr>
        <p:txBody>
          <a:bodyPr wrap="square" lIns="0" tIns="0" rIns="0" bIns="0" rtlCol="0" anchor="t"/>
          <a:lstStyle/>
          <a:p>
            <a:pPr marL="0" indent="0">
              <a:buNone/>
            </a:pPr>
            <a:r>
              <a:rPr lang="en-US" sz="1900" b="1" dirty="0">
                <a:solidFill>
                  <a:srgbClr val="1F8A8A"/>
                </a:solidFill>
                <a:latin typeface="Cambria" pitchFamily="34" charset="0"/>
                <a:ea typeface="Cambria" pitchFamily="34" charset="-122"/>
                <a:cs typeface="Cambria" pitchFamily="34" charset="-120"/>
              </a:rPr>
              <a:t>Approvals</a:t>
            </a:r>
            <a:endParaRPr lang="en-US" sz="1900" dirty="0"/>
          </a:p>
        </p:txBody>
      </p:sp>
      <p:sp>
        <p:nvSpPr>
          <p:cNvPr id="13" name="Text 10"/>
          <p:cNvSpPr txBox="1"/>
          <p:nvPr/>
        </p:nvSpPr>
        <p:spPr>
          <a:xfrm>
            <a:off x="822960" y="4663440"/>
            <a:ext cx="4892040" cy="1280160"/>
          </a:xfrm>
          <a:prstGeom prst="rect">
            <a:avLst/>
          </a:prstGeom>
          <a:noFill/>
          <a:ln/>
        </p:spPr>
        <p:txBody>
          <a:bodyPr wrap="square" lIns="0" tIns="0" rIns="0" bIns="0" rtlCol="0" anchor="t"/>
          <a:lstStyle/>
          <a:p>
            <a:pPr marL="0" indent="0">
              <a:buNone/>
            </a:pPr>
            <a:r>
              <a:rPr lang="en-US" sz="1700" dirty="0">
                <a:solidFill>
                  <a:srgbClr val="12232B"/>
                </a:solidFill>
                <a:latin typeface="Calibri" pitchFamily="34" charset="0"/>
                <a:ea typeface="Calibri" pitchFamily="34" charset="-122"/>
                <a:cs typeface="Calibri" pitchFamily="34" charset="-120"/>
              </a:rPr>
              <a:t>A signed approval link goes out by Slack, Teams or email. The decision, reviewer and comment are recorded.</a:t>
            </a:r>
            <a:endParaRPr lang="en-US" sz="1700" dirty="0"/>
          </a:p>
        </p:txBody>
      </p:sp>
      <p:sp>
        <p:nvSpPr>
          <p:cNvPr id="14" name="card"/>
          <p:cNvSpPr/>
          <p:nvPr/>
        </p:nvSpPr>
        <p:spPr>
          <a:xfrm>
            <a:off x="6172200" y="3931920"/>
            <a:ext cx="5440680" cy="2103120"/>
          </a:xfrm>
          <a:prstGeom prst="rect">
            <a:avLst/>
          </a:prstGeom>
          <a:solidFill>
            <a:srgbClr val="FFFFFF"/>
          </a:solidFill>
          <a:ln w="9525">
            <a:solidFill>
              <a:srgbClr val="C9D3D6"/>
            </a:solidFill>
            <a:prstDash val="solid"/>
          </a:ln>
          <a:effectLst>
            <a:outerShdw blurRad="76200" dist="25400" dir="5400000" algn="bl" rotWithShape="0">
              <a:srgbClr val="000000">
                <a:alpha val="10000"/>
              </a:srgbClr>
            </a:outerShdw>
          </a:effectLst>
        </p:spPr>
      </p:sp>
      <p:sp>
        <p:nvSpPr>
          <p:cNvPr id="15" name="Text 12"/>
          <p:cNvSpPr txBox="1"/>
          <p:nvPr/>
        </p:nvSpPr>
        <p:spPr>
          <a:xfrm>
            <a:off x="6446520" y="4114800"/>
            <a:ext cx="4892040" cy="411480"/>
          </a:xfrm>
          <a:prstGeom prst="rect">
            <a:avLst/>
          </a:prstGeom>
          <a:noFill/>
          <a:ln/>
        </p:spPr>
        <p:txBody>
          <a:bodyPr wrap="square" lIns="0" tIns="0" rIns="0" bIns="0" rtlCol="0" anchor="t"/>
          <a:lstStyle/>
          <a:p>
            <a:pPr marL="0" indent="0">
              <a:buNone/>
            </a:pPr>
            <a:r>
              <a:rPr lang="en-US" sz="1900" b="1" dirty="0">
                <a:solidFill>
                  <a:srgbClr val="1F8A8A"/>
                </a:solidFill>
                <a:latin typeface="Cambria" pitchFamily="34" charset="0"/>
                <a:ea typeface="Cambria" pitchFamily="34" charset="-122"/>
                <a:cs typeface="Cambria" pitchFamily="34" charset="-120"/>
              </a:rPr>
              <a:t>Dashboards inside the console</a:t>
            </a:r>
            <a:endParaRPr lang="en-US" sz="1900" dirty="0"/>
          </a:p>
        </p:txBody>
      </p:sp>
      <p:sp>
        <p:nvSpPr>
          <p:cNvPr id="16" name="Text 13"/>
          <p:cNvSpPr txBox="1"/>
          <p:nvPr/>
        </p:nvSpPr>
        <p:spPr>
          <a:xfrm>
            <a:off x="6446520" y="4663440"/>
            <a:ext cx="4892040" cy="1280160"/>
          </a:xfrm>
          <a:prstGeom prst="rect">
            <a:avLst/>
          </a:prstGeom>
          <a:noFill/>
          <a:ln/>
        </p:spPr>
        <p:txBody>
          <a:bodyPr wrap="square" lIns="0" tIns="0" rIns="0" bIns="0" rtlCol="0" anchor="t"/>
          <a:lstStyle/>
          <a:p>
            <a:pPr marL="0" indent="0">
              <a:buNone/>
            </a:pPr>
            <a:r>
              <a:rPr lang="en-US" sz="1700" dirty="0">
                <a:solidFill>
                  <a:srgbClr val="12232B"/>
                </a:solidFill>
                <a:latin typeface="Calibri" pitchFamily="34" charset="0"/>
                <a:ea typeface="Calibri" pitchFamily="34" charset="-122"/>
                <a:cs typeface="Calibri" pitchFamily="34" charset="-120"/>
              </a:rPr>
              <a:t>Grafana is embedded per project, so operators see health next to the incident.</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66770"/>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47472"/>
            <a:ext cx="11091672" cy="274320"/>
          </a:xfrm>
          <a:prstGeom prst="rect">
            <a:avLst/>
          </a:prstGeom>
          <a:noFill/>
          <a:ln/>
        </p:spPr>
        <p:txBody>
          <a:bodyPr wrap="square" lIns="0" tIns="0" rIns="0" bIns="0" rtlCol="0" anchor="ctr"/>
          <a:lstStyle/>
          <a:p>
            <a:pPr marL="0" indent="0">
              <a:buNone/>
            </a:pPr>
            <a:r>
              <a:rPr lang="en-US" sz="1200" b="1" kern="0" spc="300" dirty="0">
                <a:solidFill>
                  <a:srgbClr val="1F8A8A"/>
                </a:solidFill>
                <a:latin typeface="Calibri" pitchFamily="34" charset="0"/>
                <a:ea typeface="Calibri" pitchFamily="34" charset="-122"/>
                <a:cs typeface="Calibri" pitchFamily="34" charset="-120"/>
              </a:rPr>
              <a:t>EVALUATION</a:t>
            </a:r>
            <a:endParaRPr lang="en-US" sz="1200" dirty="0"/>
          </a:p>
        </p:txBody>
      </p:sp>
      <p:sp>
        <p:nvSpPr>
          <p:cNvPr id="3" name="Text 1"/>
          <p:cNvSpPr txBox="1"/>
          <p:nvPr/>
        </p:nvSpPr>
        <p:spPr>
          <a:xfrm>
            <a:off x="548640" y="621792"/>
            <a:ext cx="11091672" cy="731520"/>
          </a:xfrm>
          <a:prstGeom prst="rect">
            <a:avLst/>
          </a:prstGeom>
          <a:noFill/>
          <a:ln/>
        </p:spPr>
        <p:txBody>
          <a:bodyPr wrap="square" lIns="0" tIns="0" rIns="0" bIns="0" rtlCol="0" anchor="t"/>
          <a:lstStyle/>
          <a:p>
            <a:pPr marL="0" indent="0">
              <a:buNone/>
            </a:pPr>
            <a:r>
              <a:rPr lang="en-US" sz="3400" b="1" dirty="0">
                <a:solidFill>
                  <a:srgbClr val="12232B"/>
                </a:solidFill>
                <a:latin typeface="Cambria" pitchFamily="34" charset="0"/>
                <a:ea typeface="Cambria" pitchFamily="34" charset="-122"/>
                <a:cs typeface="Cambria" pitchFamily="34" charset="-120"/>
              </a:rPr>
              <a:t>Evaluating the agents against baselines</a:t>
            </a:r>
            <a:endParaRPr lang="en-US" sz="3400" dirty="0"/>
          </a:p>
        </p:txBody>
      </p:sp>
      <p:graphicFrame>
        <p:nvGraphicFramePr>
          <p:cNvPr id="5" name="Chart 0"/>
          <p:cNvGraphicFramePr/>
          <p:nvPr/>
        </p:nvGraphicFramePr>
        <p:xfrm>
          <a:off x="548640" y="1554480"/>
          <a:ext cx="676656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6" name="card"/>
          <p:cNvSpPr/>
          <p:nvPr/>
        </p:nvSpPr>
        <p:spPr>
          <a:xfrm>
            <a:off x="7589520" y="1554480"/>
            <a:ext cx="4050792" cy="1280160"/>
          </a:xfrm>
          <a:prstGeom prst="rect">
            <a:avLst/>
          </a:prstGeom>
          <a:solidFill>
            <a:srgbClr val="FFFFFF"/>
          </a:solidFill>
          <a:ln w="9525">
            <a:solidFill>
              <a:srgbClr val="C9D3D6"/>
            </a:solidFill>
            <a:prstDash val="solid"/>
          </a:ln>
          <a:effectLst>
            <a:outerShdw blurRad="76200" dist="25400" dir="5400000" algn="bl" rotWithShape="0">
              <a:srgbClr val="000000">
                <a:alpha val="10000"/>
              </a:srgbClr>
            </a:outerShdw>
          </a:effectLst>
        </p:spPr>
      </p:sp>
      <p:sp>
        <p:nvSpPr>
          <p:cNvPr id="7" name="Text 3"/>
          <p:cNvSpPr txBox="1"/>
          <p:nvPr/>
        </p:nvSpPr>
        <p:spPr>
          <a:xfrm>
            <a:off x="7772400" y="1645920"/>
            <a:ext cx="1600200" cy="1097280"/>
          </a:xfrm>
          <a:prstGeom prst="rect">
            <a:avLst/>
          </a:prstGeom>
          <a:noFill/>
          <a:ln/>
        </p:spPr>
        <p:txBody>
          <a:bodyPr wrap="square" lIns="0" tIns="0" rIns="0" bIns="0" rtlCol="0" anchor="ctr"/>
          <a:lstStyle/>
          <a:p>
            <a:pPr marL="0" indent="0">
              <a:buNone/>
            </a:pPr>
            <a:r>
              <a:rPr lang="en-US" sz="3000" b="1" dirty="0">
                <a:solidFill>
                  <a:srgbClr val="1F8A8A"/>
                </a:solidFill>
                <a:latin typeface="Cambria" pitchFamily="34" charset="0"/>
                <a:ea typeface="Cambria" pitchFamily="34" charset="-122"/>
                <a:cs typeface="Cambria" pitchFamily="34" charset="-120"/>
              </a:rPr>
              <a:t>14 / 21</a:t>
            </a:r>
            <a:endParaRPr lang="en-US" sz="3000" dirty="0"/>
          </a:p>
        </p:txBody>
      </p:sp>
      <p:sp>
        <p:nvSpPr>
          <p:cNvPr id="8" name="Text 4"/>
          <p:cNvSpPr txBox="1"/>
          <p:nvPr/>
        </p:nvSpPr>
        <p:spPr>
          <a:xfrm>
            <a:off x="9418320" y="1737360"/>
            <a:ext cx="2103120" cy="640080"/>
          </a:xfrm>
          <a:prstGeom prst="rect">
            <a:avLst/>
          </a:prstGeom>
          <a:noFill/>
          <a:ln/>
        </p:spPr>
        <p:txBody>
          <a:bodyPr wrap="square" lIns="0" tIns="0" rIns="0" bIns="0" rtlCol="0" anchor="t"/>
          <a:lstStyle/>
          <a:p>
            <a:pPr marL="0" indent="0">
              <a:buNone/>
            </a:pPr>
            <a:r>
              <a:rPr lang="en-US" sz="1300" dirty="0">
                <a:solidFill>
                  <a:srgbClr val="12232B"/>
                </a:solidFill>
                <a:latin typeface="Calibri" pitchFamily="34" charset="0"/>
                <a:ea typeface="Calibri" pitchFamily="34" charset="-122"/>
                <a:cs typeface="Calibri" pitchFamily="34" charset="-120"/>
              </a:rPr>
              <a:t>faults found in the severity sweep</a:t>
            </a:r>
            <a:endParaRPr lang="en-US" sz="1300" dirty="0"/>
          </a:p>
        </p:txBody>
      </p:sp>
      <p:sp>
        <p:nvSpPr>
          <p:cNvPr id="9" name="Text 5"/>
          <p:cNvSpPr txBox="1"/>
          <p:nvPr/>
        </p:nvSpPr>
        <p:spPr>
          <a:xfrm>
            <a:off x="9418320" y="2395728"/>
            <a:ext cx="2103120" cy="320040"/>
          </a:xfrm>
          <a:prstGeom prst="rect">
            <a:avLst/>
          </a:prstGeom>
          <a:noFill/>
          <a:ln/>
        </p:spPr>
        <p:txBody>
          <a:bodyPr wrap="square" lIns="0" tIns="0" rIns="0" bIns="0" rtlCol="0" anchor="t"/>
          <a:lstStyle/>
          <a:p>
            <a:pPr marL="0" indent="0">
              <a:buNone/>
            </a:pPr>
            <a:endParaRPr lang="en-US" sz="1100" dirty="0"/>
          </a:p>
        </p:txBody>
      </p:sp>
      <p:sp>
        <p:nvSpPr>
          <p:cNvPr id="10" name="card"/>
          <p:cNvSpPr/>
          <p:nvPr/>
        </p:nvSpPr>
        <p:spPr>
          <a:xfrm>
            <a:off x="7589520" y="2971800"/>
            <a:ext cx="4050792" cy="1280160"/>
          </a:xfrm>
          <a:prstGeom prst="rect">
            <a:avLst/>
          </a:prstGeom>
          <a:solidFill>
            <a:srgbClr val="FFFFFF"/>
          </a:solidFill>
          <a:ln w="9525">
            <a:solidFill>
              <a:srgbClr val="C9D3D6"/>
            </a:solidFill>
            <a:prstDash val="solid"/>
          </a:ln>
          <a:effectLst>
            <a:outerShdw blurRad="76200" dist="25400" dir="5400000" algn="bl" rotWithShape="0">
              <a:srgbClr val="000000">
                <a:alpha val="10000"/>
              </a:srgbClr>
            </a:outerShdw>
          </a:effectLst>
        </p:spPr>
      </p:sp>
      <p:sp>
        <p:nvSpPr>
          <p:cNvPr id="11" name="Text 7"/>
          <p:cNvSpPr txBox="1"/>
          <p:nvPr/>
        </p:nvSpPr>
        <p:spPr>
          <a:xfrm>
            <a:off x="7772400" y="3063240"/>
            <a:ext cx="1600200" cy="1097280"/>
          </a:xfrm>
          <a:prstGeom prst="rect">
            <a:avLst/>
          </a:prstGeom>
          <a:noFill/>
          <a:ln/>
        </p:spPr>
        <p:txBody>
          <a:bodyPr wrap="square" lIns="0" tIns="0" rIns="0" bIns="0" rtlCol="0" anchor="ctr"/>
          <a:lstStyle/>
          <a:p>
            <a:pPr marL="0" indent="0">
              <a:buNone/>
            </a:pPr>
            <a:r>
              <a:rPr lang="en-US" sz="3000" b="1" dirty="0">
                <a:solidFill>
                  <a:srgbClr val="1F8A8A"/>
                </a:solidFill>
                <a:latin typeface="Cambria" pitchFamily="34" charset="0"/>
                <a:ea typeface="Cambria" pitchFamily="34" charset="-122"/>
                <a:cs typeface="Cambria" pitchFamily="34" charset="-120"/>
              </a:rPr>
              <a:t>6 / 6</a:t>
            </a:r>
            <a:endParaRPr lang="en-US" sz="3000" dirty="0"/>
          </a:p>
        </p:txBody>
      </p:sp>
      <p:sp>
        <p:nvSpPr>
          <p:cNvPr id="12" name="Text 8"/>
          <p:cNvSpPr txBox="1"/>
          <p:nvPr/>
        </p:nvSpPr>
        <p:spPr>
          <a:xfrm>
            <a:off x="9418320" y="3154680"/>
            <a:ext cx="2103120" cy="640080"/>
          </a:xfrm>
          <a:prstGeom prst="rect">
            <a:avLst/>
          </a:prstGeom>
          <a:noFill/>
          <a:ln/>
        </p:spPr>
        <p:txBody>
          <a:bodyPr wrap="square" lIns="0" tIns="0" rIns="0" bIns="0" rtlCol="0" anchor="t"/>
          <a:lstStyle/>
          <a:p>
            <a:pPr marL="0" indent="0">
              <a:buNone/>
            </a:pPr>
            <a:r>
              <a:rPr lang="en-US" sz="1300" dirty="0">
                <a:solidFill>
                  <a:srgbClr val="12232B"/>
                </a:solidFill>
                <a:latin typeface="Calibri" pitchFamily="34" charset="0"/>
                <a:ea typeface="Calibri" pitchFamily="34" charset="-122"/>
                <a:cs typeface="Calibri" pitchFamily="34" charset="-120"/>
              </a:rPr>
              <a:t>Jenkins agent rules on ground-truth builds</a:t>
            </a:r>
            <a:endParaRPr lang="en-US" sz="1300" dirty="0"/>
          </a:p>
        </p:txBody>
      </p:sp>
      <p:sp>
        <p:nvSpPr>
          <p:cNvPr id="13" name="Text 9"/>
          <p:cNvSpPr txBox="1"/>
          <p:nvPr/>
        </p:nvSpPr>
        <p:spPr>
          <a:xfrm>
            <a:off x="9418320" y="3813048"/>
            <a:ext cx="2103120" cy="320040"/>
          </a:xfrm>
          <a:prstGeom prst="rect">
            <a:avLst/>
          </a:prstGeom>
          <a:noFill/>
          <a:ln/>
        </p:spPr>
        <p:txBody>
          <a:bodyPr wrap="square" lIns="0" tIns="0" rIns="0" bIns="0" rtlCol="0" anchor="t"/>
          <a:lstStyle/>
          <a:p>
            <a:pPr marL="0" indent="0">
              <a:buNone/>
            </a:pPr>
            <a:endParaRPr lang="en-US" sz="1100" dirty="0"/>
          </a:p>
        </p:txBody>
      </p:sp>
      <p:sp>
        <p:nvSpPr>
          <p:cNvPr id="14" name="card"/>
          <p:cNvSpPr/>
          <p:nvPr/>
        </p:nvSpPr>
        <p:spPr>
          <a:xfrm>
            <a:off x="7589520" y="4389120"/>
            <a:ext cx="4050792" cy="1280160"/>
          </a:xfrm>
          <a:prstGeom prst="rect">
            <a:avLst/>
          </a:prstGeom>
          <a:solidFill>
            <a:srgbClr val="FFFFFF"/>
          </a:solidFill>
          <a:ln w="9525">
            <a:solidFill>
              <a:srgbClr val="C9D3D6"/>
            </a:solidFill>
            <a:prstDash val="solid"/>
          </a:ln>
          <a:effectLst>
            <a:outerShdw blurRad="76200" dist="25400" dir="5400000" algn="bl" rotWithShape="0">
              <a:srgbClr val="000000">
                <a:alpha val="10000"/>
              </a:srgbClr>
            </a:outerShdw>
          </a:effectLst>
        </p:spPr>
      </p:sp>
      <p:sp>
        <p:nvSpPr>
          <p:cNvPr id="15" name="Text 11"/>
          <p:cNvSpPr txBox="1"/>
          <p:nvPr/>
        </p:nvSpPr>
        <p:spPr>
          <a:xfrm>
            <a:off x="7772400" y="4480560"/>
            <a:ext cx="1600200" cy="1097280"/>
          </a:xfrm>
          <a:prstGeom prst="rect">
            <a:avLst/>
          </a:prstGeom>
          <a:noFill/>
          <a:ln/>
        </p:spPr>
        <p:txBody>
          <a:bodyPr wrap="square" lIns="0" tIns="0" rIns="0" bIns="0" rtlCol="0" anchor="ctr"/>
          <a:lstStyle/>
          <a:p>
            <a:pPr marL="0" indent="0">
              <a:buNone/>
            </a:pPr>
            <a:r>
              <a:rPr lang="en-US" sz="3000" b="1" dirty="0">
                <a:solidFill>
                  <a:srgbClr val="1F8A8A"/>
                </a:solidFill>
                <a:latin typeface="Cambria" pitchFamily="34" charset="0"/>
                <a:ea typeface="Cambria" pitchFamily="34" charset="-122"/>
                <a:cs typeface="Cambria" pitchFamily="34" charset="-120"/>
              </a:rPr>
              <a:t>4 / 4</a:t>
            </a:r>
            <a:endParaRPr lang="en-US" sz="3000" dirty="0"/>
          </a:p>
        </p:txBody>
      </p:sp>
      <p:sp>
        <p:nvSpPr>
          <p:cNvPr id="16" name="Text 12"/>
          <p:cNvSpPr txBox="1"/>
          <p:nvPr/>
        </p:nvSpPr>
        <p:spPr>
          <a:xfrm>
            <a:off x="9418320" y="4572000"/>
            <a:ext cx="2103120" cy="640080"/>
          </a:xfrm>
          <a:prstGeom prst="rect">
            <a:avLst/>
          </a:prstGeom>
          <a:noFill/>
          <a:ln/>
        </p:spPr>
        <p:txBody>
          <a:bodyPr wrap="square" lIns="0" tIns="0" rIns="0" bIns="0" rtlCol="0" anchor="t"/>
          <a:lstStyle/>
          <a:p>
            <a:pPr marL="0" indent="0">
              <a:buNone/>
            </a:pPr>
            <a:r>
              <a:rPr lang="en-US" sz="1300" dirty="0">
                <a:solidFill>
                  <a:srgbClr val="12232B"/>
                </a:solidFill>
                <a:latin typeface="Calibri" pitchFamily="34" charset="0"/>
                <a:ea typeface="Calibri" pitchFamily="34" charset="-122"/>
                <a:cs typeface="Calibri" pitchFamily="34" charset="-120"/>
              </a:rPr>
              <a:t>Code agent scenarios, including 2 abstention cases</a:t>
            </a:r>
            <a:endParaRPr lang="en-US" sz="1300" dirty="0"/>
          </a:p>
        </p:txBody>
      </p:sp>
      <p:sp>
        <p:nvSpPr>
          <p:cNvPr id="17" name="Text 13"/>
          <p:cNvSpPr txBox="1"/>
          <p:nvPr/>
        </p:nvSpPr>
        <p:spPr>
          <a:xfrm>
            <a:off x="9418320" y="5230368"/>
            <a:ext cx="2103120" cy="320040"/>
          </a:xfrm>
          <a:prstGeom prst="rect">
            <a:avLst/>
          </a:prstGeom>
          <a:noFill/>
          <a:ln/>
        </p:spPr>
        <p:txBody>
          <a:bodyPr wrap="square" lIns="0" tIns="0" rIns="0" bIns="0" rtlCol="0" anchor="t"/>
          <a:lstStyle/>
          <a:p>
            <a:pPr marL="0" indent="0">
              <a:buNone/>
            </a:pPr>
            <a:r>
              <a:rPr lang="en-US" sz="1100" dirty="0">
                <a:solidFill>
                  <a:srgbClr val="566770"/>
                </a:solidFill>
                <a:latin typeface="Calibri" pitchFamily="34" charset="0"/>
                <a:ea typeface="Calibri" pitchFamily="34" charset="-122"/>
                <a:cs typeface="Calibri" pitchFamily="34" charset="-120"/>
              </a:rPr>
              <a:t>all criteria met</a:t>
            </a:r>
            <a:endParaRPr lang="en-US" sz="1100" dirty="0"/>
          </a:p>
        </p:txBody>
      </p:sp>
      <p:sp>
        <p:nvSpPr>
          <p:cNvPr id="18" name="Text 14"/>
          <p:cNvSpPr txBox="1"/>
          <p:nvPr/>
        </p:nvSpPr>
        <p:spPr>
          <a:xfrm>
            <a:off x="548640" y="5897880"/>
            <a:ext cx="6766560" cy="365760"/>
          </a:xfrm>
          <a:prstGeom prst="rect">
            <a:avLst/>
          </a:prstGeom>
          <a:noFill/>
          <a:ln/>
        </p:spPr>
        <p:txBody>
          <a:bodyPr wrap="square" lIns="0" tIns="0" rIns="0" bIns="0" rtlCol="0" anchor="t"/>
          <a:lstStyle/>
          <a:p>
            <a:pPr marL="0" indent="0">
              <a:buNone/>
            </a:pPr>
            <a:r>
              <a:rPr lang="en-US" sz="1200" dirty="0">
                <a:solidFill>
                  <a:srgbClr val="566770"/>
                </a:solidFill>
                <a:latin typeface="Calibri" pitchFamily="34" charset="0"/>
                <a:ea typeface="Calibri" pitchFamily="34" charset="-122"/>
                <a:cs typeface="Calibri" pitchFamily="34" charset="-120"/>
              </a:rPr>
              <a:t>Scenario-based and author-labelled. Gemini: one run, temperature 0, same data as text.</a:t>
            </a:r>
            <a:endParaRPr lang="en-US" sz="1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66770"/>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47472"/>
            <a:ext cx="11091672" cy="274320"/>
          </a:xfrm>
          <a:prstGeom prst="rect">
            <a:avLst/>
          </a:prstGeom>
          <a:noFill/>
          <a:ln/>
        </p:spPr>
        <p:txBody>
          <a:bodyPr wrap="square" lIns="0" tIns="0" rIns="0" bIns="0" rtlCol="0" anchor="ctr"/>
          <a:lstStyle/>
          <a:p>
            <a:pPr marL="0" indent="0">
              <a:buNone/>
            </a:pPr>
            <a:r>
              <a:rPr lang="en-US" sz="1200" b="1" kern="0" spc="300" dirty="0">
                <a:solidFill>
                  <a:srgbClr val="1F8A8A"/>
                </a:solidFill>
                <a:latin typeface="Calibri" pitchFamily="34" charset="0"/>
                <a:ea typeface="Calibri" pitchFamily="34" charset="-122"/>
                <a:cs typeface="Calibri" pitchFamily="34" charset="-120"/>
              </a:rPr>
              <a:t>DESIGN DECISIONS</a:t>
            </a:r>
            <a:endParaRPr lang="en-US" sz="1200" dirty="0"/>
          </a:p>
        </p:txBody>
      </p:sp>
      <p:sp>
        <p:nvSpPr>
          <p:cNvPr id="3" name="Text 1"/>
          <p:cNvSpPr txBox="1"/>
          <p:nvPr/>
        </p:nvSpPr>
        <p:spPr>
          <a:xfrm>
            <a:off x="548640" y="621792"/>
            <a:ext cx="11091672" cy="731520"/>
          </a:xfrm>
          <a:prstGeom prst="rect">
            <a:avLst/>
          </a:prstGeom>
          <a:noFill/>
          <a:ln/>
        </p:spPr>
        <p:txBody>
          <a:bodyPr wrap="square" lIns="0" tIns="0" rIns="0" bIns="0" rtlCol="0" anchor="t"/>
          <a:lstStyle/>
          <a:p>
            <a:pPr marL="0" indent="0">
              <a:buNone/>
            </a:pPr>
            <a:r>
              <a:rPr lang="en-US" sz="3400" b="1" dirty="0">
                <a:solidFill>
                  <a:srgbClr val="12232B"/>
                </a:solidFill>
                <a:latin typeface="Cambria" pitchFamily="34" charset="0"/>
                <a:ea typeface="Cambria" pitchFamily="34" charset="-122"/>
                <a:cs typeface="Cambria" pitchFamily="34" charset="-120"/>
              </a:rPr>
              <a:t>Design questions from the synopsis, answered</a:t>
            </a:r>
            <a:endParaRPr lang="en-US" sz="3400" dirty="0"/>
          </a:p>
        </p:txBody>
      </p:sp>
      <p:graphicFrame>
        <p:nvGraphicFramePr>
          <p:cNvPr id="17" name="Table 0"/>
          <p:cNvGraphicFramePr>
            <a:graphicFrameLocks noGrp="1"/>
          </p:cNvGraphicFramePr>
          <p:nvPr>
            <p:extLst>
              <p:ext uri="{D42A27DB-BD31-4B8C-83A1-F6EECF244321}">
                <p14:modId xmlns:p14="http://schemas.microsoft.com/office/powerpoint/2010/main" val="993479521"/>
              </p:ext>
            </p:extLst>
          </p:nvPr>
        </p:nvGraphicFramePr>
        <p:xfrm>
          <a:off x="548640" y="1645920"/>
          <a:ext cx="10545128" cy="3886200"/>
        </p:xfrm>
        <a:graphic>
          <a:graphicData uri="http://schemas.openxmlformats.org/drawingml/2006/table">
            <a:tbl>
              <a:tblPr/>
              <a:tblGrid>
                <a:gridCol w="2406968">
                  <a:extLst>
                    <a:ext uri="{9D8B030D-6E8A-4147-A177-3AD203B41FA5}">
                      <a16:colId xmlns:a16="http://schemas.microsoft.com/office/drawing/2014/main" val="20000"/>
                    </a:ext>
                  </a:extLst>
                </a:gridCol>
                <a:gridCol w="8138160">
                  <a:extLst>
                    <a:ext uri="{9D8B030D-6E8A-4147-A177-3AD203B41FA5}">
                      <a16:colId xmlns:a16="http://schemas.microsoft.com/office/drawing/2014/main" val="20001"/>
                    </a:ext>
                  </a:extLst>
                </a:gridCol>
              </a:tblGrid>
              <a:tr h="41148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Question</a:t>
                      </a:r>
                      <a:endParaRPr lang="en-US" sz="13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12232B"/>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What we did</a:t>
                      </a:r>
                      <a:endParaRPr lang="en-US" sz="13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12232B"/>
                    </a:solidFill>
                  </a:tcPr>
                </a:tc>
                <a:extLst>
                  <a:ext uri="{0D108BD9-81ED-4DB2-BD59-A6C34878D82A}">
                    <a16:rowId xmlns:a16="http://schemas.microsoft.com/office/drawing/2014/main" val="10000"/>
                  </a:ext>
                </a:extLst>
              </a:tr>
              <a:tr h="777240">
                <a:tc>
                  <a:txBody>
                    <a:bodyPr/>
                    <a:lstStyle/>
                    <a:p>
                      <a:pPr marL="0" indent="0">
                        <a:buNone/>
                      </a:pPr>
                      <a:r>
                        <a:rPr lang="en-US" sz="1300" b="1" dirty="0">
                          <a:solidFill>
                            <a:srgbClr val="12232B"/>
                          </a:solidFill>
                          <a:latin typeface="Calibri" pitchFamily="34" charset="0"/>
                          <a:ea typeface="Calibri" pitchFamily="34" charset="-122"/>
                          <a:cs typeface="Calibri" pitchFamily="34" charset="-120"/>
                        </a:rPr>
                        <a:t>2 agents or 4?</a:t>
                      </a:r>
                      <a:endParaRPr lang="en-US" sz="13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marL="0" indent="0">
                        <a:buNone/>
                      </a:pPr>
                      <a:r>
                        <a:rPr lang="en-US" sz="1300" dirty="0">
                          <a:solidFill>
                            <a:srgbClr val="12232B"/>
                          </a:solidFill>
                          <a:latin typeface="Calibri" pitchFamily="34" charset="0"/>
                          <a:ea typeface="Calibri" pitchFamily="34" charset="-122"/>
                          <a:cs typeface="Calibri" pitchFamily="34" charset="-120"/>
                        </a:rPr>
                        <a:t>Three specialists plus a Coordinator. Each owns one evidence type, so errors are less correlated, and the Coordinator copes with a missing or failed agent.</a:t>
                      </a:r>
                      <a:endParaRPr lang="en-US" sz="13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85800">
                <a:tc>
                  <a:txBody>
                    <a:bodyPr/>
                    <a:lstStyle/>
                    <a:p>
                      <a:pPr marL="0" indent="0">
                        <a:buNone/>
                      </a:pPr>
                      <a:r>
                        <a:rPr lang="en-US" sz="1300" b="1" dirty="0">
                          <a:solidFill>
                            <a:srgbClr val="12232B"/>
                          </a:solidFill>
                          <a:latin typeface="Calibri" pitchFamily="34" charset="0"/>
                          <a:ea typeface="Calibri" pitchFamily="34" charset="-122"/>
                          <a:cs typeface="Calibri" pitchFamily="34" charset="-120"/>
                        </a:rPr>
                        <a:t>Chain-of-thought or ReAct?</a:t>
                      </a:r>
                      <a:endParaRPr lang="en-US" sz="13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marL="0" indent="0">
                        <a:buNone/>
                      </a:pPr>
                      <a:r>
                        <a:rPr lang="en-US" sz="1300" dirty="0">
                          <a:solidFill>
                            <a:srgbClr val="12232B"/>
                          </a:solidFill>
                          <a:latin typeface="Calibri" pitchFamily="34" charset="0"/>
                          <a:ea typeface="Calibri" pitchFamily="34" charset="-122"/>
                          <a:cs typeface="Calibri" pitchFamily="34" charset="-120"/>
                        </a:rPr>
                        <a:t>ReAct for the Jenkins agent, where tool use helps. Plan-and-execute and persona prompt variants are prepared for comparison.</a:t>
                      </a:r>
                      <a:endParaRPr lang="en-US" sz="13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40080">
                <a:tc>
                  <a:txBody>
                    <a:bodyPr/>
                    <a:lstStyle/>
                    <a:p>
                      <a:pPr marL="0" indent="0">
                        <a:buNone/>
                      </a:pPr>
                      <a:r>
                        <a:rPr lang="en-US" sz="1300" b="1" dirty="0">
                          <a:solidFill>
                            <a:srgbClr val="12232B"/>
                          </a:solidFill>
                          <a:latin typeface="Calibri" pitchFamily="34" charset="0"/>
                          <a:ea typeface="Calibri" pitchFamily="34" charset="-122"/>
                          <a:cs typeface="Calibri" pitchFamily="34" charset="-120"/>
                        </a:rPr>
                        <a:t>Time-series anomaly detection?</a:t>
                      </a:r>
                      <a:endParaRPr lang="en-US" sz="13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marL="0" indent="0">
                        <a:buNone/>
                      </a:pPr>
                      <a:r>
                        <a:rPr lang="en-US" sz="1300" dirty="0">
                          <a:solidFill>
                            <a:srgbClr val="12232B"/>
                          </a:solidFill>
                          <a:latin typeface="Calibri" pitchFamily="34" charset="0"/>
                          <a:ea typeface="Calibri" pitchFamily="34" charset="-122"/>
                          <a:cs typeface="Calibri" pitchFamily="34" charset="-120"/>
                        </a:rPr>
                        <a:t>Core of the Metrics agent: robust z-score against a baseline, persistence, correlation.</a:t>
                      </a:r>
                      <a:endParaRPr lang="en-US" sz="13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31520">
                <a:tc>
                  <a:txBody>
                    <a:bodyPr/>
                    <a:lstStyle/>
                    <a:p>
                      <a:pPr marL="0" indent="0">
                        <a:buNone/>
                      </a:pPr>
                      <a:r>
                        <a:rPr lang="en-US" sz="1300" b="1" dirty="0">
                          <a:solidFill>
                            <a:srgbClr val="12232B"/>
                          </a:solidFill>
                          <a:latin typeface="Calibri" pitchFamily="34" charset="0"/>
                          <a:ea typeface="Calibri" pitchFamily="34" charset="-122"/>
                          <a:cs typeface="Calibri" pitchFamily="34" charset="-120"/>
                        </a:rPr>
                        <a:t>Final-stage evaluator?</a:t>
                      </a:r>
                      <a:endParaRPr lang="en-US" sz="13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marL="0" indent="0">
                        <a:buNone/>
                      </a:pPr>
                      <a:r>
                        <a:rPr lang="en-US" sz="1300" dirty="0">
                          <a:solidFill>
                            <a:srgbClr val="12232B"/>
                          </a:solidFill>
                          <a:latin typeface="Calibri" pitchFamily="34" charset="0"/>
                          <a:ea typeface="Calibri" pitchFamily="34" charset="-122"/>
                          <a:cs typeface="Calibri" pitchFamily="34" charset="-120"/>
                        </a:rPr>
                        <a:t>Scenario scoring against ground truth, a threshold baseline and a Gemini baseline, plus the Agent Ops dashboard.</a:t>
                      </a:r>
                      <a:endParaRPr lang="en-US" sz="13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40080">
                <a:tc>
                  <a:txBody>
                    <a:bodyPr/>
                    <a:lstStyle/>
                    <a:p>
                      <a:pPr marL="0" indent="0">
                        <a:buNone/>
                      </a:pPr>
                      <a:r>
                        <a:rPr lang="en-US" sz="1300" b="1" dirty="0">
                          <a:solidFill>
                            <a:srgbClr val="12232B"/>
                          </a:solidFill>
                          <a:latin typeface="Calibri" pitchFamily="34" charset="0"/>
                          <a:ea typeface="Calibri" pitchFamily="34" charset="-122"/>
                          <a:cs typeface="Calibri" pitchFamily="34" charset="-120"/>
                        </a:rPr>
                        <a:t>Admin and user interfaces?</a:t>
                      </a:r>
                      <a:endParaRPr lang="en-US" sz="13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marL="0" indent="0">
                        <a:buNone/>
                      </a:pPr>
                      <a:r>
                        <a:rPr lang="en-US" sz="1300" dirty="0">
                          <a:solidFill>
                            <a:srgbClr val="12232B"/>
                          </a:solidFill>
                          <a:latin typeface="Calibri" pitchFamily="34" charset="0"/>
                          <a:ea typeface="Calibri" pitchFamily="34" charset="-122"/>
                          <a:cs typeface="Calibri" pitchFamily="34" charset="-120"/>
                        </a:rPr>
                        <a:t>A web console with viewer, reviewer and admin roles, plus Grafana dashboards.</a:t>
                      </a:r>
                      <a:endParaRPr lang="en-US" sz="13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66770"/>
                </a:solidFill>
                <a:latin typeface="Calibri"/>
                <a:ea typeface="Calibri"/>
                <a:cs typeface="Calibri"/>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47472"/>
            <a:ext cx="11091672" cy="274320"/>
          </a:xfrm>
          <a:prstGeom prst="rect">
            <a:avLst/>
          </a:prstGeom>
          <a:noFill/>
          <a:ln/>
        </p:spPr>
        <p:txBody>
          <a:bodyPr wrap="square" lIns="0" tIns="0" rIns="0" bIns="0" rtlCol="0" anchor="ctr"/>
          <a:lstStyle/>
          <a:p>
            <a:pPr marL="0" indent="0">
              <a:buNone/>
            </a:pPr>
            <a:r>
              <a:rPr lang="en-US" sz="1200" b="1" kern="0" spc="300" dirty="0">
                <a:solidFill>
                  <a:srgbClr val="1F8A8A"/>
                </a:solidFill>
                <a:latin typeface="Calibri" pitchFamily="34" charset="0"/>
                <a:ea typeface="Calibri" pitchFamily="34" charset="-122"/>
                <a:cs typeface="Calibri" pitchFamily="34" charset="-120"/>
              </a:rPr>
              <a:t>COVERAGE</a:t>
            </a:r>
            <a:endParaRPr lang="en-US" sz="1200" dirty="0"/>
          </a:p>
        </p:txBody>
      </p:sp>
      <p:sp>
        <p:nvSpPr>
          <p:cNvPr id="3" name="Text 1"/>
          <p:cNvSpPr txBox="1"/>
          <p:nvPr/>
        </p:nvSpPr>
        <p:spPr>
          <a:xfrm>
            <a:off x="548640" y="621792"/>
            <a:ext cx="11091672" cy="731520"/>
          </a:xfrm>
          <a:prstGeom prst="rect">
            <a:avLst/>
          </a:prstGeom>
          <a:noFill/>
          <a:ln/>
        </p:spPr>
        <p:txBody>
          <a:bodyPr wrap="square" lIns="0" tIns="0" rIns="0" bIns="0" rtlCol="0" anchor="t"/>
          <a:lstStyle/>
          <a:p>
            <a:pPr marL="0" indent="0">
              <a:buNone/>
            </a:pPr>
            <a:r>
              <a:rPr lang="en-US" sz="3400" b="1" dirty="0">
                <a:solidFill>
                  <a:srgbClr val="12232B"/>
                </a:solidFill>
                <a:latin typeface="Cambria" pitchFamily="34" charset="0"/>
                <a:ea typeface="Cambria" pitchFamily="34" charset="-122"/>
                <a:cs typeface="Cambria" pitchFamily="34" charset="-120"/>
              </a:rPr>
              <a:t>Coverage Matrix: the 11 project criteria</a:t>
            </a:r>
            <a:endParaRPr lang="en-US" sz="3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4718304"/>
        </p:xfrm>
        <a:graphic>
          <a:graphicData uri="http://schemas.openxmlformats.org/drawingml/2006/table">
            <a:tbl>
              <a:tblPr/>
              <a:tblGrid>
                <a:gridCol w="45720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6583680">
                  <a:extLst>
                    <a:ext uri="{9D8B030D-6E8A-4147-A177-3AD203B41FA5}">
                      <a16:colId xmlns:a16="http://schemas.microsoft.com/office/drawing/2014/main" val="20003"/>
                    </a:ext>
                  </a:extLst>
                </a:gridCol>
              </a:tblGrid>
              <a:tr h="393192">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12232B"/>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Criterion</a:t>
                      </a:r>
                      <a:endParaRPr lang="en-US" sz="13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12232B"/>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Status</a:t>
                      </a:r>
                      <a:endParaRPr lang="en-US" sz="13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12232B"/>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How</a:t>
                      </a:r>
                      <a:endParaRPr lang="en-US" sz="13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12232B"/>
                    </a:solidFill>
                  </a:tcPr>
                </a:tc>
                <a:extLst>
                  <a:ext uri="{0D108BD9-81ED-4DB2-BD59-A6C34878D82A}">
                    <a16:rowId xmlns:a16="http://schemas.microsoft.com/office/drawing/2014/main" val="10000"/>
                  </a:ext>
                </a:extLst>
              </a:tr>
              <a:tr h="393192">
                <a:tc>
                  <a:txBody>
                    <a:bodyPr/>
                    <a:lstStyle/>
                    <a:p>
                      <a:pPr marL="0" indent="0">
                        <a:buNone/>
                      </a:pPr>
                      <a:r>
                        <a:rPr lang="en-US" sz="1200" dirty="0">
                          <a:solidFill>
                            <a:srgbClr val="12232B"/>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marL="0" indent="0">
                        <a:buNone/>
                      </a:pPr>
                      <a:r>
                        <a:rPr lang="en-US" sz="1200" b="1" dirty="0">
                          <a:solidFill>
                            <a:srgbClr val="12232B"/>
                          </a:solidFill>
                          <a:latin typeface="Calibri" pitchFamily="34" charset="0"/>
                          <a:ea typeface="Calibri" pitchFamily="34" charset="-122"/>
                          <a:cs typeface="Calibri" pitchFamily="34" charset="-120"/>
                        </a:rPr>
                        <a:t>Messaging and context sharing</a:t>
                      </a:r>
                      <a:endParaRPr lang="en-US" sz="12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marL="0" indent="0">
                        <a:buNone/>
                      </a:pPr>
                      <a:r>
                        <a:rPr lang="en-US" sz="1200" b="1" dirty="0">
                          <a:solidFill>
                            <a:srgbClr val="2E7D4F"/>
                          </a:solidFill>
                          <a:latin typeface="Calibri" pitchFamily="34" charset="0"/>
                          <a:ea typeface="Calibri" pitchFamily="34" charset="-122"/>
                          <a:cs typeface="Calibri" pitchFamily="34" charset="-120"/>
                        </a:rPr>
                        <a:t>Covered</a:t>
                      </a:r>
                      <a:endParaRPr lang="en-US" sz="12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marL="0" indent="0">
                        <a:buNone/>
                      </a:pPr>
                      <a:r>
                        <a:rPr lang="en-US" sz="1200" dirty="0">
                          <a:solidFill>
                            <a:srgbClr val="12232B"/>
                          </a:solidFill>
                          <a:latin typeface="Calibri" pitchFamily="34" charset="0"/>
                          <a:ea typeface="Calibri" pitchFamily="34" charset="-122"/>
                          <a:cs typeface="Calibri" pitchFamily="34" charset="-120"/>
                        </a:rPr>
                        <a:t>Append-only, versioned Blackboard shared by all agents, with RabbitMQ events and A2A triggers</a:t>
                      </a:r>
                      <a:endParaRPr lang="en-US" sz="12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93192">
                <a:tc>
                  <a:txBody>
                    <a:bodyPr/>
                    <a:lstStyle/>
                    <a:p>
                      <a:pPr marL="0" indent="0">
                        <a:buNone/>
                      </a:pPr>
                      <a:r>
                        <a:rPr lang="en-US" sz="1200" dirty="0">
                          <a:solidFill>
                            <a:srgbClr val="12232B"/>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marL="0" indent="0">
                        <a:buNone/>
                      </a:pPr>
                      <a:r>
                        <a:rPr lang="en-US" sz="1200" b="1" dirty="0">
                          <a:solidFill>
                            <a:srgbClr val="12232B"/>
                          </a:solidFill>
                          <a:latin typeface="Calibri" pitchFamily="34" charset="0"/>
                          <a:ea typeface="Calibri" pitchFamily="34" charset="-122"/>
                          <a:cs typeface="Calibri" pitchFamily="34" charset="-120"/>
                        </a:rPr>
                        <a:t>Tool integration using MCP</a:t>
                      </a:r>
                      <a:endParaRPr lang="en-US" sz="12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marL="0" indent="0">
                        <a:buNone/>
                      </a:pPr>
                      <a:r>
                        <a:rPr lang="en-US" sz="1200" b="1" dirty="0">
                          <a:solidFill>
                            <a:srgbClr val="2E7D4F"/>
                          </a:solidFill>
                          <a:latin typeface="Calibri" pitchFamily="34" charset="0"/>
                          <a:ea typeface="Calibri" pitchFamily="34" charset="-122"/>
                          <a:cs typeface="Calibri" pitchFamily="34" charset="-120"/>
                        </a:rPr>
                        <a:t>Covered</a:t>
                      </a:r>
                      <a:endParaRPr lang="en-US" sz="12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marL="0" indent="0">
                        <a:buNone/>
                      </a:pPr>
                      <a:r>
                        <a:rPr lang="en-US" sz="1200" dirty="0">
                          <a:solidFill>
                            <a:srgbClr val="12232B"/>
                          </a:solidFill>
                          <a:latin typeface="Calibri" pitchFamily="34" charset="0"/>
                          <a:ea typeface="Calibri" pitchFamily="34" charset="-122"/>
                          <a:cs typeface="Calibri" pitchFamily="34" charset="-120"/>
                        </a:rPr>
                        <a:t>Jenkins MCP (7 tools) and Analytics MCP (3 tools) in the stack, plus a Prometheus MCP server</a:t>
                      </a:r>
                      <a:endParaRPr lang="en-US" sz="12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93192">
                <a:tc>
                  <a:txBody>
                    <a:bodyPr/>
                    <a:lstStyle/>
                    <a:p>
                      <a:pPr marL="0" indent="0">
                        <a:buNone/>
                      </a:pPr>
                      <a:r>
                        <a:rPr lang="en-US" sz="1200" dirty="0">
                          <a:solidFill>
                            <a:srgbClr val="12232B"/>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marL="0" indent="0">
                        <a:buNone/>
                      </a:pPr>
                      <a:r>
                        <a:rPr lang="en-US" sz="1200" b="1" dirty="0">
                          <a:solidFill>
                            <a:srgbClr val="12232B"/>
                          </a:solidFill>
                          <a:latin typeface="Calibri" pitchFamily="34" charset="0"/>
                          <a:ea typeface="Calibri" pitchFamily="34" charset="-122"/>
                          <a:cs typeface="Calibri" pitchFamily="34" charset="-120"/>
                        </a:rPr>
                        <a:t>Structured output (Pydantic)</a:t>
                      </a:r>
                      <a:endParaRPr lang="en-US" sz="12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marL="0" indent="0">
                        <a:buNone/>
                      </a:pPr>
                      <a:r>
                        <a:rPr lang="en-US" sz="1200" b="1" dirty="0">
                          <a:solidFill>
                            <a:srgbClr val="2E7D4F"/>
                          </a:solidFill>
                          <a:latin typeface="Calibri" pitchFamily="34" charset="0"/>
                          <a:ea typeface="Calibri" pitchFamily="34" charset="-122"/>
                          <a:cs typeface="Calibri" pitchFamily="34" charset="-120"/>
                        </a:rPr>
                        <a:t>Covered</a:t>
                      </a:r>
                      <a:endParaRPr lang="en-US" sz="12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marL="0" indent="0">
                        <a:buNone/>
                      </a:pPr>
                      <a:r>
                        <a:rPr lang="en-US" sz="1200" dirty="0">
                          <a:solidFill>
                            <a:srgbClr val="12232B"/>
                          </a:solidFill>
                          <a:latin typeface="Calibri" pitchFamily="34" charset="0"/>
                          <a:ea typeface="Calibri" pitchFamily="34" charset="-122"/>
                          <a:cs typeface="Calibri" pitchFamily="34" charset="-120"/>
                        </a:rPr>
                        <a:t>Evidence and incident-report models, rendered as JSON and Markdown from one canonical schema</a:t>
                      </a:r>
                      <a:endParaRPr lang="en-US" sz="12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93192">
                <a:tc>
                  <a:txBody>
                    <a:bodyPr/>
                    <a:lstStyle/>
                    <a:p>
                      <a:pPr marL="0" indent="0">
                        <a:buNone/>
                      </a:pPr>
                      <a:r>
                        <a:rPr lang="en-US" sz="1200" dirty="0">
                          <a:solidFill>
                            <a:srgbClr val="12232B"/>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marL="0" indent="0">
                        <a:buNone/>
                      </a:pPr>
                      <a:r>
                        <a:rPr lang="en-US" sz="1200" b="1" dirty="0">
                          <a:solidFill>
                            <a:srgbClr val="12232B"/>
                          </a:solidFill>
                          <a:latin typeface="Calibri" pitchFamily="34" charset="0"/>
                          <a:ea typeface="Calibri" pitchFamily="34" charset="-122"/>
                          <a:cs typeface="Calibri" pitchFamily="34" charset="-120"/>
                        </a:rPr>
                        <a:t>Agentic design patterns</a:t>
                      </a:r>
                      <a:endParaRPr lang="en-US" sz="12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marL="0" indent="0">
                        <a:buNone/>
                      </a:pPr>
                      <a:r>
                        <a:rPr lang="en-US" sz="1200" b="1" dirty="0">
                          <a:solidFill>
                            <a:srgbClr val="2E7D4F"/>
                          </a:solidFill>
                          <a:latin typeface="Calibri" pitchFamily="34" charset="0"/>
                          <a:ea typeface="Calibri" pitchFamily="34" charset="-122"/>
                          <a:cs typeface="Calibri" pitchFamily="34" charset="-120"/>
                        </a:rPr>
                        <a:t>Covered</a:t>
                      </a:r>
                      <a:endParaRPr lang="en-US" sz="12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marL="0" indent="0">
                        <a:buNone/>
                      </a:pPr>
                      <a:r>
                        <a:rPr lang="en-US" sz="1200" dirty="0">
                          <a:solidFill>
                            <a:srgbClr val="12232B"/>
                          </a:solidFill>
                          <a:latin typeface="Calibri" pitchFamily="34" charset="0"/>
                          <a:ea typeface="Calibri" pitchFamily="34" charset="-122"/>
                          <a:cs typeface="Calibri" pitchFamily="34" charset="-120"/>
                        </a:rPr>
                        <a:t>Parallel dispatch, hierarchical Coordinator, sequential flows; ReAct and plan-and-execute prompts</a:t>
                      </a:r>
                      <a:endParaRPr lang="en-US" sz="12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93192">
                <a:tc>
                  <a:txBody>
                    <a:bodyPr/>
                    <a:lstStyle/>
                    <a:p>
                      <a:pPr marL="0" indent="0">
                        <a:buNone/>
                      </a:pPr>
                      <a:r>
                        <a:rPr lang="en-US" sz="1200" dirty="0">
                          <a:solidFill>
                            <a:srgbClr val="12232B"/>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marL="0" indent="0">
                        <a:buNone/>
                      </a:pPr>
                      <a:r>
                        <a:rPr lang="en-US" sz="1200" b="1" dirty="0">
                          <a:solidFill>
                            <a:srgbClr val="12232B"/>
                          </a:solidFill>
                          <a:latin typeface="Calibri" pitchFamily="34" charset="0"/>
                          <a:ea typeface="Calibri" pitchFamily="34" charset="-122"/>
                          <a:cs typeface="Calibri" pitchFamily="34" charset="-120"/>
                        </a:rPr>
                        <a:t>Monitoring callbacks and heat map</a:t>
                      </a:r>
                      <a:endParaRPr lang="en-US" sz="12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marL="0" indent="0">
                        <a:buNone/>
                      </a:pPr>
                      <a:r>
                        <a:rPr lang="en-US" sz="1200" b="1" dirty="0">
                          <a:solidFill>
                            <a:srgbClr val="2E7D4F"/>
                          </a:solidFill>
                          <a:latin typeface="Calibri" pitchFamily="34" charset="0"/>
                          <a:ea typeface="Calibri" pitchFamily="34" charset="-122"/>
                          <a:cs typeface="Calibri" pitchFamily="34" charset="-120"/>
                        </a:rPr>
                        <a:t>Covered</a:t>
                      </a:r>
                      <a:endParaRPr lang="en-US" sz="12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marL="0" indent="0">
                        <a:buNone/>
                      </a:pPr>
                      <a:r>
                        <a:rPr lang="en-US" sz="1200" dirty="0">
                          <a:solidFill>
                            <a:srgbClr val="12232B"/>
                          </a:solidFill>
                          <a:latin typeface="Calibri" pitchFamily="34" charset="0"/>
                          <a:ea typeface="Calibri" pitchFamily="34" charset="-122"/>
                          <a:cs typeface="Calibri" pitchFamily="34" charset="-120"/>
                        </a:rPr>
                        <a:t>CrewAI step and task callbacks, audit events per agent, counters, run-duration heat map</a:t>
                      </a:r>
                      <a:endParaRPr lang="en-US" sz="12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93192">
                <a:tc>
                  <a:txBody>
                    <a:bodyPr/>
                    <a:lstStyle/>
                    <a:p>
                      <a:pPr marL="0" indent="0">
                        <a:buNone/>
                      </a:pPr>
                      <a:r>
                        <a:rPr lang="en-US" sz="1200" dirty="0">
                          <a:solidFill>
                            <a:srgbClr val="12232B"/>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marL="0" indent="0">
                        <a:buNone/>
                      </a:pPr>
                      <a:r>
                        <a:rPr lang="en-US" sz="1200" b="1" dirty="0">
                          <a:solidFill>
                            <a:srgbClr val="12232B"/>
                          </a:solidFill>
                          <a:latin typeface="Calibri" pitchFamily="34" charset="0"/>
                          <a:ea typeface="Calibri" pitchFamily="34" charset="-122"/>
                          <a:cs typeface="Calibri" pitchFamily="34" charset="-120"/>
                        </a:rPr>
                        <a:t>Agent-to-agent via A2A</a:t>
                      </a:r>
                      <a:endParaRPr lang="en-US" sz="12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marL="0" indent="0">
                        <a:buNone/>
                      </a:pPr>
                      <a:r>
                        <a:rPr lang="en-US" sz="1200" b="1" dirty="0">
                          <a:solidFill>
                            <a:srgbClr val="2E7D4F"/>
                          </a:solidFill>
                          <a:latin typeface="Calibri" pitchFamily="34" charset="0"/>
                          <a:ea typeface="Calibri" pitchFamily="34" charset="-122"/>
                          <a:cs typeface="Calibri" pitchFamily="34" charset="-120"/>
                        </a:rPr>
                        <a:t>Covered</a:t>
                      </a:r>
                      <a:endParaRPr lang="en-US" sz="12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marL="0" indent="0">
                        <a:buNone/>
                      </a:pPr>
                      <a:r>
                        <a:rPr lang="en-US" sz="1200" dirty="0">
                          <a:solidFill>
                            <a:srgbClr val="12232B"/>
                          </a:solidFill>
                          <a:latin typeface="Calibri" pitchFamily="34" charset="0"/>
                          <a:ea typeface="Calibri" pitchFamily="34" charset="-122"/>
                          <a:cs typeface="Calibri" pitchFamily="34" charset="-120"/>
                        </a:rPr>
                        <a:t>Google ADK Coordinator and CrewAI agents exchange A2A messages and agent cards</a:t>
                      </a:r>
                      <a:endParaRPr lang="en-US" sz="12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93192">
                <a:tc>
                  <a:txBody>
                    <a:bodyPr/>
                    <a:lstStyle/>
                    <a:p>
                      <a:pPr marL="0" indent="0">
                        <a:buNone/>
                      </a:pPr>
                      <a:r>
                        <a:rPr lang="en-US" sz="1200" dirty="0">
                          <a:solidFill>
                            <a:srgbClr val="12232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marL="0" indent="0">
                        <a:buNone/>
                      </a:pPr>
                      <a:r>
                        <a:rPr lang="en-US" sz="1200" b="1" dirty="0">
                          <a:solidFill>
                            <a:srgbClr val="12232B"/>
                          </a:solidFill>
                          <a:latin typeface="Calibri" pitchFamily="34" charset="0"/>
                          <a:ea typeface="Calibri" pitchFamily="34" charset="-122"/>
                          <a:cs typeface="Calibri" pitchFamily="34" charset="-120"/>
                        </a:rPr>
                        <a:t>Only CrewAI and ADK</a:t>
                      </a:r>
                      <a:endParaRPr lang="en-US" sz="12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marL="0" indent="0">
                        <a:buNone/>
                      </a:pPr>
                      <a:r>
                        <a:rPr lang="en-US" sz="1200" b="1" dirty="0">
                          <a:solidFill>
                            <a:srgbClr val="2E7D4F"/>
                          </a:solidFill>
                          <a:latin typeface="Calibri" pitchFamily="34" charset="0"/>
                          <a:ea typeface="Calibri" pitchFamily="34" charset="-122"/>
                          <a:cs typeface="Calibri" pitchFamily="34" charset="-120"/>
                        </a:rPr>
                        <a:t>Covered</a:t>
                      </a:r>
                      <a:endParaRPr lang="en-US" sz="12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marL="0" indent="0">
                        <a:buNone/>
                      </a:pPr>
                      <a:r>
                        <a:rPr lang="en-US" sz="1200" dirty="0">
                          <a:solidFill>
                            <a:srgbClr val="12232B"/>
                          </a:solidFill>
                          <a:latin typeface="Calibri" pitchFamily="34" charset="0"/>
                          <a:ea typeface="Calibri" pitchFamily="34" charset="-122"/>
                          <a:cs typeface="Calibri" pitchFamily="34" charset="-120"/>
                        </a:rPr>
                        <a:t>CrewAI for the three investigators, Google ADK for the Coordinator; no other framework</a:t>
                      </a:r>
                      <a:endParaRPr lang="en-US" sz="12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93192">
                <a:tc>
                  <a:txBody>
                    <a:bodyPr/>
                    <a:lstStyle/>
                    <a:p>
                      <a:pPr marL="0" indent="0">
                        <a:buNone/>
                      </a:pPr>
                      <a:r>
                        <a:rPr lang="en-US" sz="1200" dirty="0">
                          <a:solidFill>
                            <a:srgbClr val="12232B"/>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marL="0" indent="0">
                        <a:buNone/>
                      </a:pPr>
                      <a:r>
                        <a:rPr lang="en-US" sz="1200" b="1" dirty="0">
                          <a:solidFill>
                            <a:srgbClr val="12232B"/>
                          </a:solidFill>
                          <a:latin typeface="Calibri" pitchFamily="34" charset="0"/>
                          <a:ea typeface="Calibri" pitchFamily="34" charset="-122"/>
                          <a:cs typeface="Calibri" pitchFamily="34" charset="-120"/>
                        </a:rPr>
                        <a:t>Guardrails and security</a:t>
                      </a:r>
                      <a:endParaRPr lang="en-US" sz="12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marL="0" indent="0">
                        <a:buNone/>
                      </a:pPr>
                      <a:r>
                        <a:rPr lang="en-US" sz="1200" b="1" dirty="0">
                          <a:solidFill>
                            <a:srgbClr val="2E7D4F"/>
                          </a:solidFill>
                          <a:latin typeface="Calibri" pitchFamily="34" charset="0"/>
                          <a:ea typeface="Calibri" pitchFamily="34" charset="-122"/>
                          <a:cs typeface="Calibri" pitchFamily="34" charset="-120"/>
                        </a:rPr>
                        <a:t>Covered</a:t>
                      </a:r>
                      <a:endParaRPr lang="en-US" sz="12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marL="0" indent="0">
                        <a:buNone/>
                      </a:pPr>
                      <a:r>
                        <a:rPr lang="en-US" sz="1200" dirty="0">
                          <a:solidFill>
                            <a:srgbClr val="12232B"/>
                          </a:solidFill>
                          <a:latin typeface="Calibri" pitchFamily="34" charset="0"/>
                          <a:ea typeface="Calibri" pitchFamily="34" charset="-122"/>
                          <a:cs typeface="Calibri" pitchFamily="34" charset="-120"/>
                        </a:rPr>
                        <a:t>Injection and toxicity screening, output checks, redaction, OPA gate, persona prompt variants</a:t>
                      </a:r>
                      <a:endParaRPr lang="en-US" sz="12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93192">
                <a:tc>
                  <a:txBody>
                    <a:bodyPr/>
                    <a:lstStyle/>
                    <a:p>
                      <a:pPr marL="0" indent="0">
                        <a:buNone/>
                      </a:pPr>
                      <a:r>
                        <a:rPr lang="en-US" sz="1200" dirty="0">
                          <a:solidFill>
                            <a:srgbClr val="12232B"/>
                          </a:solidFill>
                          <a:latin typeface="Calibri" pitchFamily="34" charset="0"/>
                          <a:ea typeface="Calibri" pitchFamily="34" charset="-122"/>
                          <a:cs typeface="Calibri" pitchFamily="34" charset="-120"/>
                        </a:rPr>
                        <a:t>9</a:t>
                      </a:r>
                      <a:endParaRPr lang="en-US" sz="12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marL="0" indent="0">
                        <a:buNone/>
                      </a:pPr>
                      <a:r>
                        <a:rPr lang="en-US" sz="1200" b="1" dirty="0">
                          <a:solidFill>
                            <a:srgbClr val="12232B"/>
                          </a:solidFill>
                          <a:latin typeface="Calibri" pitchFamily="34" charset="0"/>
                          <a:ea typeface="Calibri" pitchFamily="34" charset="-122"/>
                          <a:cs typeface="Calibri" pitchFamily="34" charset="-120"/>
                        </a:rPr>
                        <a:t>Observability and provenance</a:t>
                      </a:r>
                      <a:endParaRPr lang="en-US" sz="12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marL="0" indent="0">
                        <a:buNone/>
                      </a:pPr>
                      <a:r>
                        <a:rPr lang="en-US" sz="1200" b="1" dirty="0">
                          <a:solidFill>
                            <a:srgbClr val="2E7D4F"/>
                          </a:solidFill>
                          <a:latin typeface="Calibri" pitchFamily="34" charset="0"/>
                          <a:ea typeface="Calibri" pitchFamily="34" charset="-122"/>
                          <a:cs typeface="Calibri" pitchFamily="34" charset="-120"/>
                        </a:rPr>
                        <a:t>Covered</a:t>
                      </a:r>
                      <a:endParaRPr lang="en-US" sz="12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marL="0" indent="0">
                        <a:buNone/>
                      </a:pPr>
                      <a:r>
                        <a:rPr lang="en-US" sz="1200" dirty="0">
                          <a:solidFill>
                            <a:srgbClr val="12232B"/>
                          </a:solidFill>
                          <a:latin typeface="Calibri" pitchFamily="34" charset="0"/>
                          <a:ea typeface="Calibri" pitchFamily="34" charset="-122"/>
                          <a:cs typeface="Calibri" pitchFamily="34" charset="-120"/>
                        </a:rPr>
                        <a:t>Webhook-to-agent OpenTelemetry trace, audit trail, versioned Blackboard, provenance guide</a:t>
                      </a:r>
                      <a:endParaRPr lang="en-US" sz="12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93192">
                <a:tc>
                  <a:txBody>
                    <a:bodyPr/>
                    <a:lstStyle/>
                    <a:p>
                      <a:pPr marL="0" indent="0">
                        <a:buNone/>
                      </a:pPr>
                      <a:r>
                        <a:rPr lang="en-US" sz="1200" dirty="0">
                          <a:solidFill>
                            <a:srgbClr val="12232B"/>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marL="0" indent="0">
                        <a:buNone/>
                      </a:pPr>
                      <a:r>
                        <a:rPr lang="en-US" sz="1200" b="1" dirty="0">
                          <a:solidFill>
                            <a:srgbClr val="12232B"/>
                          </a:solidFill>
                          <a:latin typeface="Calibri" pitchFamily="34" charset="0"/>
                          <a:ea typeface="Calibri" pitchFamily="34" charset="-122"/>
                          <a:cs typeface="Calibri" pitchFamily="34" charset="-120"/>
                        </a:rPr>
                        <a:t>End-to-end evaluation, cost, box plot</a:t>
                      </a:r>
                      <a:endParaRPr lang="en-US" sz="12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marL="0" indent="0">
                        <a:buNone/>
                      </a:pPr>
                      <a:r>
                        <a:rPr lang="en-US" sz="1200" b="1" dirty="0">
                          <a:solidFill>
                            <a:srgbClr val="9A6A12"/>
                          </a:solidFill>
                          <a:latin typeface="Calibri" pitchFamily="34" charset="0"/>
                          <a:ea typeface="Calibri" pitchFamily="34" charset="-122"/>
                          <a:cs typeface="Calibri" pitchFamily="34" charset="-120"/>
                        </a:rPr>
                        <a:t>Not yet</a:t>
                      </a:r>
                      <a:endParaRPr lang="en-US" sz="12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marL="0" indent="0">
                        <a:buNone/>
                      </a:pPr>
                      <a:r>
                        <a:rPr lang="en-US" sz="1200" dirty="0">
                          <a:solidFill>
                            <a:srgbClr val="12232B"/>
                          </a:solidFill>
                          <a:latin typeface="Calibri" pitchFamily="34" charset="0"/>
                          <a:ea typeface="Calibri" pitchFamily="34" charset="-122"/>
                          <a:cs typeface="Calibri" pitchFamily="34" charset="-120"/>
                        </a:rPr>
                        <a:t>Per-agent accuracy evaluations done; the 40-run cost and latency study is planned next</a:t>
                      </a:r>
                      <a:endParaRPr lang="en-US" sz="12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393192">
                <a:tc>
                  <a:txBody>
                    <a:bodyPr/>
                    <a:lstStyle/>
                    <a:p>
                      <a:pPr marL="0" indent="0">
                        <a:buNone/>
                      </a:pPr>
                      <a:r>
                        <a:rPr lang="en-US" sz="1200" dirty="0">
                          <a:solidFill>
                            <a:srgbClr val="12232B"/>
                          </a:solidFill>
                          <a:latin typeface="Calibri" pitchFamily="34" charset="0"/>
                          <a:ea typeface="Calibri" pitchFamily="34" charset="-122"/>
                          <a:cs typeface="Calibri" pitchFamily="34" charset="-120"/>
                        </a:rPr>
                        <a:t>11</a:t>
                      </a:r>
                      <a:endParaRPr lang="en-US" sz="12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marL="0" indent="0">
                        <a:buNone/>
                      </a:pPr>
                      <a:r>
                        <a:rPr lang="en-US" sz="1200" b="1" dirty="0">
                          <a:solidFill>
                            <a:srgbClr val="12232B"/>
                          </a:solidFill>
                          <a:latin typeface="Calibri" pitchFamily="34" charset="0"/>
                          <a:ea typeface="Calibri" pitchFamily="34" charset="-122"/>
                          <a:cs typeface="Calibri" pitchFamily="34" charset="-120"/>
                        </a:rPr>
                        <a:t>Cloud deployment</a:t>
                      </a:r>
                      <a:endParaRPr lang="en-US" sz="12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marL="0" indent="0">
                        <a:buNone/>
                      </a:pPr>
                      <a:r>
                        <a:rPr lang="en-US" sz="1200" b="1" dirty="0">
                          <a:solidFill>
                            <a:srgbClr val="9A6A12"/>
                          </a:solidFill>
                          <a:latin typeface="Calibri" pitchFamily="34" charset="0"/>
                          <a:ea typeface="Calibri" pitchFamily="34" charset="-122"/>
                          <a:cs typeface="Calibri" pitchFamily="34" charset="-120"/>
                        </a:rPr>
                        <a:t>Not yet</a:t>
                      </a:r>
                      <a:endParaRPr lang="en-US" sz="12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marL="0" indent="0">
                        <a:buNone/>
                      </a:pPr>
                      <a:r>
                        <a:rPr lang="en-US" sz="1200" dirty="0">
                          <a:solidFill>
                            <a:srgbClr val="12232B"/>
                          </a:solidFill>
                          <a:latin typeface="Calibri" pitchFamily="34" charset="0"/>
                          <a:ea typeface="Calibri" pitchFamily="34" charset="-122"/>
                          <a:cs typeface="Calibri" pitchFamily="34" charset="-120"/>
                        </a:rPr>
                        <a:t>Runs as a Docker Compose stack; cloud deployment is planned</a:t>
                      </a:r>
                      <a:endParaRPr lang="en-US" sz="1200" dirty="0">
                        <a:latin typeface="Calibri" charset="0"/>
                        <a:ea typeface="Calibri" charset="0"/>
                        <a:cs typeface="Calibri" charset="0"/>
                      </a:endParaRPr>
                    </a:p>
                  </a:txBody>
                  <a:tcPr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66770"/>
                </a:solidFill>
                <a:latin typeface="Calibri"/>
                <a:ea typeface="Calibri"/>
                <a:cs typeface="Calibri"/>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47472"/>
            <a:ext cx="11091672" cy="274320"/>
          </a:xfrm>
          <a:prstGeom prst="rect">
            <a:avLst/>
          </a:prstGeom>
          <a:noFill/>
          <a:ln/>
        </p:spPr>
        <p:txBody>
          <a:bodyPr wrap="square" lIns="0" tIns="0" rIns="0" bIns="0" rtlCol="0" anchor="ctr"/>
          <a:lstStyle/>
          <a:p>
            <a:pPr marL="0" indent="0">
              <a:buNone/>
            </a:pPr>
            <a:r>
              <a:rPr lang="en-US" sz="1200" b="1" kern="0" spc="300" dirty="0">
                <a:solidFill>
                  <a:srgbClr val="1F8A8A"/>
                </a:solidFill>
                <a:latin typeface="Calibri" pitchFamily="34" charset="0"/>
                <a:ea typeface="Calibri" pitchFamily="34" charset="-122"/>
                <a:cs typeface="Calibri" pitchFamily="34" charset="-120"/>
              </a:rPr>
              <a:t>TIMELINE</a:t>
            </a:r>
            <a:endParaRPr lang="en-US" sz="1200" dirty="0"/>
          </a:p>
        </p:txBody>
      </p:sp>
      <p:sp>
        <p:nvSpPr>
          <p:cNvPr id="3" name="Text 1"/>
          <p:cNvSpPr txBox="1"/>
          <p:nvPr/>
        </p:nvSpPr>
        <p:spPr>
          <a:xfrm>
            <a:off x="548640" y="621792"/>
            <a:ext cx="11091672" cy="731520"/>
          </a:xfrm>
          <a:prstGeom prst="rect">
            <a:avLst/>
          </a:prstGeom>
          <a:noFill/>
          <a:ln/>
        </p:spPr>
        <p:txBody>
          <a:bodyPr wrap="square" lIns="0" tIns="0" rIns="0" bIns="0" rtlCol="0" anchor="t"/>
          <a:lstStyle/>
          <a:p>
            <a:pPr marL="0" indent="0">
              <a:buNone/>
            </a:pPr>
            <a:r>
              <a:rPr lang="en-US" sz="3400" b="1" dirty="0">
                <a:solidFill>
                  <a:srgbClr val="12232B"/>
                </a:solidFill>
                <a:latin typeface="Cambria" pitchFamily="34" charset="0"/>
                <a:ea typeface="Cambria" pitchFamily="34" charset="-122"/>
                <a:cs typeface="Cambria" pitchFamily="34" charset="-120"/>
              </a:rPr>
              <a:t>Project timeline: progress against the 8-week plan</a:t>
            </a:r>
            <a:endParaRPr lang="en-US" sz="3400" dirty="0"/>
          </a:p>
        </p:txBody>
      </p:sp>
      <p:sp>
        <p:nvSpPr>
          <p:cNvPr id="5" name="progress"/>
          <p:cNvSpPr/>
          <p:nvPr/>
        </p:nvSpPr>
        <p:spPr>
          <a:xfrm>
            <a:off x="548640" y="1600200"/>
            <a:ext cx="1306449" cy="109728"/>
          </a:xfrm>
          <a:prstGeom prst="rect">
            <a:avLst/>
          </a:prstGeom>
          <a:solidFill>
            <a:srgbClr val="1F8A8A"/>
          </a:solidFill>
          <a:ln w="12700">
            <a:solidFill>
              <a:srgbClr val="1F8A8A"/>
            </a:solidFill>
            <a:prstDash val="solid"/>
          </a:ln>
        </p:spPr>
      </p:sp>
      <p:sp>
        <p:nvSpPr>
          <p:cNvPr id="6" name="card"/>
          <p:cNvSpPr/>
          <p:nvPr/>
        </p:nvSpPr>
        <p:spPr>
          <a:xfrm>
            <a:off x="548640" y="1783080"/>
            <a:ext cx="1306449" cy="2834640"/>
          </a:xfrm>
          <a:prstGeom prst="rect">
            <a:avLst/>
          </a:prstGeom>
          <a:solidFill>
            <a:srgbClr val="FFFFFF"/>
          </a:solidFill>
          <a:ln w="9525">
            <a:solidFill>
              <a:srgbClr val="C9D3D6"/>
            </a:solidFill>
            <a:prstDash val="solid"/>
          </a:ln>
          <a:effectLst>
            <a:outerShdw blurRad="76200" dist="25400" dir="5400000" algn="bl" rotWithShape="0">
              <a:srgbClr val="000000">
                <a:alpha val="10000"/>
              </a:srgbClr>
            </a:outerShdw>
          </a:effectLst>
        </p:spPr>
      </p:sp>
      <p:sp>
        <p:nvSpPr>
          <p:cNvPr id="7" name="Text 4"/>
          <p:cNvSpPr txBox="1"/>
          <p:nvPr/>
        </p:nvSpPr>
        <p:spPr>
          <a:xfrm>
            <a:off x="640080" y="1847088"/>
            <a:ext cx="1123569" cy="274320"/>
          </a:xfrm>
          <a:prstGeom prst="rect">
            <a:avLst/>
          </a:prstGeom>
          <a:noFill/>
          <a:ln/>
        </p:spPr>
        <p:txBody>
          <a:bodyPr wrap="square" lIns="0" tIns="0" rIns="0" bIns="0" rtlCol="0" anchor="t"/>
          <a:lstStyle/>
          <a:p>
            <a:pPr marL="0" indent="0">
              <a:buNone/>
            </a:pPr>
            <a:r>
              <a:rPr lang="en-US" sz="1300" b="1" dirty="0">
                <a:solidFill>
                  <a:srgbClr val="1F8A8A"/>
                </a:solidFill>
                <a:latin typeface="Calibri" pitchFamily="34" charset="0"/>
                <a:ea typeface="Calibri" pitchFamily="34" charset="-122"/>
                <a:cs typeface="Calibri" pitchFamily="34" charset="-120"/>
              </a:rPr>
              <a:t>W1</a:t>
            </a:r>
            <a:endParaRPr lang="en-US" sz="1300" dirty="0"/>
          </a:p>
        </p:txBody>
      </p:sp>
      <p:sp>
        <p:nvSpPr>
          <p:cNvPr id="8" name="Text 5"/>
          <p:cNvSpPr txBox="1"/>
          <p:nvPr/>
        </p:nvSpPr>
        <p:spPr>
          <a:xfrm>
            <a:off x="640080" y="2121408"/>
            <a:ext cx="1123569" cy="502920"/>
          </a:xfrm>
          <a:prstGeom prst="rect">
            <a:avLst/>
          </a:prstGeom>
          <a:noFill/>
          <a:ln/>
        </p:spPr>
        <p:txBody>
          <a:bodyPr wrap="square" lIns="0" tIns="0" rIns="0" bIns="0" rtlCol="0" anchor="t"/>
          <a:lstStyle/>
          <a:p>
            <a:pPr marL="0" indent="0">
              <a:buNone/>
            </a:pPr>
            <a:r>
              <a:rPr lang="en-US" sz="1400" b="1" dirty="0">
                <a:solidFill>
                  <a:srgbClr val="12232B"/>
                </a:solidFill>
                <a:latin typeface="Cambria" pitchFamily="34" charset="0"/>
                <a:ea typeface="Cambria" pitchFamily="34" charset="-122"/>
                <a:cs typeface="Cambria" pitchFamily="34" charset="-120"/>
              </a:rPr>
              <a:t>Foundations</a:t>
            </a:r>
            <a:endParaRPr lang="en-US" sz="1400" dirty="0"/>
          </a:p>
        </p:txBody>
      </p:sp>
      <p:sp>
        <p:nvSpPr>
          <p:cNvPr id="9" name="Text 6"/>
          <p:cNvSpPr txBox="1"/>
          <p:nvPr/>
        </p:nvSpPr>
        <p:spPr>
          <a:xfrm>
            <a:off x="640080" y="2651760"/>
            <a:ext cx="1123569" cy="1371600"/>
          </a:xfrm>
          <a:prstGeom prst="rect">
            <a:avLst/>
          </a:prstGeom>
          <a:noFill/>
          <a:ln/>
        </p:spPr>
        <p:txBody>
          <a:bodyPr wrap="square" lIns="0" tIns="0" rIns="0" bIns="0" rtlCol="0" anchor="t"/>
          <a:lstStyle/>
          <a:p>
            <a:pPr marL="0" indent="0">
              <a:buNone/>
            </a:pPr>
            <a:r>
              <a:rPr lang="en-US" sz="1050" dirty="0">
                <a:solidFill>
                  <a:srgbClr val="566770"/>
                </a:solidFill>
                <a:latin typeface="Calibri" pitchFamily="34" charset="0"/>
                <a:ea typeface="Calibri" pitchFamily="34" charset="-122"/>
                <a:cs typeface="Calibri" pitchFamily="34" charset="-120"/>
              </a:rPr>
              <a:t>Webhook, Jenkins pipeline, Prometheus and Grafana, evidence schema, OPA skeleton</a:t>
            </a:r>
            <a:endParaRPr lang="en-US" sz="1050" dirty="0"/>
          </a:p>
        </p:txBody>
      </p:sp>
      <p:sp>
        <p:nvSpPr>
          <p:cNvPr id="10" name="Text 7"/>
          <p:cNvSpPr txBox="1"/>
          <p:nvPr/>
        </p:nvSpPr>
        <p:spPr>
          <a:xfrm>
            <a:off x="640080" y="4160520"/>
            <a:ext cx="1123569" cy="365760"/>
          </a:xfrm>
          <a:prstGeom prst="rect">
            <a:avLst/>
          </a:prstGeom>
          <a:noFill/>
          <a:ln/>
        </p:spPr>
        <p:txBody>
          <a:bodyPr wrap="square" lIns="0" tIns="0" rIns="0" bIns="0" rtlCol="0" anchor="t"/>
          <a:lstStyle/>
          <a:p>
            <a:pPr marL="0" indent="0">
              <a:buNone/>
            </a:pPr>
            <a:r>
              <a:rPr lang="en-US" sz="1050" b="1" dirty="0">
                <a:solidFill>
                  <a:srgbClr val="12232B"/>
                </a:solidFill>
                <a:latin typeface="Calibri" pitchFamily="34" charset="0"/>
                <a:ea typeface="Calibri" pitchFamily="34" charset="-122"/>
                <a:cs typeface="Calibri" pitchFamily="34" charset="-120"/>
              </a:rPr>
              <a:t>30 Sep - 2 Oct</a:t>
            </a:r>
            <a:endParaRPr lang="en-US" sz="1050" dirty="0"/>
          </a:p>
        </p:txBody>
      </p:sp>
      <p:sp>
        <p:nvSpPr>
          <p:cNvPr id="11" name="progress"/>
          <p:cNvSpPr/>
          <p:nvPr/>
        </p:nvSpPr>
        <p:spPr>
          <a:xfrm>
            <a:off x="1946529" y="1600200"/>
            <a:ext cx="1306449" cy="109728"/>
          </a:xfrm>
          <a:prstGeom prst="rect">
            <a:avLst/>
          </a:prstGeom>
          <a:solidFill>
            <a:srgbClr val="1F8A8A"/>
          </a:solidFill>
          <a:ln w="12700">
            <a:solidFill>
              <a:srgbClr val="1F8A8A"/>
            </a:solidFill>
            <a:prstDash val="solid"/>
          </a:ln>
        </p:spPr>
      </p:sp>
      <p:sp>
        <p:nvSpPr>
          <p:cNvPr id="12" name="card"/>
          <p:cNvSpPr/>
          <p:nvPr/>
        </p:nvSpPr>
        <p:spPr>
          <a:xfrm>
            <a:off x="1946529" y="1783080"/>
            <a:ext cx="1306449" cy="2834640"/>
          </a:xfrm>
          <a:prstGeom prst="rect">
            <a:avLst/>
          </a:prstGeom>
          <a:solidFill>
            <a:srgbClr val="FFFFFF"/>
          </a:solidFill>
          <a:ln w="9525">
            <a:solidFill>
              <a:srgbClr val="C9D3D6"/>
            </a:solidFill>
            <a:prstDash val="solid"/>
          </a:ln>
          <a:effectLst>
            <a:outerShdw blurRad="76200" dist="25400" dir="5400000" algn="bl" rotWithShape="0">
              <a:srgbClr val="000000">
                <a:alpha val="10000"/>
              </a:srgbClr>
            </a:outerShdw>
          </a:effectLst>
        </p:spPr>
      </p:sp>
      <p:sp>
        <p:nvSpPr>
          <p:cNvPr id="13" name="Text 10"/>
          <p:cNvSpPr txBox="1"/>
          <p:nvPr/>
        </p:nvSpPr>
        <p:spPr>
          <a:xfrm>
            <a:off x="2037969" y="1847088"/>
            <a:ext cx="1123569" cy="274320"/>
          </a:xfrm>
          <a:prstGeom prst="rect">
            <a:avLst/>
          </a:prstGeom>
          <a:noFill/>
          <a:ln/>
        </p:spPr>
        <p:txBody>
          <a:bodyPr wrap="square" lIns="0" tIns="0" rIns="0" bIns="0" rtlCol="0" anchor="t"/>
          <a:lstStyle/>
          <a:p>
            <a:pPr marL="0" indent="0">
              <a:buNone/>
            </a:pPr>
            <a:r>
              <a:rPr lang="en-US" sz="1300" b="1" dirty="0">
                <a:solidFill>
                  <a:srgbClr val="1F8A8A"/>
                </a:solidFill>
                <a:latin typeface="Calibri" pitchFamily="34" charset="0"/>
                <a:ea typeface="Calibri" pitchFamily="34" charset="-122"/>
                <a:cs typeface="Calibri" pitchFamily="34" charset="-120"/>
              </a:rPr>
              <a:t>W2</a:t>
            </a:r>
            <a:endParaRPr lang="en-US" sz="1300" dirty="0"/>
          </a:p>
        </p:txBody>
      </p:sp>
      <p:sp>
        <p:nvSpPr>
          <p:cNvPr id="14" name="Text 11"/>
          <p:cNvSpPr txBox="1"/>
          <p:nvPr/>
        </p:nvSpPr>
        <p:spPr>
          <a:xfrm>
            <a:off x="2037969" y="2121408"/>
            <a:ext cx="1123569" cy="502920"/>
          </a:xfrm>
          <a:prstGeom prst="rect">
            <a:avLst/>
          </a:prstGeom>
          <a:noFill/>
          <a:ln/>
        </p:spPr>
        <p:txBody>
          <a:bodyPr wrap="square" lIns="0" tIns="0" rIns="0" bIns="0" rtlCol="0" anchor="t"/>
          <a:lstStyle/>
          <a:p>
            <a:pPr marL="0" indent="0">
              <a:buNone/>
            </a:pPr>
            <a:r>
              <a:rPr lang="en-US" sz="1400" b="1" dirty="0">
                <a:solidFill>
                  <a:srgbClr val="12232B"/>
                </a:solidFill>
                <a:latin typeface="Cambria" pitchFamily="34" charset="0"/>
                <a:ea typeface="Cambria" pitchFamily="34" charset="-122"/>
                <a:cs typeface="Cambria" pitchFamily="34" charset="-120"/>
              </a:rPr>
              <a:t>Agents v1</a:t>
            </a:r>
            <a:endParaRPr lang="en-US" sz="1400" dirty="0"/>
          </a:p>
        </p:txBody>
      </p:sp>
      <p:sp>
        <p:nvSpPr>
          <p:cNvPr id="15" name="Text 12"/>
          <p:cNvSpPr txBox="1"/>
          <p:nvPr/>
        </p:nvSpPr>
        <p:spPr>
          <a:xfrm>
            <a:off x="2037969" y="2651760"/>
            <a:ext cx="1123569" cy="1371600"/>
          </a:xfrm>
          <a:prstGeom prst="rect">
            <a:avLst/>
          </a:prstGeom>
          <a:noFill/>
          <a:ln/>
        </p:spPr>
        <p:txBody>
          <a:bodyPr wrap="square" lIns="0" tIns="0" rIns="0" bIns="0" rtlCol="0" anchor="t"/>
          <a:lstStyle/>
          <a:p>
            <a:pPr marL="0" indent="0">
              <a:buNone/>
            </a:pPr>
            <a:r>
              <a:rPr lang="en-US" sz="1050" dirty="0">
                <a:solidFill>
                  <a:srgbClr val="566770"/>
                </a:solidFill>
                <a:latin typeface="Calibri" pitchFamily="34" charset="0"/>
                <a:ea typeface="Calibri" pitchFamily="34" charset="-122"/>
                <a:cs typeface="Calibri" pitchFamily="34" charset="-120"/>
              </a:rPr>
              <a:t>Jenkins, Metrics and Code agents; evidence and audit layer</a:t>
            </a:r>
            <a:endParaRPr lang="en-US" sz="1050" dirty="0"/>
          </a:p>
        </p:txBody>
      </p:sp>
      <p:sp>
        <p:nvSpPr>
          <p:cNvPr id="16" name="Text 13"/>
          <p:cNvSpPr txBox="1"/>
          <p:nvPr/>
        </p:nvSpPr>
        <p:spPr>
          <a:xfrm>
            <a:off x="2037969" y="4160520"/>
            <a:ext cx="1123569" cy="365760"/>
          </a:xfrm>
          <a:prstGeom prst="rect">
            <a:avLst/>
          </a:prstGeom>
          <a:noFill/>
          <a:ln/>
        </p:spPr>
        <p:txBody>
          <a:bodyPr wrap="square" lIns="0" tIns="0" rIns="0" bIns="0" rtlCol="0" anchor="t"/>
          <a:lstStyle/>
          <a:p>
            <a:pPr marL="0" indent="0">
              <a:buNone/>
            </a:pPr>
            <a:r>
              <a:rPr lang="en-US" sz="1050" b="1" dirty="0">
                <a:solidFill>
                  <a:srgbClr val="12232B"/>
                </a:solidFill>
                <a:latin typeface="Calibri" pitchFamily="34" charset="0"/>
                <a:ea typeface="Calibri" pitchFamily="34" charset="-122"/>
                <a:cs typeface="Calibri" pitchFamily="34" charset="-120"/>
              </a:rPr>
              <a:t>5 Oct</a:t>
            </a:r>
            <a:endParaRPr lang="en-US" sz="1050" dirty="0"/>
          </a:p>
        </p:txBody>
      </p:sp>
      <p:sp>
        <p:nvSpPr>
          <p:cNvPr id="17" name="progress"/>
          <p:cNvSpPr/>
          <p:nvPr/>
        </p:nvSpPr>
        <p:spPr>
          <a:xfrm>
            <a:off x="3344418" y="1600200"/>
            <a:ext cx="1306449" cy="109728"/>
          </a:xfrm>
          <a:prstGeom prst="rect">
            <a:avLst/>
          </a:prstGeom>
          <a:solidFill>
            <a:srgbClr val="1F8A8A"/>
          </a:solidFill>
          <a:ln w="12700">
            <a:solidFill>
              <a:srgbClr val="1F8A8A"/>
            </a:solidFill>
            <a:prstDash val="solid"/>
          </a:ln>
        </p:spPr>
      </p:sp>
      <p:sp>
        <p:nvSpPr>
          <p:cNvPr id="18" name="card"/>
          <p:cNvSpPr/>
          <p:nvPr/>
        </p:nvSpPr>
        <p:spPr>
          <a:xfrm>
            <a:off x="3344418" y="1783080"/>
            <a:ext cx="1306449" cy="2834640"/>
          </a:xfrm>
          <a:prstGeom prst="rect">
            <a:avLst/>
          </a:prstGeom>
          <a:solidFill>
            <a:srgbClr val="FFFFFF"/>
          </a:solidFill>
          <a:ln w="9525">
            <a:solidFill>
              <a:srgbClr val="C9D3D6"/>
            </a:solidFill>
            <a:prstDash val="solid"/>
          </a:ln>
          <a:effectLst>
            <a:outerShdw blurRad="76200" dist="25400" dir="5400000" algn="bl" rotWithShape="0">
              <a:srgbClr val="000000">
                <a:alpha val="10000"/>
              </a:srgbClr>
            </a:outerShdw>
          </a:effectLst>
        </p:spPr>
      </p:sp>
      <p:sp>
        <p:nvSpPr>
          <p:cNvPr id="19" name="Text 16"/>
          <p:cNvSpPr txBox="1"/>
          <p:nvPr/>
        </p:nvSpPr>
        <p:spPr>
          <a:xfrm>
            <a:off x="3435858" y="1847088"/>
            <a:ext cx="1123569" cy="274320"/>
          </a:xfrm>
          <a:prstGeom prst="rect">
            <a:avLst/>
          </a:prstGeom>
          <a:noFill/>
          <a:ln/>
        </p:spPr>
        <p:txBody>
          <a:bodyPr wrap="square" lIns="0" tIns="0" rIns="0" bIns="0" rtlCol="0" anchor="t"/>
          <a:lstStyle/>
          <a:p>
            <a:pPr marL="0" indent="0">
              <a:buNone/>
            </a:pPr>
            <a:r>
              <a:rPr lang="en-US" sz="1300" b="1" dirty="0">
                <a:solidFill>
                  <a:srgbClr val="1F8A8A"/>
                </a:solidFill>
                <a:latin typeface="Calibri" pitchFamily="34" charset="0"/>
                <a:ea typeface="Calibri" pitchFamily="34" charset="-122"/>
                <a:cs typeface="Calibri" pitchFamily="34" charset="-120"/>
              </a:rPr>
              <a:t>W3</a:t>
            </a:r>
            <a:endParaRPr lang="en-US" sz="1300" dirty="0"/>
          </a:p>
        </p:txBody>
      </p:sp>
      <p:sp>
        <p:nvSpPr>
          <p:cNvPr id="20" name="Text 17"/>
          <p:cNvSpPr txBox="1"/>
          <p:nvPr/>
        </p:nvSpPr>
        <p:spPr>
          <a:xfrm>
            <a:off x="3435858" y="2121408"/>
            <a:ext cx="1123569" cy="502920"/>
          </a:xfrm>
          <a:prstGeom prst="rect">
            <a:avLst/>
          </a:prstGeom>
          <a:noFill/>
          <a:ln/>
        </p:spPr>
        <p:txBody>
          <a:bodyPr wrap="square" lIns="0" tIns="0" rIns="0" bIns="0" rtlCol="0" anchor="t"/>
          <a:lstStyle/>
          <a:p>
            <a:pPr marL="0" indent="0">
              <a:buNone/>
            </a:pPr>
            <a:r>
              <a:rPr lang="en-US" sz="1400" b="1" dirty="0">
                <a:solidFill>
                  <a:srgbClr val="12232B"/>
                </a:solidFill>
                <a:latin typeface="Cambria" pitchFamily="34" charset="0"/>
                <a:ea typeface="Cambria" pitchFamily="34" charset="-122"/>
                <a:cs typeface="Cambria" pitchFamily="34" charset="-120"/>
              </a:rPr>
              <a:t>Scenarios</a:t>
            </a:r>
            <a:endParaRPr lang="en-US" sz="1400" dirty="0"/>
          </a:p>
        </p:txBody>
      </p:sp>
      <p:sp>
        <p:nvSpPr>
          <p:cNvPr id="21" name="Text 18"/>
          <p:cNvSpPr txBox="1"/>
          <p:nvPr/>
        </p:nvSpPr>
        <p:spPr>
          <a:xfrm>
            <a:off x="3435858" y="2651760"/>
            <a:ext cx="1123569" cy="1371600"/>
          </a:xfrm>
          <a:prstGeom prst="rect">
            <a:avLst/>
          </a:prstGeom>
          <a:noFill/>
          <a:ln/>
        </p:spPr>
        <p:txBody>
          <a:bodyPr wrap="square" lIns="0" tIns="0" rIns="0" bIns="0" rtlCol="0" anchor="t"/>
          <a:lstStyle/>
          <a:p>
            <a:pPr marL="0" indent="0">
              <a:buNone/>
            </a:pPr>
            <a:r>
              <a:rPr lang="en-US" sz="1050" dirty="0">
                <a:solidFill>
                  <a:srgbClr val="566770"/>
                </a:solidFill>
                <a:latin typeface="Calibri" pitchFamily="34" charset="0"/>
                <a:ea typeface="Calibri" pitchFamily="34" charset="-122"/>
                <a:cs typeface="Calibri" pitchFamily="34" charset="-120"/>
              </a:rPr>
              <a:t>Log, config, latency and CPU cases; policy rules; audit logging</a:t>
            </a:r>
            <a:endParaRPr lang="en-US" sz="1050" dirty="0"/>
          </a:p>
        </p:txBody>
      </p:sp>
      <p:sp>
        <p:nvSpPr>
          <p:cNvPr id="22" name="Text 19"/>
          <p:cNvSpPr txBox="1"/>
          <p:nvPr/>
        </p:nvSpPr>
        <p:spPr>
          <a:xfrm>
            <a:off x="3435858" y="4160520"/>
            <a:ext cx="1123569" cy="365760"/>
          </a:xfrm>
          <a:prstGeom prst="rect">
            <a:avLst/>
          </a:prstGeom>
          <a:noFill/>
          <a:ln/>
        </p:spPr>
        <p:txBody>
          <a:bodyPr wrap="square" lIns="0" tIns="0" rIns="0" bIns="0" rtlCol="0" anchor="t"/>
          <a:lstStyle/>
          <a:p>
            <a:pPr marL="0" indent="0">
              <a:buNone/>
            </a:pPr>
            <a:r>
              <a:rPr lang="en-US" sz="1050" b="1" dirty="0">
                <a:solidFill>
                  <a:srgbClr val="12232B"/>
                </a:solidFill>
                <a:latin typeface="Calibri" pitchFamily="34" charset="0"/>
                <a:ea typeface="Calibri" pitchFamily="34" charset="-122"/>
                <a:cs typeface="Calibri" pitchFamily="34" charset="-120"/>
              </a:rPr>
              <a:t>5 - 6 Oct</a:t>
            </a:r>
            <a:endParaRPr lang="en-US" sz="1050" dirty="0"/>
          </a:p>
        </p:txBody>
      </p:sp>
      <p:sp>
        <p:nvSpPr>
          <p:cNvPr id="23" name="progress"/>
          <p:cNvSpPr/>
          <p:nvPr/>
        </p:nvSpPr>
        <p:spPr>
          <a:xfrm>
            <a:off x="4742307" y="1600200"/>
            <a:ext cx="1306449" cy="109728"/>
          </a:xfrm>
          <a:prstGeom prst="rect">
            <a:avLst/>
          </a:prstGeom>
          <a:solidFill>
            <a:srgbClr val="1F8A8A"/>
          </a:solidFill>
          <a:ln w="12700">
            <a:solidFill>
              <a:srgbClr val="1F8A8A"/>
            </a:solidFill>
            <a:prstDash val="solid"/>
          </a:ln>
        </p:spPr>
      </p:sp>
      <p:sp>
        <p:nvSpPr>
          <p:cNvPr id="24" name="card"/>
          <p:cNvSpPr/>
          <p:nvPr/>
        </p:nvSpPr>
        <p:spPr>
          <a:xfrm>
            <a:off x="4742307" y="1783080"/>
            <a:ext cx="1306449" cy="2834640"/>
          </a:xfrm>
          <a:prstGeom prst="rect">
            <a:avLst/>
          </a:prstGeom>
          <a:solidFill>
            <a:srgbClr val="FFFFFF"/>
          </a:solidFill>
          <a:ln w="9525">
            <a:solidFill>
              <a:srgbClr val="C9D3D6"/>
            </a:solidFill>
            <a:prstDash val="solid"/>
          </a:ln>
          <a:effectLst>
            <a:outerShdw blurRad="76200" dist="25400" dir="5400000" algn="bl" rotWithShape="0">
              <a:srgbClr val="000000">
                <a:alpha val="10000"/>
              </a:srgbClr>
            </a:outerShdw>
          </a:effectLst>
        </p:spPr>
      </p:sp>
      <p:sp>
        <p:nvSpPr>
          <p:cNvPr id="25" name="Text 22"/>
          <p:cNvSpPr txBox="1"/>
          <p:nvPr/>
        </p:nvSpPr>
        <p:spPr>
          <a:xfrm>
            <a:off x="4833747" y="1847088"/>
            <a:ext cx="1123569" cy="274320"/>
          </a:xfrm>
          <a:prstGeom prst="rect">
            <a:avLst/>
          </a:prstGeom>
          <a:noFill/>
          <a:ln/>
        </p:spPr>
        <p:txBody>
          <a:bodyPr wrap="square" lIns="0" tIns="0" rIns="0" bIns="0" rtlCol="0" anchor="t"/>
          <a:lstStyle/>
          <a:p>
            <a:pPr marL="0" indent="0">
              <a:buNone/>
            </a:pPr>
            <a:r>
              <a:rPr lang="en-US" sz="1300" b="1" dirty="0">
                <a:solidFill>
                  <a:srgbClr val="1F8A8A"/>
                </a:solidFill>
                <a:latin typeface="Calibri" pitchFamily="34" charset="0"/>
                <a:ea typeface="Calibri" pitchFamily="34" charset="-122"/>
                <a:cs typeface="Calibri" pitchFamily="34" charset="-120"/>
              </a:rPr>
              <a:t>W4</a:t>
            </a:r>
            <a:endParaRPr lang="en-US" sz="1300" dirty="0"/>
          </a:p>
        </p:txBody>
      </p:sp>
      <p:sp>
        <p:nvSpPr>
          <p:cNvPr id="26" name="Text 23"/>
          <p:cNvSpPr txBox="1"/>
          <p:nvPr/>
        </p:nvSpPr>
        <p:spPr>
          <a:xfrm>
            <a:off x="4833747" y="2121408"/>
            <a:ext cx="1123569" cy="502920"/>
          </a:xfrm>
          <a:prstGeom prst="rect">
            <a:avLst/>
          </a:prstGeom>
          <a:noFill/>
          <a:ln/>
        </p:spPr>
        <p:txBody>
          <a:bodyPr wrap="square" lIns="0" tIns="0" rIns="0" bIns="0" rtlCol="0" anchor="t"/>
          <a:lstStyle/>
          <a:p>
            <a:pPr marL="0" indent="0">
              <a:buNone/>
            </a:pPr>
            <a:r>
              <a:rPr lang="en-US" sz="1400" b="1" dirty="0">
                <a:solidFill>
                  <a:srgbClr val="12232B"/>
                </a:solidFill>
                <a:latin typeface="Cambria" pitchFamily="34" charset="0"/>
                <a:ea typeface="Cambria" pitchFamily="34" charset="-122"/>
                <a:cs typeface="Cambria" pitchFamily="34" charset="-120"/>
              </a:rPr>
              <a:t>Synthesis</a:t>
            </a:r>
            <a:endParaRPr lang="en-US" sz="1400" dirty="0"/>
          </a:p>
        </p:txBody>
      </p:sp>
      <p:sp>
        <p:nvSpPr>
          <p:cNvPr id="27" name="Text 24"/>
          <p:cNvSpPr txBox="1"/>
          <p:nvPr/>
        </p:nvSpPr>
        <p:spPr>
          <a:xfrm>
            <a:off x="4833747" y="2651760"/>
            <a:ext cx="1123569" cy="1371600"/>
          </a:xfrm>
          <a:prstGeom prst="rect">
            <a:avLst/>
          </a:prstGeom>
          <a:noFill/>
          <a:ln/>
        </p:spPr>
        <p:txBody>
          <a:bodyPr wrap="square" lIns="0" tIns="0" rIns="0" bIns="0" rtlCol="0" anchor="t"/>
          <a:lstStyle/>
          <a:p>
            <a:pPr marL="0" indent="0">
              <a:buNone/>
            </a:pPr>
            <a:r>
              <a:rPr lang="en-US" sz="1050" dirty="0">
                <a:solidFill>
                  <a:srgbClr val="566770"/>
                </a:solidFill>
                <a:latin typeface="Calibri" pitchFamily="34" charset="0"/>
                <a:ea typeface="Calibri" pitchFamily="34" charset="-122"/>
                <a:cs typeface="Calibri" pitchFamily="34" charset="-120"/>
              </a:rPr>
              <a:t>Confidence scoring, Coordinator report, anomaly panels</a:t>
            </a:r>
            <a:endParaRPr lang="en-US" sz="1050" dirty="0"/>
          </a:p>
        </p:txBody>
      </p:sp>
      <p:sp>
        <p:nvSpPr>
          <p:cNvPr id="28" name="Text 25"/>
          <p:cNvSpPr txBox="1"/>
          <p:nvPr/>
        </p:nvSpPr>
        <p:spPr>
          <a:xfrm>
            <a:off x="4833747" y="4160520"/>
            <a:ext cx="1123569" cy="365760"/>
          </a:xfrm>
          <a:prstGeom prst="rect">
            <a:avLst/>
          </a:prstGeom>
          <a:noFill/>
          <a:ln/>
        </p:spPr>
        <p:txBody>
          <a:bodyPr wrap="square" lIns="0" tIns="0" rIns="0" bIns="0" rtlCol="0" anchor="t"/>
          <a:lstStyle/>
          <a:p>
            <a:pPr marL="0" indent="0">
              <a:buNone/>
            </a:pPr>
            <a:r>
              <a:rPr lang="en-US" sz="1050" b="1" dirty="0">
                <a:solidFill>
                  <a:srgbClr val="12232B"/>
                </a:solidFill>
                <a:latin typeface="Calibri" pitchFamily="34" charset="0"/>
                <a:ea typeface="Calibri" pitchFamily="34" charset="-122"/>
                <a:cs typeface="Calibri" pitchFamily="34" charset="-120"/>
              </a:rPr>
              <a:t>25 Oct</a:t>
            </a:r>
            <a:endParaRPr lang="en-US" sz="1050" dirty="0"/>
          </a:p>
        </p:txBody>
      </p:sp>
      <p:sp>
        <p:nvSpPr>
          <p:cNvPr id="29" name="progress"/>
          <p:cNvSpPr/>
          <p:nvPr/>
        </p:nvSpPr>
        <p:spPr>
          <a:xfrm>
            <a:off x="6140196" y="1600200"/>
            <a:ext cx="1306449" cy="109728"/>
          </a:xfrm>
          <a:prstGeom prst="rect">
            <a:avLst/>
          </a:prstGeom>
          <a:solidFill>
            <a:srgbClr val="1F8A8A"/>
          </a:solidFill>
          <a:ln w="12700">
            <a:solidFill>
              <a:srgbClr val="1F8A8A"/>
            </a:solidFill>
            <a:prstDash val="solid"/>
          </a:ln>
        </p:spPr>
      </p:sp>
      <p:sp>
        <p:nvSpPr>
          <p:cNvPr id="30" name="card"/>
          <p:cNvSpPr/>
          <p:nvPr/>
        </p:nvSpPr>
        <p:spPr>
          <a:xfrm>
            <a:off x="6140196" y="1783080"/>
            <a:ext cx="1306449" cy="2834640"/>
          </a:xfrm>
          <a:prstGeom prst="rect">
            <a:avLst/>
          </a:prstGeom>
          <a:solidFill>
            <a:srgbClr val="FFFFFF"/>
          </a:solidFill>
          <a:ln w="9525">
            <a:solidFill>
              <a:srgbClr val="C9D3D6"/>
            </a:solidFill>
            <a:prstDash val="solid"/>
          </a:ln>
          <a:effectLst>
            <a:outerShdw blurRad="76200" dist="25400" dir="5400000" algn="bl" rotWithShape="0">
              <a:srgbClr val="000000">
                <a:alpha val="10000"/>
              </a:srgbClr>
            </a:outerShdw>
          </a:effectLst>
        </p:spPr>
      </p:sp>
      <p:sp>
        <p:nvSpPr>
          <p:cNvPr id="31" name="Text 28"/>
          <p:cNvSpPr txBox="1"/>
          <p:nvPr/>
        </p:nvSpPr>
        <p:spPr>
          <a:xfrm>
            <a:off x="6231636" y="1847088"/>
            <a:ext cx="1123569" cy="274320"/>
          </a:xfrm>
          <a:prstGeom prst="rect">
            <a:avLst/>
          </a:prstGeom>
          <a:noFill/>
          <a:ln/>
        </p:spPr>
        <p:txBody>
          <a:bodyPr wrap="square" lIns="0" tIns="0" rIns="0" bIns="0" rtlCol="0" anchor="t"/>
          <a:lstStyle/>
          <a:p>
            <a:pPr marL="0" indent="0">
              <a:buNone/>
            </a:pPr>
            <a:r>
              <a:rPr lang="en-US" sz="1300" b="1" dirty="0">
                <a:solidFill>
                  <a:srgbClr val="1F8A8A"/>
                </a:solidFill>
                <a:latin typeface="Calibri" pitchFamily="34" charset="0"/>
                <a:ea typeface="Calibri" pitchFamily="34" charset="-122"/>
                <a:cs typeface="Calibri" pitchFamily="34" charset="-120"/>
              </a:rPr>
              <a:t>W5</a:t>
            </a:r>
            <a:endParaRPr lang="en-US" sz="1300" dirty="0"/>
          </a:p>
        </p:txBody>
      </p:sp>
      <p:sp>
        <p:nvSpPr>
          <p:cNvPr id="32" name="Text 29"/>
          <p:cNvSpPr txBox="1"/>
          <p:nvPr/>
        </p:nvSpPr>
        <p:spPr>
          <a:xfrm>
            <a:off x="6231636" y="2121408"/>
            <a:ext cx="1123569" cy="502920"/>
          </a:xfrm>
          <a:prstGeom prst="rect">
            <a:avLst/>
          </a:prstGeom>
          <a:noFill/>
          <a:ln/>
        </p:spPr>
        <p:txBody>
          <a:bodyPr wrap="square" lIns="0" tIns="0" rIns="0" bIns="0" rtlCol="0" anchor="t"/>
          <a:lstStyle/>
          <a:p>
            <a:pPr marL="0" indent="0">
              <a:buNone/>
            </a:pPr>
            <a:r>
              <a:rPr lang="en-US" sz="1400" b="1" dirty="0">
                <a:solidFill>
                  <a:srgbClr val="12232B"/>
                </a:solidFill>
                <a:latin typeface="Cambria" pitchFamily="34" charset="0"/>
                <a:ea typeface="Cambria" pitchFamily="34" charset="-122"/>
                <a:cs typeface="Cambria" pitchFamily="34" charset="-120"/>
              </a:rPr>
              <a:t>Remediation</a:t>
            </a:r>
            <a:endParaRPr lang="en-US" sz="1400" dirty="0"/>
          </a:p>
        </p:txBody>
      </p:sp>
      <p:sp>
        <p:nvSpPr>
          <p:cNvPr id="33" name="Text 30"/>
          <p:cNvSpPr txBox="1"/>
          <p:nvPr/>
        </p:nvSpPr>
        <p:spPr>
          <a:xfrm>
            <a:off x="6231636" y="2651760"/>
            <a:ext cx="1123569" cy="1371600"/>
          </a:xfrm>
          <a:prstGeom prst="rect">
            <a:avLst/>
          </a:prstGeom>
          <a:noFill/>
          <a:ln/>
        </p:spPr>
        <p:txBody>
          <a:bodyPr wrap="square" lIns="0" tIns="0" rIns="0" bIns="0" rtlCol="0" anchor="t"/>
          <a:lstStyle/>
          <a:p>
            <a:pPr marL="0" indent="0">
              <a:buNone/>
            </a:pPr>
            <a:r>
              <a:rPr lang="en-US" sz="1050" dirty="0">
                <a:solidFill>
                  <a:srgbClr val="566770"/>
                </a:solidFill>
                <a:latin typeface="Calibri" pitchFamily="34" charset="0"/>
                <a:ea typeface="Calibri" pitchFamily="34" charset="-122"/>
                <a:cs typeface="Calibri" pitchFamily="34" charset="-120"/>
              </a:rPr>
              <a:t>Minimal patches, fix plans, git branching workflow</a:t>
            </a:r>
            <a:endParaRPr lang="en-US" sz="1050" dirty="0"/>
          </a:p>
        </p:txBody>
      </p:sp>
      <p:sp>
        <p:nvSpPr>
          <p:cNvPr id="34" name="Text 31"/>
          <p:cNvSpPr txBox="1"/>
          <p:nvPr/>
        </p:nvSpPr>
        <p:spPr>
          <a:xfrm>
            <a:off x="6231636" y="4160520"/>
            <a:ext cx="1123569" cy="365760"/>
          </a:xfrm>
          <a:prstGeom prst="rect">
            <a:avLst/>
          </a:prstGeom>
          <a:noFill/>
          <a:ln/>
        </p:spPr>
        <p:txBody>
          <a:bodyPr wrap="square" lIns="0" tIns="0" rIns="0" bIns="0" rtlCol="0" anchor="t"/>
          <a:lstStyle/>
          <a:p>
            <a:pPr marL="0" indent="0">
              <a:buNone/>
            </a:pPr>
            <a:r>
              <a:rPr lang="en-US" sz="1050" b="1" dirty="0">
                <a:solidFill>
                  <a:srgbClr val="12232B"/>
                </a:solidFill>
                <a:latin typeface="Calibri" pitchFamily="34" charset="0"/>
                <a:ea typeface="Calibri" pitchFamily="34" charset="-122"/>
                <a:cs typeface="Calibri" pitchFamily="34" charset="-120"/>
              </a:rPr>
              <a:t>25 Oct</a:t>
            </a:r>
            <a:endParaRPr lang="en-US" sz="1050" dirty="0"/>
          </a:p>
        </p:txBody>
      </p:sp>
      <p:sp>
        <p:nvSpPr>
          <p:cNvPr id="35" name="progress"/>
          <p:cNvSpPr/>
          <p:nvPr/>
        </p:nvSpPr>
        <p:spPr>
          <a:xfrm>
            <a:off x="7538085" y="1600200"/>
            <a:ext cx="1306449" cy="109728"/>
          </a:xfrm>
          <a:prstGeom prst="rect">
            <a:avLst/>
          </a:prstGeom>
          <a:solidFill>
            <a:srgbClr val="1F8A8A"/>
          </a:solidFill>
          <a:ln w="12700">
            <a:solidFill>
              <a:srgbClr val="1F8A8A"/>
            </a:solidFill>
            <a:prstDash val="solid"/>
          </a:ln>
        </p:spPr>
      </p:sp>
      <p:sp>
        <p:nvSpPr>
          <p:cNvPr id="36" name="card"/>
          <p:cNvSpPr/>
          <p:nvPr/>
        </p:nvSpPr>
        <p:spPr>
          <a:xfrm>
            <a:off x="7538085" y="1783080"/>
            <a:ext cx="1306449" cy="2834640"/>
          </a:xfrm>
          <a:prstGeom prst="rect">
            <a:avLst/>
          </a:prstGeom>
          <a:solidFill>
            <a:srgbClr val="FFFFFF"/>
          </a:solidFill>
          <a:ln w="9525">
            <a:solidFill>
              <a:srgbClr val="C9D3D6"/>
            </a:solidFill>
            <a:prstDash val="solid"/>
          </a:ln>
          <a:effectLst>
            <a:outerShdw blurRad="76200" dist="25400" dir="5400000" algn="bl" rotWithShape="0">
              <a:srgbClr val="000000">
                <a:alpha val="10000"/>
              </a:srgbClr>
            </a:outerShdw>
          </a:effectLst>
        </p:spPr>
      </p:sp>
      <p:sp>
        <p:nvSpPr>
          <p:cNvPr id="37" name="Text 34"/>
          <p:cNvSpPr txBox="1"/>
          <p:nvPr/>
        </p:nvSpPr>
        <p:spPr>
          <a:xfrm>
            <a:off x="7629525" y="1847088"/>
            <a:ext cx="1123569" cy="274320"/>
          </a:xfrm>
          <a:prstGeom prst="rect">
            <a:avLst/>
          </a:prstGeom>
          <a:noFill/>
          <a:ln/>
        </p:spPr>
        <p:txBody>
          <a:bodyPr wrap="square" lIns="0" tIns="0" rIns="0" bIns="0" rtlCol="0" anchor="t"/>
          <a:lstStyle/>
          <a:p>
            <a:pPr marL="0" indent="0">
              <a:buNone/>
            </a:pPr>
            <a:r>
              <a:rPr lang="en-US" sz="1300" b="1" dirty="0">
                <a:solidFill>
                  <a:srgbClr val="1F8A8A"/>
                </a:solidFill>
                <a:latin typeface="Calibri" pitchFamily="34" charset="0"/>
                <a:ea typeface="Calibri" pitchFamily="34" charset="-122"/>
                <a:cs typeface="Calibri" pitchFamily="34" charset="-120"/>
              </a:rPr>
              <a:t>W6</a:t>
            </a:r>
            <a:endParaRPr lang="en-US" sz="1300" dirty="0"/>
          </a:p>
        </p:txBody>
      </p:sp>
      <p:sp>
        <p:nvSpPr>
          <p:cNvPr id="38" name="Text 35"/>
          <p:cNvSpPr txBox="1"/>
          <p:nvPr/>
        </p:nvSpPr>
        <p:spPr>
          <a:xfrm>
            <a:off x="7629525" y="2121408"/>
            <a:ext cx="1123569" cy="502920"/>
          </a:xfrm>
          <a:prstGeom prst="rect">
            <a:avLst/>
          </a:prstGeom>
          <a:noFill/>
          <a:ln/>
        </p:spPr>
        <p:txBody>
          <a:bodyPr wrap="square" lIns="0" tIns="0" rIns="0" bIns="0" rtlCol="0" anchor="t"/>
          <a:lstStyle/>
          <a:p>
            <a:pPr marL="0" indent="0">
              <a:buNone/>
            </a:pPr>
            <a:r>
              <a:rPr lang="en-US" sz="1400" b="1" dirty="0">
                <a:solidFill>
                  <a:srgbClr val="12232B"/>
                </a:solidFill>
                <a:latin typeface="Cambria" pitchFamily="34" charset="0"/>
                <a:ea typeface="Cambria" pitchFamily="34" charset="-122"/>
                <a:cs typeface="Cambria" pitchFamily="34" charset="-120"/>
              </a:rPr>
              <a:t>Policy and PR</a:t>
            </a:r>
            <a:endParaRPr lang="en-US" sz="1400" dirty="0"/>
          </a:p>
        </p:txBody>
      </p:sp>
      <p:sp>
        <p:nvSpPr>
          <p:cNvPr id="39" name="Text 36"/>
          <p:cNvSpPr txBox="1"/>
          <p:nvPr/>
        </p:nvSpPr>
        <p:spPr>
          <a:xfrm>
            <a:off x="7629525" y="2651760"/>
            <a:ext cx="1123569" cy="1371600"/>
          </a:xfrm>
          <a:prstGeom prst="rect">
            <a:avLst/>
          </a:prstGeom>
          <a:noFill/>
          <a:ln/>
        </p:spPr>
        <p:txBody>
          <a:bodyPr wrap="square" lIns="0" tIns="0" rIns="0" bIns="0" rtlCol="0" anchor="t"/>
          <a:lstStyle/>
          <a:p>
            <a:pPr marL="0" indent="0">
              <a:buNone/>
            </a:pPr>
            <a:r>
              <a:rPr lang="en-US" sz="1050" dirty="0">
                <a:solidFill>
                  <a:srgbClr val="566770"/>
                </a:solidFill>
                <a:latin typeface="Calibri" pitchFamily="34" charset="0"/>
                <a:ea typeface="Calibri" pitchFamily="34" charset="-122"/>
                <a:cs typeface="Calibri" pitchFamily="34" charset="-120"/>
              </a:rPr>
              <a:t>OPA integration, draft PRs, re-validation trigger, Agent Ops dashboard</a:t>
            </a:r>
            <a:endParaRPr lang="en-US" sz="1050" dirty="0"/>
          </a:p>
        </p:txBody>
      </p:sp>
      <p:sp>
        <p:nvSpPr>
          <p:cNvPr id="40" name="Text 37"/>
          <p:cNvSpPr txBox="1"/>
          <p:nvPr/>
        </p:nvSpPr>
        <p:spPr>
          <a:xfrm>
            <a:off x="7629525" y="4160520"/>
            <a:ext cx="1123569" cy="365760"/>
          </a:xfrm>
          <a:prstGeom prst="rect">
            <a:avLst/>
          </a:prstGeom>
          <a:noFill/>
          <a:ln/>
        </p:spPr>
        <p:txBody>
          <a:bodyPr wrap="square" lIns="0" tIns="0" rIns="0" bIns="0" rtlCol="0" anchor="t"/>
          <a:lstStyle/>
          <a:p>
            <a:pPr marL="0" indent="0">
              <a:buNone/>
            </a:pPr>
            <a:r>
              <a:rPr lang="en-US" sz="1050" b="1" dirty="0">
                <a:solidFill>
                  <a:srgbClr val="12232B"/>
                </a:solidFill>
                <a:latin typeface="Calibri" pitchFamily="34" charset="0"/>
                <a:ea typeface="Calibri" pitchFamily="34" charset="-122"/>
                <a:cs typeface="Calibri" pitchFamily="34" charset="-120"/>
              </a:rPr>
              <a:t>25 - 26 Oct</a:t>
            </a:r>
            <a:endParaRPr lang="en-US" sz="1050" dirty="0"/>
          </a:p>
        </p:txBody>
      </p:sp>
      <p:sp>
        <p:nvSpPr>
          <p:cNvPr id="41" name="progress"/>
          <p:cNvSpPr/>
          <p:nvPr/>
        </p:nvSpPr>
        <p:spPr>
          <a:xfrm>
            <a:off x="8935974" y="1600200"/>
            <a:ext cx="1306449" cy="109728"/>
          </a:xfrm>
          <a:prstGeom prst="rect">
            <a:avLst/>
          </a:prstGeom>
          <a:solidFill>
            <a:srgbClr val="1F8A8A"/>
          </a:solidFill>
          <a:ln w="12700">
            <a:solidFill>
              <a:srgbClr val="1F8A8A"/>
            </a:solidFill>
            <a:prstDash val="solid"/>
          </a:ln>
        </p:spPr>
      </p:sp>
      <p:sp>
        <p:nvSpPr>
          <p:cNvPr id="42" name="card"/>
          <p:cNvSpPr/>
          <p:nvPr/>
        </p:nvSpPr>
        <p:spPr>
          <a:xfrm>
            <a:off x="8935974" y="1783080"/>
            <a:ext cx="1306449" cy="2834640"/>
          </a:xfrm>
          <a:prstGeom prst="rect">
            <a:avLst/>
          </a:prstGeom>
          <a:solidFill>
            <a:srgbClr val="FFFFFF"/>
          </a:solidFill>
          <a:ln w="9525">
            <a:solidFill>
              <a:srgbClr val="C9D3D6"/>
            </a:solidFill>
            <a:prstDash val="solid"/>
          </a:ln>
          <a:effectLst>
            <a:outerShdw blurRad="76200" dist="25400" dir="5400000" algn="bl" rotWithShape="0">
              <a:srgbClr val="000000">
                <a:alpha val="10000"/>
              </a:srgbClr>
            </a:outerShdw>
          </a:effectLst>
        </p:spPr>
      </p:sp>
      <p:sp>
        <p:nvSpPr>
          <p:cNvPr id="43" name="Text 40"/>
          <p:cNvSpPr txBox="1"/>
          <p:nvPr/>
        </p:nvSpPr>
        <p:spPr>
          <a:xfrm>
            <a:off x="9027414" y="1847088"/>
            <a:ext cx="1123569" cy="274320"/>
          </a:xfrm>
          <a:prstGeom prst="rect">
            <a:avLst/>
          </a:prstGeom>
          <a:noFill/>
          <a:ln/>
        </p:spPr>
        <p:txBody>
          <a:bodyPr wrap="square" lIns="0" tIns="0" rIns="0" bIns="0" rtlCol="0" anchor="t"/>
          <a:lstStyle/>
          <a:p>
            <a:pPr marL="0" indent="0">
              <a:buNone/>
            </a:pPr>
            <a:r>
              <a:rPr lang="en-US" sz="1300" b="1" dirty="0">
                <a:solidFill>
                  <a:srgbClr val="1F8A8A"/>
                </a:solidFill>
                <a:latin typeface="Calibri" pitchFamily="34" charset="0"/>
                <a:ea typeface="Calibri" pitchFamily="34" charset="-122"/>
                <a:cs typeface="Calibri" pitchFamily="34" charset="-120"/>
              </a:rPr>
              <a:t>W7</a:t>
            </a:r>
            <a:endParaRPr lang="en-US" sz="1300" dirty="0"/>
          </a:p>
        </p:txBody>
      </p:sp>
      <p:sp>
        <p:nvSpPr>
          <p:cNvPr id="44" name="Text 41"/>
          <p:cNvSpPr txBox="1"/>
          <p:nvPr/>
        </p:nvSpPr>
        <p:spPr>
          <a:xfrm>
            <a:off x="9027414" y="2121408"/>
            <a:ext cx="1123569" cy="502920"/>
          </a:xfrm>
          <a:prstGeom prst="rect">
            <a:avLst/>
          </a:prstGeom>
          <a:noFill/>
          <a:ln/>
        </p:spPr>
        <p:txBody>
          <a:bodyPr wrap="square" lIns="0" tIns="0" rIns="0" bIns="0" rtlCol="0" anchor="t"/>
          <a:lstStyle/>
          <a:p>
            <a:pPr marL="0" indent="0">
              <a:buNone/>
            </a:pPr>
            <a:r>
              <a:rPr lang="en-US" sz="1400" b="1" dirty="0">
                <a:solidFill>
                  <a:srgbClr val="12232B"/>
                </a:solidFill>
                <a:latin typeface="Cambria" pitchFamily="34" charset="0"/>
                <a:ea typeface="Cambria" pitchFamily="34" charset="-122"/>
                <a:cs typeface="Cambria" pitchFamily="34" charset="-120"/>
              </a:rPr>
              <a:t>Guarded fixes</a:t>
            </a:r>
            <a:endParaRPr lang="en-US" sz="1400" dirty="0"/>
          </a:p>
        </p:txBody>
      </p:sp>
      <p:sp>
        <p:nvSpPr>
          <p:cNvPr id="45" name="Text 42"/>
          <p:cNvSpPr txBox="1"/>
          <p:nvPr/>
        </p:nvSpPr>
        <p:spPr>
          <a:xfrm>
            <a:off x="9027414" y="2651760"/>
            <a:ext cx="1123569" cy="1371600"/>
          </a:xfrm>
          <a:prstGeom prst="rect">
            <a:avLst/>
          </a:prstGeom>
          <a:noFill/>
          <a:ln/>
        </p:spPr>
        <p:txBody>
          <a:bodyPr wrap="square" lIns="0" tIns="0" rIns="0" bIns="0" rtlCol="0" anchor="t"/>
          <a:lstStyle/>
          <a:p>
            <a:pPr marL="0" indent="0">
              <a:buNone/>
            </a:pPr>
            <a:r>
              <a:rPr lang="en-US" sz="1050" dirty="0">
                <a:solidFill>
                  <a:srgbClr val="566770"/>
                </a:solidFill>
                <a:latin typeface="Calibri" pitchFamily="34" charset="0"/>
                <a:ea typeface="Calibri" pitchFamily="34" charset="-122"/>
                <a:cs typeface="Calibri" pitchFamily="34" charset="-120"/>
              </a:rPr>
              <a:t>Approval and notifications, lifecycle audit, operations dashboards</a:t>
            </a:r>
            <a:endParaRPr lang="en-US" sz="1050" dirty="0"/>
          </a:p>
        </p:txBody>
      </p:sp>
      <p:sp>
        <p:nvSpPr>
          <p:cNvPr id="46" name="Text 43"/>
          <p:cNvSpPr txBox="1"/>
          <p:nvPr/>
        </p:nvSpPr>
        <p:spPr>
          <a:xfrm>
            <a:off x="9027414" y="4160520"/>
            <a:ext cx="1123569" cy="365760"/>
          </a:xfrm>
          <a:prstGeom prst="rect">
            <a:avLst/>
          </a:prstGeom>
          <a:noFill/>
          <a:ln/>
        </p:spPr>
        <p:txBody>
          <a:bodyPr wrap="square" lIns="0" tIns="0" rIns="0" bIns="0" rtlCol="0" anchor="t"/>
          <a:lstStyle/>
          <a:p>
            <a:pPr marL="0" indent="0">
              <a:buNone/>
            </a:pPr>
            <a:r>
              <a:rPr lang="en-US" sz="1050" b="1" dirty="0">
                <a:solidFill>
                  <a:srgbClr val="12232B"/>
                </a:solidFill>
                <a:latin typeface="Calibri" pitchFamily="34" charset="0"/>
                <a:ea typeface="Calibri" pitchFamily="34" charset="-122"/>
                <a:cs typeface="Calibri" pitchFamily="34" charset="-120"/>
              </a:rPr>
              <a:t>26 - 30 Oct</a:t>
            </a:r>
            <a:endParaRPr lang="en-US" sz="1050" dirty="0"/>
          </a:p>
        </p:txBody>
      </p:sp>
      <p:sp>
        <p:nvSpPr>
          <p:cNvPr id="47" name="progress"/>
          <p:cNvSpPr/>
          <p:nvPr/>
        </p:nvSpPr>
        <p:spPr>
          <a:xfrm>
            <a:off x="10333863" y="1600200"/>
            <a:ext cx="1306449" cy="109728"/>
          </a:xfrm>
          <a:prstGeom prst="rect">
            <a:avLst/>
          </a:prstGeom>
          <a:solidFill>
            <a:srgbClr val="E8A33D"/>
          </a:solidFill>
          <a:ln w="12700">
            <a:solidFill>
              <a:srgbClr val="E8A33D"/>
            </a:solidFill>
            <a:prstDash val="solid"/>
          </a:ln>
        </p:spPr>
      </p:sp>
      <p:sp>
        <p:nvSpPr>
          <p:cNvPr id="48" name="card"/>
          <p:cNvSpPr/>
          <p:nvPr/>
        </p:nvSpPr>
        <p:spPr>
          <a:xfrm>
            <a:off x="10333863" y="1783080"/>
            <a:ext cx="1306449" cy="2834640"/>
          </a:xfrm>
          <a:prstGeom prst="rect">
            <a:avLst/>
          </a:prstGeom>
          <a:solidFill>
            <a:srgbClr val="FFFFFF"/>
          </a:solidFill>
          <a:ln w="9525">
            <a:solidFill>
              <a:srgbClr val="C9D3D6"/>
            </a:solidFill>
            <a:prstDash val="solid"/>
          </a:ln>
          <a:effectLst>
            <a:outerShdw blurRad="76200" dist="25400" dir="5400000" algn="bl" rotWithShape="0">
              <a:srgbClr val="000000">
                <a:alpha val="10000"/>
              </a:srgbClr>
            </a:outerShdw>
          </a:effectLst>
        </p:spPr>
      </p:sp>
      <p:sp>
        <p:nvSpPr>
          <p:cNvPr id="49" name="Text 46"/>
          <p:cNvSpPr txBox="1"/>
          <p:nvPr/>
        </p:nvSpPr>
        <p:spPr>
          <a:xfrm>
            <a:off x="10425303" y="1847088"/>
            <a:ext cx="1123569" cy="274320"/>
          </a:xfrm>
          <a:prstGeom prst="rect">
            <a:avLst/>
          </a:prstGeom>
          <a:noFill/>
          <a:ln/>
        </p:spPr>
        <p:txBody>
          <a:bodyPr wrap="square" lIns="0" tIns="0" rIns="0" bIns="0" rtlCol="0" anchor="t"/>
          <a:lstStyle/>
          <a:p>
            <a:pPr marL="0" indent="0">
              <a:buNone/>
            </a:pPr>
            <a:r>
              <a:rPr lang="en-US" sz="1300" b="1" dirty="0">
                <a:solidFill>
                  <a:srgbClr val="9A6A12"/>
                </a:solidFill>
                <a:latin typeface="Calibri" pitchFamily="34" charset="0"/>
                <a:ea typeface="Calibri" pitchFamily="34" charset="-122"/>
                <a:cs typeface="Calibri" pitchFamily="34" charset="-120"/>
              </a:rPr>
              <a:t>W8</a:t>
            </a:r>
            <a:endParaRPr lang="en-US" sz="1300" dirty="0"/>
          </a:p>
        </p:txBody>
      </p:sp>
      <p:sp>
        <p:nvSpPr>
          <p:cNvPr id="50" name="Text 47"/>
          <p:cNvSpPr txBox="1"/>
          <p:nvPr/>
        </p:nvSpPr>
        <p:spPr>
          <a:xfrm>
            <a:off x="10425303" y="2121408"/>
            <a:ext cx="1123569" cy="502920"/>
          </a:xfrm>
          <a:prstGeom prst="rect">
            <a:avLst/>
          </a:prstGeom>
          <a:noFill/>
          <a:ln/>
        </p:spPr>
        <p:txBody>
          <a:bodyPr wrap="square" lIns="0" tIns="0" rIns="0" bIns="0" rtlCol="0" anchor="t"/>
          <a:lstStyle/>
          <a:p>
            <a:pPr marL="0" indent="0">
              <a:buNone/>
            </a:pPr>
            <a:r>
              <a:rPr lang="en-US" sz="1400" b="1" dirty="0">
                <a:solidFill>
                  <a:srgbClr val="12232B"/>
                </a:solidFill>
                <a:latin typeface="Cambria" pitchFamily="34" charset="0"/>
                <a:ea typeface="Cambria" pitchFamily="34" charset="-122"/>
                <a:cs typeface="Cambria" pitchFamily="34" charset="-120"/>
              </a:rPr>
              <a:t>Evaluation</a:t>
            </a:r>
            <a:endParaRPr lang="en-US" sz="1400" dirty="0"/>
          </a:p>
        </p:txBody>
      </p:sp>
      <p:sp>
        <p:nvSpPr>
          <p:cNvPr id="51" name="Text 48"/>
          <p:cNvSpPr txBox="1"/>
          <p:nvPr/>
        </p:nvSpPr>
        <p:spPr>
          <a:xfrm>
            <a:off x="10425303" y="2651760"/>
            <a:ext cx="1123569" cy="1371600"/>
          </a:xfrm>
          <a:prstGeom prst="rect">
            <a:avLst/>
          </a:prstGeom>
          <a:noFill/>
          <a:ln/>
        </p:spPr>
        <p:txBody>
          <a:bodyPr wrap="square" lIns="0" tIns="0" rIns="0" bIns="0" rtlCol="0" anchor="t"/>
          <a:lstStyle/>
          <a:p>
            <a:pPr marL="0" indent="0">
              <a:buNone/>
            </a:pPr>
            <a:r>
              <a:rPr lang="en-US" sz="1050" dirty="0">
                <a:solidFill>
                  <a:srgbClr val="566770"/>
                </a:solidFill>
                <a:latin typeface="Calibri" pitchFamily="34" charset="0"/>
                <a:ea typeface="Calibri" pitchFamily="34" charset="-122"/>
                <a:cs typeface="Calibri" pitchFamily="34" charset="-120"/>
              </a:rPr>
              <a:t>Accuracy benchmarks, docs, integration tests, final demo</a:t>
            </a:r>
            <a:endParaRPr lang="en-US" sz="1050" dirty="0"/>
          </a:p>
        </p:txBody>
      </p:sp>
      <p:sp>
        <p:nvSpPr>
          <p:cNvPr id="52" name="Text 49"/>
          <p:cNvSpPr txBox="1"/>
          <p:nvPr/>
        </p:nvSpPr>
        <p:spPr>
          <a:xfrm>
            <a:off x="10425303" y="4160520"/>
            <a:ext cx="1123569" cy="365760"/>
          </a:xfrm>
          <a:prstGeom prst="rect">
            <a:avLst/>
          </a:prstGeom>
          <a:noFill/>
          <a:ln/>
        </p:spPr>
        <p:txBody>
          <a:bodyPr wrap="square" lIns="0" tIns="0" rIns="0" bIns="0" rtlCol="0" anchor="t"/>
          <a:lstStyle/>
          <a:p>
            <a:pPr marL="0" indent="0">
              <a:buNone/>
            </a:pPr>
            <a:r>
              <a:rPr lang="en-US" sz="1050" b="1" dirty="0">
                <a:solidFill>
                  <a:srgbClr val="12232B"/>
                </a:solidFill>
                <a:latin typeface="Calibri" pitchFamily="34" charset="0"/>
                <a:ea typeface="Calibri" pitchFamily="34" charset="-122"/>
                <a:cs typeface="Calibri" pitchFamily="34" charset="-120"/>
              </a:rPr>
              <a:t>In progress</a:t>
            </a:r>
            <a:endParaRPr lang="en-US" sz="1050" dirty="0"/>
          </a:p>
        </p:txBody>
      </p:sp>
      <p:sp>
        <p:nvSpPr>
          <p:cNvPr id="53" name="card"/>
          <p:cNvSpPr/>
          <p:nvPr/>
        </p:nvSpPr>
        <p:spPr>
          <a:xfrm>
            <a:off x="548640" y="4800600"/>
            <a:ext cx="5394960" cy="1371600"/>
          </a:xfrm>
          <a:prstGeom prst="rect">
            <a:avLst/>
          </a:prstGeom>
          <a:solidFill>
            <a:srgbClr val="DCEEEC"/>
          </a:solidFill>
          <a:ln w="9525">
            <a:solidFill>
              <a:srgbClr val="DCEEEC"/>
            </a:solidFill>
            <a:prstDash val="solid"/>
          </a:ln>
        </p:spPr>
      </p:sp>
      <p:sp>
        <p:nvSpPr>
          <p:cNvPr id="54" name="Text 51"/>
          <p:cNvSpPr txBox="1"/>
          <p:nvPr/>
        </p:nvSpPr>
        <p:spPr>
          <a:xfrm>
            <a:off x="822960" y="4892040"/>
            <a:ext cx="4846320" cy="411480"/>
          </a:xfrm>
          <a:prstGeom prst="rect">
            <a:avLst/>
          </a:prstGeom>
          <a:noFill/>
          <a:ln/>
        </p:spPr>
        <p:txBody>
          <a:bodyPr wrap="square" lIns="0" tIns="0" rIns="0" bIns="0" rtlCol="0" anchor="t"/>
          <a:lstStyle/>
          <a:p>
            <a:pPr marL="0" indent="0">
              <a:buNone/>
            </a:pPr>
            <a:r>
              <a:rPr lang="en-US" sz="2000" b="1" dirty="0">
                <a:solidFill>
                  <a:srgbClr val="1F8A8A"/>
                </a:solidFill>
                <a:latin typeface="Cambria" pitchFamily="34" charset="0"/>
                <a:ea typeface="Cambria" pitchFamily="34" charset="-122"/>
                <a:cs typeface="Cambria" pitchFamily="34" charset="-120"/>
              </a:rPr>
              <a:t>7 of 8 weeks delivered</a:t>
            </a:r>
            <a:endParaRPr lang="en-US" sz="2000" dirty="0"/>
          </a:p>
        </p:txBody>
      </p:sp>
      <p:sp>
        <p:nvSpPr>
          <p:cNvPr id="55" name="Text 52"/>
          <p:cNvSpPr txBox="1"/>
          <p:nvPr/>
        </p:nvSpPr>
        <p:spPr>
          <a:xfrm>
            <a:off x="822960" y="5349240"/>
            <a:ext cx="4846320" cy="777240"/>
          </a:xfrm>
          <a:prstGeom prst="rect">
            <a:avLst/>
          </a:prstGeom>
          <a:noFill/>
          <a:ln/>
        </p:spPr>
        <p:txBody>
          <a:bodyPr wrap="square" lIns="0" tIns="0" rIns="0" bIns="0" rtlCol="0" anchor="t"/>
          <a:lstStyle/>
          <a:p>
            <a:pPr marL="0" indent="0">
              <a:buNone/>
            </a:pPr>
            <a:r>
              <a:rPr lang="en-US" sz="1400" dirty="0">
                <a:solidFill>
                  <a:srgbClr val="12232B"/>
                </a:solidFill>
                <a:latin typeface="Calibri" pitchFamily="34" charset="0"/>
                <a:ea typeface="Calibri" pitchFamily="34" charset="-122"/>
                <a:cs typeface="Calibri" pitchFamily="34" charset="-120"/>
              </a:rPr>
              <a:t>Week 8 has started: per-agent evaluations are complete; the large benchmark and cloud deployment remain.</a:t>
            </a:r>
            <a:endParaRPr lang="en-US" sz="1400" dirty="0"/>
          </a:p>
        </p:txBody>
      </p:sp>
      <p:sp>
        <p:nvSpPr>
          <p:cNvPr id="56" name="card"/>
          <p:cNvSpPr/>
          <p:nvPr/>
        </p:nvSpPr>
        <p:spPr>
          <a:xfrm>
            <a:off x="6126480" y="4800600"/>
            <a:ext cx="5513832" cy="1371600"/>
          </a:xfrm>
          <a:prstGeom prst="rect">
            <a:avLst/>
          </a:prstGeom>
          <a:solidFill>
            <a:srgbClr val="FFFFFF"/>
          </a:solidFill>
          <a:ln w="9525">
            <a:solidFill>
              <a:srgbClr val="C9D3D6"/>
            </a:solidFill>
            <a:prstDash val="solid"/>
          </a:ln>
          <a:effectLst>
            <a:outerShdw blurRad="76200" dist="25400" dir="5400000" algn="bl" rotWithShape="0">
              <a:srgbClr val="000000">
                <a:alpha val="10000"/>
              </a:srgbClr>
            </a:outerShdw>
          </a:effectLst>
        </p:spPr>
      </p:sp>
      <p:sp>
        <p:nvSpPr>
          <p:cNvPr id="57" name="Text 54"/>
          <p:cNvSpPr txBox="1"/>
          <p:nvPr/>
        </p:nvSpPr>
        <p:spPr>
          <a:xfrm>
            <a:off x="6400800" y="4892040"/>
            <a:ext cx="5029200" cy="365760"/>
          </a:xfrm>
          <a:prstGeom prst="rect">
            <a:avLst/>
          </a:prstGeom>
          <a:noFill/>
          <a:ln/>
        </p:spPr>
        <p:txBody>
          <a:bodyPr wrap="square" lIns="0" tIns="0" rIns="0" bIns="0" rtlCol="0" anchor="t"/>
          <a:lstStyle/>
          <a:p>
            <a:pPr marL="0" indent="0">
              <a:buNone/>
            </a:pPr>
            <a:r>
              <a:rPr lang="en-US" sz="1700" b="1" dirty="0">
                <a:solidFill>
                  <a:srgbClr val="12232B"/>
                </a:solidFill>
                <a:latin typeface="Cambria" pitchFamily="34" charset="0"/>
                <a:ea typeface="Cambria" pitchFamily="34" charset="-122"/>
                <a:cs typeface="Cambria" pitchFamily="34" charset="-120"/>
              </a:rPr>
              <a:t>Delivered beyond the plan</a:t>
            </a:r>
            <a:endParaRPr lang="en-US" sz="1700" dirty="0"/>
          </a:p>
        </p:txBody>
      </p:sp>
      <p:sp>
        <p:nvSpPr>
          <p:cNvPr id="58" name="Text 55"/>
          <p:cNvSpPr txBox="1"/>
          <p:nvPr/>
        </p:nvSpPr>
        <p:spPr>
          <a:xfrm>
            <a:off x="6400800" y="5303520"/>
            <a:ext cx="5029200" cy="822960"/>
          </a:xfrm>
          <a:prstGeom prst="rect">
            <a:avLst/>
          </a:prstGeom>
          <a:noFill/>
          <a:ln/>
        </p:spPr>
        <p:txBody>
          <a:bodyPr wrap="square" lIns="0" tIns="0" rIns="0" bIns="0" rtlCol="0" anchor="t"/>
          <a:lstStyle/>
          <a:p>
            <a:pPr marL="0" indent="0">
              <a:buNone/>
            </a:pPr>
            <a:r>
              <a:rPr lang="en-US" sz="1400" dirty="0">
                <a:solidFill>
                  <a:srgbClr val="12232B"/>
                </a:solidFill>
                <a:latin typeface="Calibri" pitchFamily="34" charset="0"/>
                <a:ea typeface="Calibri" pitchFamily="34" charset="-122"/>
                <a:cs typeface="Calibri" pitchFamily="34" charset="-120"/>
              </a:rPr>
              <a:t>Web console with roles, flaky-test and recurrence detection, MCP servers, A2A and tracing, Grafana alert rules.</a:t>
            </a:r>
            <a:endParaRPr lang="en-US" sz="1400" dirty="0"/>
          </a:p>
        </p:txBody>
      </p:sp>
      <p:sp>
        <p:nvSpPr>
          <p:cNvPr id="4"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66770"/>
                </a:solidFill>
                <a:latin typeface="Calibri"/>
                <a:ea typeface="Calibri"/>
                <a:cs typeface="Calibri"/>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47472"/>
            <a:ext cx="11091672" cy="274320"/>
          </a:xfrm>
          <a:prstGeom prst="rect">
            <a:avLst/>
          </a:prstGeom>
          <a:noFill/>
          <a:ln/>
        </p:spPr>
        <p:txBody>
          <a:bodyPr wrap="square" lIns="0" tIns="0" rIns="0" bIns="0" rtlCol="0" anchor="ctr"/>
          <a:lstStyle/>
          <a:p>
            <a:pPr marL="0" indent="0">
              <a:buNone/>
            </a:pPr>
            <a:r>
              <a:rPr lang="en-US" sz="1200" b="1" kern="0" spc="300" dirty="0">
                <a:solidFill>
                  <a:srgbClr val="1F8A8A"/>
                </a:solidFill>
                <a:latin typeface="Calibri" pitchFamily="34" charset="0"/>
                <a:ea typeface="Calibri" pitchFamily="34" charset="-122"/>
                <a:cs typeface="Calibri" pitchFamily="34" charset="-120"/>
              </a:rPr>
              <a:t>NEXT STEPS</a:t>
            </a:r>
            <a:endParaRPr lang="en-US" sz="1200" dirty="0"/>
          </a:p>
        </p:txBody>
      </p:sp>
      <p:sp>
        <p:nvSpPr>
          <p:cNvPr id="3" name="Text 1"/>
          <p:cNvSpPr txBox="1"/>
          <p:nvPr/>
        </p:nvSpPr>
        <p:spPr>
          <a:xfrm>
            <a:off x="548640" y="621792"/>
            <a:ext cx="11091672" cy="731520"/>
          </a:xfrm>
          <a:prstGeom prst="rect">
            <a:avLst/>
          </a:prstGeom>
          <a:noFill/>
          <a:ln/>
        </p:spPr>
        <p:txBody>
          <a:bodyPr wrap="square" lIns="0" tIns="0" rIns="0" bIns="0" rtlCol="0" anchor="t"/>
          <a:lstStyle/>
          <a:p>
            <a:pPr marL="0" indent="0">
              <a:buNone/>
            </a:pPr>
            <a:r>
              <a:rPr lang="en-US" sz="3400" b="1" dirty="0">
                <a:solidFill>
                  <a:srgbClr val="12232B"/>
                </a:solidFill>
                <a:latin typeface="Cambria" pitchFamily="34" charset="0"/>
                <a:ea typeface="Cambria" pitchFamily="34" charset="-122"/>
                <a:cs typeface="Cambria" pitchFamily="34" charset="-120"/>
              </a:rPr>
              <a:t>What is left, and where the agents go next</a:t>
            </a:r>
            <a:endParaRPr lang="en-US" sz="3400" dirty="0"/>
          </a:p>
        </p:txBody>
      </p:sp>
      <p:sp>
        <p:nvSpPr>
          <p:cNvPr id="5" name="card"/>
          <p:cNvSpPr/>
          <p:nvPr/>
        </p:nvSpPr>
        <p:spPr>
          <a:xfrm>
            <a:off x="548640" y="1645920"/>
            <a:ext cx="3529584" cy="4480560"/>
          </a:xfrm>
          <a:prstGeom prst="rect">
            <a:avLst/>
          </a:prstGeom>
          <a:solidFill>
            <a:srgbClr val="FFFFFF"/>
          </a:solidFill>
          <a:ln w="9525">
            <a:solidFill>
              <a:srgbClr val="C9D3D6"/>
            </a:solidFill>
            <a:prstDash val="solid"/>
          </a:ln>
          <a:effectLst>
            <a:outerShdw blurRad="76200" dist="25400" dir="5400000" algn="bl" rotWithShape="0">
              <a:srgbClr val="000000">
                <a:alpha val="10000"/>
              </a:srgbClr>
            </a:outerShdw>
          </a:effectLst>
        </p:spPr>
      </p:sp>
      <p:sp>
        <p:nvSpPr>
          <p:cNvPr id="6" name="Text 3"/>
          <p:cNvSpPr txBox="1"/>
          <p:nvPr/>
        </p:nvSpPr>
        <p:spPr>
          <a:xfrm>
            <a:off x="822960" y="1828800"/>
            <a:ext cx="2980944" cy="457200"/>
          </a:xfrm>
          <a:prstGeom prst="rect">
            <a:avLst/>
          </a:prstGeom>
          <a:noFill/>
          <a:ln/>
        </p:spPr>
        <p:txBody>
          <a:bodyPr wrap="square" lIns="0" tIns="0" rIns="0" bIns="0" rtlCol="0" anchor="t"/>
          <a:lstStyle/>
          <a:p>
            <a:pPr marL="0" indent="0">
              <a:buNone/>
            </a:pPr>
            <a:r>
              <a:rPr lang="en-US" sz="2200" b="1" dirty="0">
                <a:solidFill>
                  <a:srgbClr val="1F8A8A"/>
                </a:solidFill>
                <a:latin typeface="Cambria" pitchFamily="34" charset="0"/>
                <a:ea typeface="Cambria" pitchFamily="34" charset="-122"/>
                <a:cs typeface="Cambria" pitchFamily="34" charset="-120"/>
              </a:rPr>
              <a:t>Finish in Week 8</a:t>
            </a:r>
            <a:endParaRPr lang="en-US" sz="2200" dirty="0"/>
          </a:p>
        </p:txBody>
      </p:sp>
      <p:sp>
        <p:nvSpPr>
          <p:cNvPr id="7" name="Text 4"/>
          <p:cNvSpPr txBox="1"/>
          <p:nvPr/>
        </p:nvSpPr>
        <p:spPr>
          <a:xfrm>
            <a:off x="822960" y="2423160"/>
            <a:ext cx="2980944" cy="356616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2232B"/>
                </a:solidFill>
                <a:latin typeface="Calibri" pitchFamily="34" charset="0"/>
                <a:ea typeface="Calibri" pitchFamily="34" charset="-122"/>
                <a:cs typeface="Calibri" pitchFamily="34" charset="-120"/>
              </a:rPr>
              <a:t>End-to-end study: about 40 runs across prompt styles, with latency, token cost and a box plot</a:t>
            </a:r>
            <a:endParaRPr lang="en-US" sz="1500" dirty="0"/>
          </a:p>
          <a:p>
            <a:pPr marL="203200" indent="-203200">
              <a:spcAft>
                <a:spcPts val="600"/>
              </a:spcAft>
              <a:buSzPct val="100000"/>
              <a:buChar char="•"/>
            </a:pPr>
            <a:r>
              <a:rPr lang="en-US" sz="1500" dirty="0">
                <a:solidFill>
                  <a:srgbClr val="12232B"/>
                </a:solidFill>
                <a:latin typeface="Calibri" pitchFamily="34" charset="0"/>
                <a:ea typeface="Calibri" pitchFamily="34" charset="-122"/>
                <a:cs typeface="Calibri" pitchFamily="34" charset="-120"/>
              </a:rPr>
              <a:t>Compare ReAct with plan-and-execute and the persona prompts</a:t>
            </a:r>
            <a:endParaRPr lang="en-US" sz="1500" dirty="0"/>
          </a:p>
          <a:p>
            <a:pPr marL="203200" indent="-203200">
              <a:spcAft>
                <a:spcPts val="600"/>
              </a:spcAft>
              <a:buSzPct val="100000"/>
              <a:buChar char="•"/>
            </a:pPr>
            <a:r>
              <a:rPr lang="en-US" sz="1500" dirty="0">
                <a:solidFill>
                  <a:srgbClr val="12232B"/>
                </a:solidFill>
                <a:latin typeface="Calibri" pitchFamily="34" charset="0"/>
                <a:ea typeface="Calibri" pitchFamily="34" charset="-122"/>
                <a:cs typeface="Calibri" pitchFamily="34" charset="-120"/>
              </a:rPr>
              <a:t>Compare A2A with RabbitMQ triggering</a:t>
            </a:r>
            <a:endParaRPr lang="en-US" sz="1500" dirty="0"/>
          </a:p>
          <a:p>
            <a:pPr marL="203200" indent="-203200">
              <a:spcAft>
                <a:spcPts val="600"/>
              </a:spcAft>
              <a:buSzPct val="100000"/>
              <a:buChar char="•"/>
            </a:pPr>
            <a:r>
              <a:rPr lang="en-US" sz="1500" dirty="0">
                <a:solidFill>
                  <a:srgbClr val="12232B"/>
                </a:solidFill>
                <a:latin typeface="Calibri" pitchFamily="34" charset="0"/>
                <a:ea typeface="Calibri" pitchFamily="34" charset="-122"/>
                <a:cs typeface="Calibri" pitchFamily="34" charset="-120"/>
              </a:rPr>
              <a:t>Deploy the stack to a cloud platform</a:t>
            </a:r>
            <a:endParaRPr lang="en-US" sz="1500" dirty="0"/>
          </a:p>
          <a:p>
            <a:pPr marL="203200" indent="-203200">
              <a:spcAft>
                <a:spcPts val="600"/>
              </a:spcAft>
              <a:buSzPct val="100000"/>
              <a:buChar char="•"/>
            </a:pPr>
            <a:r>
              <a:rPr lang="en-US" sz="1500" dirty="0">
                <a:solidFill>
                  <a:srgbClr val="12232B"/>
                </a:solidFill>
                <a:latin typeface="Calibri" pitchFamily="34" charset="0"/>
                <a:ea typeface="Calibri" pitchFamily="34" charset="-122"/>
                <a:cs typeface="Calibri" pitchFamily="34" charset="-120"/>
              </a:rPr>
              <a:t>Docker Compose cleanup and final demo</a:t>
            </a:r>
            <a:endParaRPr lang="en-US" sz="1500" dirty="0"/>
          </a:p>
        </p:txBody>
      </p:sp>
      <p:sp>
        <p:nvSpPr>
          <p:cNvPr id="8" name="card"/>
          <p:cNvSpPr/>
          <p:nvPr/>
        </p:nvSpPr>
        <p:spPr>
          <a:xfrm>
            <a:off x="4329684" y="1645920"/>
            <a:ext cx="3529584" cy="4480560"/>
          </a:xfrm>
          <a:prstGeom prst="rect">
            <a:avLst/>
          </a:prstGeom>
          <a:solidFill>
            <a:srgbClr val="FFFFFF"/>
          </a:solidFill>
          <a:ln w="9525">
            <a:solidFill>
              <a:srgbClr val="C9D3D6"/>
            </a:solidFill>
            <a:prstDash val="solid"/>
          </a:ln>
          <a:effectLst>
            <a:outerShdw blurRad="76200" dist="25400" dir="5400000" algn="bl" rotWithShape="0">
              <a:srgbClr val="000000">
                <a:alpha val="10000"/>
              </a:srgbClr>
            </a:outerShdw>
          </a:effectLst>
        </p:spPr>
      </p:sp>
      <p:sp>
        <p:nvSpPr>
          <p:cNvPr id="9" name="Text 6"/>
          <p:cNvSpPr txBox="1"/>
          <p:nvPr/>
        </p:nvSpPr>
        <p:spPr>
          <a:xfrm>
            <a:off x="4604004" y="1828800"/>
            <a:ext cx="2980944" cy="457200"/>
          </a:xfrm>
          <a:prstGeom prst="rect">
            <a:avLst/>
          </a:prstGeom>
          <a:noFill/>
          <a:ln/>
        </p:spPr>
        <p:txBody>
          <a:bodyPr wrap="square" lIns="0" tIns="0" rIns="0" bIns="0" rtlCol="0" anchor="t"/>
          <a:lstStyle/>
          <a:p>
            <a:pPr marL="0" indent="0">
              <a:buNone/>
            </a:pPr>
            <a:r>
              <a:rPr lang="en-US" sz="2200" b="1" dirty="0">
                <a:solidFill>
                  <a:srgbClr val="1F8A8A"/>
                </a:solidFill>
                <a:latin typeface="Cambria" pitchFamily="34" charset="0"/>
                <a:ea typeface="Cambria" pitchFamily="34" charset="-122"/>
                <a:cs typeface="Cambria" pitchFamily="34" charset="-120"/>
              </a:rPr>
              <a:t>Stretch</a:t>
            </a:r>
            <a:endParaRPr lang="en-US" sz="2200" dirty="0"/>
          </a:p>
        </p:txBody>
      </p:sp>
      <p:sp>
        <p:nvSpPr>
          <p:cNvPr id="10" name="Text 7"/>
          <p:cNvSpPr txBox="1"/>
          <p:nvPr/>
        </p:nvSpPr>
        <p:spPr>
          <a:xfrm>
            <a:off x="4604004" y="2423160"/>
            <a:ext cx="2980944" cy="356616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2232B"/>
                </a:solidFill>
                <a:latin typeface="Calibri" pitchFamily="34" charset="0"/>
                <a:ea typeface="Calibri" pitchFamily="34" charset="-122"/>
                <a:cs typeface="Calibri" pitchFamily="34" charset="-120"/>
              </a:rPr>
              <a:t>LLM query planner for the Metrics agent on the existing planner slot</a:t>
            </a:r>
            <a:endParaRPr lang="en-US" sz="1500" dirty="0"/>
          </a:p>
          <a:p>
            <a:pPr marL="203200" indent="-203200">
              <a:spcAft>
                <a:spcPts val="600"/>
              </a:spcAft>
              <a:buSzPct val="100000"/>
              <a:buChar char="•"/>
            </a:pPr>
            <a:r>
              <a:rPr lang="en-US" sz="1500" dirty="0">
                <a:solidFill>
                  <a:srgbClr val="12232B"/>
                </a:solidFill>
                <a:latin typeface="Calibri" pitchFamily="34" charset="0"/>
                <a:ea typeface="Calibri" pitchFamily="34" charset="-122"/>
                <a:cs typeface="Calibri" pitchFamily="34" charset="-120"/>
              </a:rPr>
              <a:t>LLM-assisted reasoning for the Code agent and the Coordinator narrative</a:t>
            </a:r>
            <a:endParaRPr lang="en-US" sz="1500" dirty="0"/>
          </a:p>
          <a:p>
            <a:pPr marL="203200" indent="-203200">
              <a:spcAft>
                <a:spcPts val="600"/>
              </a:spcAft>
              <a:buSzPct val="100000"/>
              <a:buChar char="•"/>
            </a:pPr>
            <a:r>
              <a:rPr lang="en-US" sz="1500" dirty="0">
                <a:solidFill>
                  <a:srgbClr val="12232B"/>
                </a:solidFill>
                <a:latin typeface="Calibri" pitchFamily="34" charset="0"/>
                <a:ea typeface="Calibri" pitchFamily="34" charset="-122"/>
                <a:cs typeface="Calibri" pitchFamily="34" charset="-120"/>
              </a:rPr>
              <a:t>Score each against the deterministic baselines</a:t>
            </a:r>
            <a:endParaRPr lang="en-US" sz="1500" dirty="0"/>
          </a:p>
          <a:p>
            <a:pPr marL="203200" indent="-203200">
              <a:spcAft>
                <a:spcPts val="600"/>
              </a:spcAft>
              <a:buSzPct val="100000"/>
              <a:buChar char="•"/>
            </a:pPr>
            <a:r>
              <a:rPr lang="en-US" sz="1500" dirty="0">
                <a:solidFill>
                  <a:srgbClr val="12232B"/>
                </a:solidFill>
                <a:latin typeface="Calibri" pitchFamily="34" charset="0"/>
                <a:ea typeface="Calibri" pitchFamily="34" charset="-122"/>
                <a:cs typeface="Calibri" pitchFamily="34" charset="-120"/>
              </a:rPr>
              <a:t>A larger incident benchmark, 100 to 200 cases</a:t>
            </a:r>
            <a:endParaRPr lang="en-US" sz="1500" dirty="0"/>
          </a:p>
        </p:txBody>
      </p:sp>
      <p:sp>
        <p:nvSpPr>
          <p:cNvPr id="11" name="card"/>
          <p:cNvSpPr/>
          <p:nvPr/>
        </p:nvSpPr>
        <p:spPr>
          <a:xfrm>
            <a:off x="8110728" y="1645920"/>
            <a:ext cx="3529584" cy="4480560"/>
          </a:xfrm>
          <a:prstGeom prst="rect">
            <a:avLst/>
          </a:prstGeom>
          <a:solidFill>
            <a:srgbClr val="FFFFFF"/>
          </a:solidFill>
          <a:ln w="9525">
            <a:solidFill>
              <a:srgbClr val="C9D3D6"/>
            </a:solidFill>
            <a:prstDash val="solid"/>
          </a:ln>
          <a:effectLst>
            <a:outerShdw blurRad="76200" dist="25400" dir="5400000" algn="bl" rotWithShape="0">
              <a:srgbClr val="000000">
                <a:alpha val="10000"/>
              </a:srgbClr>
            </a:outerShdw>
          </a:effectLst>
        </p:spPr>
      </p:sp>
      <p:sp>
        <p:nvSpPr>
          <p:cNvPr id="12" name="Text 9"/>
          <p:cNvSpPr txBox="1"/>
          <p:nvPr/>
        </p:nvSpPr>
        <p:spPr>
          <a:xfrm>
            <a:off x="8385048" y="1828800"/>
            <a:ext cx="2980944" cy="457200"/>
          </a:xfrm>
          <a:prstGeom prst="rect">
            <a:avLst/>
          </a:prstGeom>
          <a:noFill/>
          <a:ln/>
        </p:spPr>
        <p:txBody>
          <a:bodyPr wrap="square" lIns="0" tIns="0" rIns="0" bIns="0" rtlCol="0" anchor="t"/>
          <a:lstStyle/>
          <a:p>
            <a:pPr marL="0" indent="0">
              <a:buNone/>
            </a:pPr>
            <a:r>
              <a:rPr lang="en-US" sz="2200" b="1" dirty="0">
                <a:solidFill>
                  <a:srgbClr val="1F8A8A"/>
                </a:solidFill>
                <a:latin typeface="Cambria" pitchFamily="34" charset="0"/>
                <a:ea typeface="Cambria" pitchFamily="34" charset="-122"/>
                <a:cs typeface="Cambria" pitchFamily="34" charset="-120"/>
              </a:rPr>
              <a:t>Already in place</a:t>
            </a:r>
            <a:endParaRPr lang="en-US" sz="2200" dirty="0"/>
          </a:p>
        </p:txBody>
      </p:sp>
      <p:sp>
        <p:nvSpPr>
          <p:cNvPr id="13" name="Text 10"/>
          <p:cNvSpPr txBox="1"/>
          <p:nvPr/>
        </p:nvSpPr>
        <p:spPr>
          <a:xfrm>
            <a:off x="8385048" y="2423160"/>
            <a:ext cx="2980944" cy="356616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2232B"/>
                </a:solidFill>
                <a:latin typeface="Calibri" pitchFamily="34" charset="0"/>
                <a:ea typeface="Calibri" pitchFamily="34" charset="-122"/>
                <a:cs typeface="Calibri" pitchFamily="34" charset="-120"/>
              </a:rPr>
              <a:t>Prompt variants and a token counter</a:t>
            </a:r>
            <a:endParaRPr lang="en-US" sz="1500" dirty="0"/>
          </a:p>
          <a:p>
            <a:pPr marL="203200" indent="-203200">
              <a:spcAft>
                <a:spcPts val="600"/>
              </a:spcAft>
              <a:buSzPct val="100000"/>
              <a:buChar char="•"/>
            </a:pPr>
            <a:r>
              <a:rPr lang="en-US" sz="1500" dirty="0">
                <a:solidFill>
                  <a:srgbClr val="12232B"/>
                </a:solidFill>
                <a:latin typeface="Calibri" pitchFamily="34" charset="0"/>
                <a:ea typeface="Calibri" pitchFamily="34" charset="-122"/>
                <a:cs typeface="Calibri" pitchFamily="34" charset="-120"/>
              </a:rPr>
              <a:t>Scenario files as a seed dataset</a:t>
            </a:r>
            <a:endParaRPr lang="en-US" sz="1500" dirty="0"/>
          </a:p>
          <a:p>
            <a:pPr marL="203200" indent="-203200">
              <a:spcAft>
                <a:spcPts val="600"/>
              </a:spcAft>
              <a:buSzPct val="100000"/>
              <a:buChar char="•"/>
            </a:pPr>
            <a:r>
              <a:rPr lang="en-US" sz="1500" dirty="0">
                <a:solidFill>
                  <a:srgbClr val="12232B"/>
                </a:solidFill>
                <a:latin typeface="Calibri" pitchFamily="34" charset="0"/>
                <a:ea typeface="Calibri" pitchFamily="34" charset="-122"/>
                <a:cs typeface="Calibri" pitchFamily="34" charset="-120"/>
              </a:rPr>
              <a:t>Trigger-mode switch</a:t>
            </a:r>
            <a:endParaRPr lang="en-US" sz="1500" dirty="0"/>
          </a:p>
          <a:p>
            <a:pPr marL="203200" indent="-203200">
              <a:spcAft>
                <a:spcPts val="600"/>
              </a:spcAft>
              <a:buSzPct val="100000"/>
              <a:buChar char="•"/>
            </a:pPr>
            <a:r>
              <a:rPr lang="en-US" sz="1500" dirty="0">
                <a:solidFill>
                  <a:srgbClr val="12232B"/>
                </a:solidFill>
                <a:latin typeface="Calibri" pitchFamily="34" charset="0"/>
                <a:ea typeface="Calibri" pitchFamily="34" charset="-122"/>
                <a:cs typeface="Calibri" pitchFamily="34" charset="-120"/>
              </a:rPr>
              <a:t>Agent Ops dashboard with run durations</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66770"/>
                </a:solidFill>
                <a:latin typeface="Calibri"/>
                <a:ea typeface="Calibri"/>
                <a:cs typeface="Calibri"/>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457200"/>
            <a:ext cx="11091672" cy="274320"/>
          </a:xfrm>
          <a:prstGeom prst="rect">
            <a:avLst/>
          </a:prstGeom>
          <a:noFill/>
          <a:ln/>
        </p:spPr>
        <p:txBody>
          <a:bodyPr wrap="square" lIns="0" tIns="0" rIns="0" bIns="0" rtlCol="0" anchor="ctr"/>
          <a:lstStyle/>
          <a:p>
            <a:pPr marL="0" indent="0">
              <a:buNone/>
            </a:pPr>
            <a:r>
              <a:rPr lang="en-US" sz="1200" b="1" kern="0" spc="300" dirty="0">
                <a:solidFill>
                  <a:srgbClr val="E8A33D"/>
                </a:solidFill>
                <a:latin typeface="Calibri" pitchFamily="34" charset="0"/>
                <a:ea typeface="Calibri" pitchFamily="34" charset="-122"/>
                <a:cs typeface="Calibri" pitchFamily="34" charset="-120"/>
              </a:rPr>
              <a:t>CONCLUSION</a:t>
            </a:r>
            <a:endParaRPr lang="en-US" sz="1200" dirty="0"/>
          </a:p>
        </p:txBody>
      </p:sp>
      <p:sp>
        <p:nvSpPr>
          <p:cNvPr id="3" name="Text 1"/>
          <p:cNvSpPr txBox="1"/>
          <p:nvPr/>
        </p:nvSpPr>
        <p:spPr>
          <a:xfrm>
            <a:off x="548640" y="777240"/>
            <a:ext cx="11091672" cy="822960"/>
          </a:xfrm>
          <a:prstGeom prst="rect">
            <a:avLst/>
          </a:prstGeom>
          <a:noFill/>
          <a:ln/>
        </p:spPr>
        <p:txBody>
          <a:bodyPr wrap="square" lIns="0" tIns="0" rIns="0" bIns="0" rtlCol="0" anchor="t"/>
          <a:lstStyle/>
          <a:p>
            <a:pPr marL="0" indent="0">
              <a:buNone/>
            </a:pPr>
            <a:r>
              <a:rPr lang="en-US" sz="3400" b="1" dirty="0">
                <a:solidFill>
                  <a:srgbClr val="FFFFFF"/>
                </a:solidFill>
                <a:latin typeface="Cambria" pitchFamily="34" charset="0"/>
                <a:ea typeface="Cambria" pitchFamily="34" charset="-122"/>
                <a:cs typeface="Cambria" pitchFamily="34" charset="-120"/>
              </a:rPr>
              <a:t>Agents that investigate, explain and ask before acting</a:t>
            </a:r>
            <a:endParaRPr lang="en-US" sz="3400" dirty="0"/>
          </a:p>
        </p:txBody>
      </p:sp>
      <p:sp>
        <p:nvSpPr>
          <p:cNvPr id="5" name="panel"/>
          <p:cNvSpPr/>
          <p:nvPr/>
        </p:nvSpPr>
        <p:spPr>
          <a:xfrm>
            <a:off x="548640" y="1920240"/>
            <a:ext cx="5440680" cy="4206240"/>
          </a:xfrm>
          <a:prstGeom prst="rect">
            <a:avLst/>
          </a:prstGeom>
          <a:solidFill>
            <a:srgbClr val="1B343E"/>
          </a:solidFill>
          <a:ln w="12700">
            <a:solidFill>
              <a:srgbClr val="1B343E"/>
            </a:solidFill>
            <a:prstDash val="solid"/>
          </a:ln>
        </p:spPr>
      </p:sp>
      <p:sp>
        <p:nvSpPr>
          <p:cNvPr id="6" name="Text 3"/>
          <p:cNvSpPr txBox="1"/>
          <p:nvPr/>
        </p:nvSpPr>
        <p:spPr>
          <a:xfrm>
            <a:off x="868680" y="2103120"/>
            <a:ext cx="4754880" cy="457200"/>
          </a:xfrm>
          <a:prstGeom prst="rect">
            <a:avLst/>
          </a:prstGeom>
          <a:noFill/>
          <a:ln/>
        </p:spPr>
        <p:txBody>
          <a:bodyPr wrap="square" lIns="0" tIns="0" rIns="0" bIns="0" rtlCol="0" anchor="ctr"/>
          <a:lstStyle/>
          <a:p>
            <a:pPr marL="0" indent="0">
              <a:buNone/>
            </a:pPr>
            <a:r>
              <a:rPr lang="en-US" sz="2200" b="1" dirty="0">
                <a:solidFill>
                  <a:srgbClr val="7FD1CB"/>
                </a:solidFill>
                <a:latin typeface="Cambria" pitchFamily="34" charset="0"/>
                <a:ea typeface="Cambria" pitchFamily="34" charset="-122"/>
                <a:cs typeface="Cambria" pitchFamily="34" charset="-120"/>
              </a:rPr>
              <a:t>What the system shows</a:t>
            </a:r>
            <a:endParaRPr lang="en-US" sz="2200" dirty="0"/>
          </a:p>
        </p:txBody>
      </p:sp>
      <p:sp>
        <p:nvSpPr>
          <p:cNvPr id="7" name="Text 4"/>
          <p:cNvSpPr txBox="1"/>
          <p:nvPr/>
        </p:nvSpPr>
        <p:spPr>
          <a:xfrm>
            <a:off x="868680" y="2697480"/>
            <a:ext cx="4800600" cy="3291840"/>
          </a:xfrm>
          <a:prstGeom prst="rect">
            <a:avLst/>
          </a:prstGeom>
          <a:noFill/>
          <a:ln/>
        </p:spPr>
        <p:txBody>
          <a:bodyPr wrap="square" lIns="0" tIns="0" rIns="0" bIns="0" rtlCol="0" anchor="t"/>
          <a:lstStyle/>
          <a:p>
            <a:pPr marL="203200" indent="-203200">
              <a:spcAft>
                <a:spcPts val="600"/>
              </a:spcAft>
              <a:buSzPct val="100000"/>
              <a:buChar char="•"/>
            </a:pPr>
            <a:r>
              <a:rPr lang="en-US" sz="1800" dirty="0">
                <a:solidFill>
                  <a:srgbClr val="E4EEEE"/>
                </a:solidFill>
                <a:latin typeface="Calibri" pitchFamily="34" charset="0"/>
                <a:ea typeface="Calibri" pitchFamily="34" charset="-122"/>
                <a:cs typeface="Calibri" pitchFamily="34" charset="-120"/>
              </a:rPr>
              <a:t>Specialised agents, shared memory and a Coordinator investigate failures in parallel</a:t>
            </a:r>
            <a:endParaRPr lang="en-US" sz="1800" dirty="0"/>
          </a:p>
          <a:p>
            <a:pPr marL="203200" indent="-203200">
              <a:spcAft>
                <a:spcPts val="600"/>
              </a:spcAft>
              <a:buSzPct val="100000"/>
              <a:buChar char="•"/>
            </a:pPr>
            <a:r>
              <a:rPr lang="en-US" sz="1800" dirty="0">
                <a:solidFill>
                  <a:srgbClr val="E4EEEE"/>
                </a:solidFill>
                <a:latin typeface="Calibri" pitchFamily="34" charset="0"/>
                <a:ea typeface="Calibri" pitchFamily="34" charset="-122"/>
                <a:cs typeface="Calibri" pitchFamily="34" charset="-120"/>
              </a:rPr>
              <a:t>Guardrails, policy and a human sit between a finding and any change</a:t>
            </a:r>
            <a:endParaRPr lang="en-US" sz="1800" dirty="0"/>
          </a:p>
          <a:p>
            <a:pPr marL="203200" indent="-203200">
              <a:spcAft>
                <a:spcPts val="600"/>
              </a:spcAft>
              <a:buSzPct val="100000"/>
              <a:buChar char="•"/>
            </a:pPr>
            <a:r>
              <a:rPr lang="en-US" sz="1800" dirty="0">
                <a:solidFill>
                  <a:srgbClr val="E4EEEE"/>
                </a:solidFill>
                <a:latin typeface="Calibri" pitchFamily="34" charset="0"/>
                <a:ea typeface="Calibri" pitchFamily="34" charset="-122"/>
                <a:cs typeface="Calibri" pitchFamily="34" charset="-120"/>
              </a:rPr>
              <a:t>Every conclusion is traceable to evidence and logged</a:t>
            </a:r>
            <a:endParaRPr lang="en-US" sz="1800" dirty="0"/>
          </a:p>
          <a:p>
            <a:pPr marL="203200" indent="-203200">
              <a:spcAft>
                <a:spcPts val="600"/>
              </a:spcAft>
              <a:buSzPct val="100000"/>
              <a:buChar char="•"/>
            </a:pPr>
            <a:r>
              <a:rPr lang="en-US" sz="1800" dirty="0">
                <a:solidFill>
                  <a:srgbClr val="E4EEEE"/>
                </a:solidFill>
                <a:latin typeface="Calibri" pitchFamily="34" charset="0"/>
                <a:ea typeface="Calibri" pitchFamily="34" charset="-122"/>
                <a:cs typeface="Calibri" pitchFamily="34" charset="-120"/>
              </a:rPr>
              <a:t>1,433 automated tests pass</a:t>
            </a:r>
            <a:endParaRPr lang="en-US" sz="1800" dirty="0"/>
          </a:p>
        </p:txBody>
      </p:sp>
      <p:sp>
        <p:nvSpPr>
          <p:cNvPr id="8" name="panel"/>
          <p:cNvSpPr/>
          <p:nvPr/>
        </p:nvSpPr>
        <p:spPr>
          <a:xfrm>
            <a:off x="6172200" y="1920240"/>
            <a:ext cx="5440680" cy="4206240"/>
          </a:xfrm>
          <a:prstGeom prst="rect">
            <a:avLst/>
          </a:prstGeom>
          <a:solidFill>
            <a:srgbClr val="1B343E"/>
          </a:solidFill>
          <a:ln w="12700">
            <a:solidFill>
              <a:srgbClr val="1B343E"/>
            </a:solidFill>
            <a:prstDash val="solid"/>
          </a:ln>
        </p:spPr>
      </p:sp>
      <p:sp>
        <p:nvSpPr>
          <p:cNvPr id="9" name="Text 6"/>
          <p:cNvSpPr txBox="1"/>
          <p:nvPr/>
        </p:nvSpPr>
        <p:spPr>
          <a:xfrm>
            <a:off x="6492240" y="2103120"/>
            <a:ext cx="4754880" cy="457200"/>
          </a:xfrm>
          <a:prstGeom prst="rect">
            <a:avLst/>
          </a:prstGeom>
          <a:noFill/>
          <a:ln/>
        </p:spPr>
        <p:txBody>
          <a:bodyPr wrap="square" lIns="0" tIns="0" rIns="0" bIns="0" rtlCol="0" anchor="ctr"/>
          <a:lstStyle/>
          <a:p>
            <a:pPr marL="0" indent="0">
              <a:buNone/>
            </a:pPr>
            <a:r>
              <a:rPr lang="en-US" sz="2200" b="1" dirty="0">
                <a:solidFill>
                  <a:srgbClr val="E8A33D"/>
                </a:solidFill>
                <a:latin typeface="Cambria" pitchFamily="34" charset="0"/>
                <a:ea typeface="Cambria" pitchFamily="34" charset="-122"/>
                <a:cs typeface="Cambria" pitchFamily="34" charset="-120"/>
              </a:rPr>
              <a:t>What the evaluation says</a:t>
            </a:r>
            <a:endParaRPr lang="en-US" sz="2200" dirty="0"/>
          </a:p>
        </p:txBody>
      </p:sp>
      <p:sp>
        <p:nvSpPr>
          <p:cNvPr id="10" name="Text 7"/>
          <p:cNvSpPr txBox="1"/>
          <p:nvPr/>
        </p:nvSpPr>
        <p:spPr>
          <a:xfrm>
            <a:off x="6492240" y="2697480"/>
            <a:ext cx="4800600" cy="3291840"/>
          </a:xfrm>
          <a:prstGeom prst="rect">
            <a:avLst/>
          </a:prstGeom>
          <a:noFill/>
          <a:ln/>
        </p:spPr>
        <p:txBody>
          <a:bodyPr wrap="square" lIns="0" tIns="0" rIns="0" bIns="0" rtlCol="0" anchor="t"/>
          <a:lstStyle/>
          <a:p>
            <a:pPr marL="203200" indent="-203200">
              <a:spcAft>
                <a:spcPts val="600"/>
              </a:spcAft>
              <a:buSzPct val="100000"/>
              <a:buChar char="•"/>
            </a:pPr>
            <a:r>
              <a:rPr lang="en-US" sz="1800" dirty="0">
                <a:solidFill>
                  <a:srgbClr val="E4EEEE"/>
                </a:solidFill>
                <a:latin typeface="Calibri" pitchFamily="34" charset="0"/>
                <a:ea typeface="Calibri" pitchFamily="34" charset="-122"/>
                <a:cs typeface="Calibri" pitchFamily="34" charset="-120"/>
              </a:rPr>
              <a:t>Statistics and structure outperformed a bare LLM on our metric scenarios</a:t>
            </a:r>
            <a:endParaRPr lang="en-US" sz="1800" dirty="0"/>
          </a:p>
          <a:p>
            <a:pPr marL="203200" indent="-203200">
              <a:spcAft>
                <a:spcPts val="600"/>
              </a:spcAft>
              <a:buSzPct val="100000"/>
              <a:buChar char="•"/>
            </a:pPr>
            <a:r>
              <a:rPr lang="en-US" sz="1800" dirty="0">
                <a:solidFill>
                  <a:srgbClr val="E4EEEE"/>
                </a:solidFill>
                <a:latin typeface="Calibri" pitchFamily="34" charset="0"/>
                <a:ea typeface="Calibri" pitchFamily="34" charset="-122"/>
                <a:cs typeface="Calibri" pitchFamily="34" charset="-120"/>
              </a:rPr>
              <a:t>Agents abstain when evidence is thin</a:t>
            </a:r>
            <a:endParaRPr lang="en-US" sz="1800" dirty="0"/>
          </a:p>
          <a:p>
            <a:pPr marL="203200" indent="-203200">
              <a:spcAft>
                <a:spcPts val="600"/>
              </a:spcAft>
              <a:buSzPct val="100000"/>
              <a:buChar char="•"/>
            </a:pPr>
            <a:r>
              <a:rPr lang="en-US" sz="1800" dirty="0">
                <a:solidFill>
                  <a:srgbClr val="E4EEEE"/>
                </a:solidFill>
                <a:latin typeface="Calibri" pitchFamily="34" charset="0"/>
                <a:ea typeface="Calibri" pitchFamily="34" charset="-122"/>
                <a:cs typeface="Calibri" pitchFamily="34" charset="-120"/>
              </a:rPr>
              <a:t>Open: the large end-to-end study and cloud deployment</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CB3BA"/>
                </a:solidFill>
                <a:latin typeface="Calibri"/>
                <a:ea typeface="Calibri"/>
                <a:cs typeface="Calibri"/>
              </a:defRPr>
            </a:lvl1pPr>
          </a:lstStyle>
          <a:p>
            <a:pPr algn="r"/>
            <a:fld id="{F7021451-1387-4CA6-816F-3879F97B5CBC}" type="slidenum">
              <a:rPr lang="en-US" b="0"/>
              <a:t>19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TotalTime>
  <Words>3148</Words>
  <Application>Microsoft Office PowerPoint</Application>
  <PresentationFormat>Widescreen</PresentationFormat>
  <Paragraphs>433</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JenkinsGuardian AI - Agentic AI project</dc:title>
  <dc:subject>PptxGenJS Presentation</dc:subject>
  <dc:creator>JenkinsGuardian team</dc:creator>
  <cp:lastModifiedBy>Khandelwal Shreya</cp:lastModifiedBy>
  <cp:revision>2</cp:revision>
  <dcterms:created xsi:type="dcterms:W3CDTF">2026-10-29T22:21:43Z</dcterms:created>
  <dcterms:modified xsi:type="dcterms:W3CDTF">2026-10-30T06:47:01Z</dcterms:modified>
</cp:coreProperties>
</file>